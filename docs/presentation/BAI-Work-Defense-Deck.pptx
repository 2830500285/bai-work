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f30ee76084946" /><Relationship Type="http://schemas.openxmlformats.org/officeDocument/2006/relationships/extended-properties" Target="/docProps/app.xml" Id="R173728aa3ed549e9" /><Relationship Type="http://schemas.openxmlformats.org/officeDocument/2006/relationships/officeDocument" Target="/ppt/presentation.xml" Id="Rc74e65dadc6e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5ee54ffd440c6"/>
  </p:sldMasterIdLst>
  <p:notesMasterIdLst>
    <p:notesMasterId xmlns:r="http://schemas.openxmlformats.org/officeDocument/2006/relationships" r:id="Rf95714a4e03e4199"/>
  </p:notesMasterIdLst>
  <p:sldIdLst>
    <p:sldId xmlns:r="http://schemas.openxmlformats.org/officeDocument/2006/relationships" id="256" r:id="Raf6f9f00db1b4ad5"/>
    <p:sldId xmlns:r="http://schemas.openxmlformats.org/officeDocument/2006/relationships" id="257" r:id="Rcc9b238d53ea4e67"/>
    <p:sldId xmlns:r="http://schemas.openxmlformats.org/officeDocument/2006/relationships" id="258" r:id="Reaae14d6d4174ab5"/>
    <p:sldId xmlns:r="http://schemas.openxmlformats.org/officeDocument/2006/relationships" id="259" r:id="R385aaf49c635422e"/>
    <p:sldId xmlns:r="http://schemas.openxmlformats.org/officeDocument/2006/relationships" id="260" r:id="R139b78bf3a214f14"/>
    <p:sldId xmlns:r="http://schemas.openxmlformats.org/officeDocument/2006/relationships" id="261" r:id="R67792ed397174cf5"/>
    <p:sldId xmlns:r="http://schemas.openxmlformats.org/officeDocument/2006/relationships" id="262" r:id="R09eeae1e96864cc9"/>
    <p:sldId xmlns:r="http://schemas.openxmlformats.org/officeDocument/2006/relationships" id="263" r:id="R8b848594312d4694"/>
    <p:sldId xmlns:r="http://schemas.openxmlformats.org/officeDocument/2006/relationships" id="264" r:id="R28bb7a5cf3a542d6"/>
    <p:sldId xmlns:r="http://schemas.openxmlformats.org/officeDocument/2006/relationships" id="265" r:id="R6e2816ed88304a99"/>
    <p:sldId xmlns:r="http://schemas.openxmlformats.org/officeDocument/2006/relationships" id="266" r:id="R8be7560b5eb2442c"/>
    <p:sldId xmlns:r="http://schemas.openxmlformats.org/officeDocument/2006/relationships" id="267" r:id="Rc6bc5fdc083f4d09"/>
    <p:sldId xmlns:r="http://schemas.openxmlformats.org/officeDocument/2006/relationships" id="268" r:id="Rf5f21f87030944b1"/>
    <p:sldId xmlns:r="http://schemas.openxmlformats.org/officeDocument/2006/relationships" id="269" r:id="R93f16f3056a24681"/>
    <p:sldId xmlns:r="http://schemas.openxmlformats.org/officeDocument/2006/relationships" id="270" r:id="Rb199909d84f942e7"/>
    <p:sldId xmlns:r="http://schemas.openxmlformats.org/officeDocument/2006/relationships" id="271" r:id="R3029335563f54422"/>
    <p:sldId xmlns:r="http://schemas.openxmlformats.org/officeDocument/2006/relationships" id="272" r:id="Rf86253a2bfe84375"/>
    <p:sldId xmlns:r="http://schemas.openxmlformats.org/officeDocument/2006/relationships" id="273" r:id="Rf3f62b1d5c7f49bd"/>
    <p:sldId xmlns:r="http://schemas.openxmlformats.org/officeDocument/2006/relationships" id="274" r:id="Rfd5de7ece8e34b47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f705b0d2f416e" /><Relationship Type="http://schemas.openxmlformats.org/officeDocument/2006/relationships/slideMaster" Target="/ppt/slideMasters/slideMaster1.xml" Id="Rd0f5ee54ffd440c6" /><Relationship Type="http://schemas.openxmlformats.org/officeDocument/2006/relationships/notesMaster" Target="/ppt/notesMasters/notesMaster1.xml" Id="Rf95714a4e03e4199" /><Relationship Type="http://schemas.openxmlformats.org/officeDocument/2006/relationships/presProps" Target="/ppt/presProps.xml" Id="R0f118a22c01d4f87" /><Relationship Type="http://schemas.openxmlformats.org/officeDocument/2006/relationships/viewProps" Target="/ppt/viewProps.xml" Id="Rae9b7dd90fcb4fad" /><Relationship Type="http://schemas.openxmlformats.org/officeDocument/2006/relationships/tableStyles" Target="/ppt/tableStyles.xml" Id="R5cf9317267cd4e52" /><Relationship Type="http://schemas.openxmlformats.org/officeDocument/2006/relationships/slide" Target="/ppt/slides/slide1.xml" Id="Raf6f9f00db1b4ad5" /><Relationship Type="http://schemas.openxmlformats.org/officeDocument/2006/relationships/slide" Target="/ppt/slides/slide2.xml" Id="Rcc9b238d53ea4e67" /><Relationship Type="http://schemas.openxmlformats.org/officeDocument/2006/relationships/slide" Target="/ppt/slides/slide3.xml" Id="Reaae14d6d4174ab5" /><Relationship Type="http://schemas.openxmlformats.org/officeDocument/2006/relationships/slide" Target="/ppt/slides/slide4.xml" Id="R385aaf49c635422e" /><Relationship Type="http://schemas.openxmlformats.org/officeDocument/2006/relationships/slide" Target="/ppt/slides/slide5.xml" Id="R139b78bf3a214f14" /><Relationship Type="http://schemas.openxmlformats.org/officeDocument/2006/relationships/slide" Target="/ppt/slides/slide6.xml" Id="R67792ed397174cf5" /><Relationship Type="http://schemas.openxmlformats.org/officeDocument/2006/relationships/slide" Target="/ppt/slides/slide7.xml" Id="R09eeae1e96864cc9" /><Relationship Type="http://schemas.openxmlformats.org/officeDocument/2006/relationships/slide" Target="/ppt/slides/slide8.xml" Id="R8b848594312d4694" /><Relationship Type="http://schemas.openxmlformats.org/officeDocument/2006/relationships/slide" Target="/ppt/slides/slide9.xml" Id="R28bb7a5cf3a542d6" /><Relationship Type="http://schemas.openxmlformats.org/officeDocument/2006/relationships/slide" Target="/ppt/slides/slide10.xml" Id="R6e2816ed88304a99" /><Relationship Type="http://schemas.openxmlformats.org/officeDocument/2006/relationships/slide" Target="/ppt/slides/slide11.xml" Id="R8be7560b5eb2442c" /><Relationship Type="http://schemas.openxmlformats.org/officeDocument/2006/relationships/slide" Target="/ppt/slides/slide12.xml" Id="Rc6bc5fdc083f4d09" /><Relationship Type="http://schemas.openxmlformats.org/officeDocument/2006/relationships/slide" Target="/ppt/slides/slide13.xml" Id="Rf5f21f87030944b1" /><Relationship Type="http://schemas.openxmlformats.org/officeDocument/2006/relationships/slide" Target="/ppt/slides/slide14.xml" Id="R93f16f3056a24681" /><Relationship Type="http://schemas.openxmlformats.org/officeDocument/2006/relationships/slide" Target="/ppt/slides/slide15.xml" Id="Rb199909d84f942e7" /><Relationship Type="http://schemas.openxmlformats.org/officeDocument/2006/relationships/slide" Target="/ppt/slides/slide16.xml" Id="R3029335563f54422" /><Relationship Type="http://schemas.openxmlformats.org/officeDocument/2006/relationships/slide" Target="/ppt/slides/slide17.xml" Id="Rf86253a2bfe84375" /><Relationship Type="http://schemas.openxmlformats.org/officeDocument/2006/relationships/slide" Target="/ppt/slides/slide18.xml" Id="Rf3f62b1d5c7f49bd" /><Relationship Type="http://schemas.openxmlformats.org/officeDocument/2006/relationships/slide" Target="/ppt/slides/slide19.xml" Id="Rfd5de7ece8e3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f8c6be2c849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01e55187d413a" /><Relationship Type="http://schemas.openxmlformats.org/officeDocument/2006/relationships/notesMaster" Target="/ppt/notesMasters/notesMaster1.xml" Id="Rd618a2df7726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b21c62c274407" /><Relationship Type="http://schemas.openxmlformats.org/officeDocument/2006/relationships/notesMaster" Target="/ppt/notesMasters/notesMaster1.xml" Id="Red79c1b66f024a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10634da9af43a5" /><Relationship Type="http://schemas.openxmlformats.org/officeDocument/2006/relationships/notesMaster" Target="/ppt/notesMasters/notesMaster1.xml" Id="R2c290ca18be243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140b575ccc4f30" /><Relationship Type="http://schemas.openxmlformats.org/officeDocument/2006/relationships/notesMaster" Target="/ppt/notesMasters/notesMaster1.xml" Id="R762b3f2c176a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8826ce3ebe400b" /><Relationship Type="http://schemas.openxmlformats.org/officeDocument/2006/relationships/notesMaster" Target="/ppt/notesMasters/notesMaster1.xml" Id="Rd9c16016dd7543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ae3b0aff694adc" /><Relationship Type="http://schemas.openxmlformats.org/officeDocument/2006/relationships/notesMaster" Target="/ppt/notesMasters/notesMaster1.xml" Id="R737bdf352d9e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78796a52c24d49" /><Relationship Type="http://schemas.openxmlformats.org/officeDocument/2006/relationships/notesMaster" Target="/ppt/notesMasters/notesMaster1.xml" Id="R1b72b83c2672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d7e54158ec436f" /><Relationship Type="http://schemas.openxmlformats.org/officeDocument/2006/relationships/notesMaster" Target="/ppt/notesMasters/notesMaster1.xml" Id="R8543fe82b19141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972fbd231d448a" /><Relationship Type="http://schemas.openxmlformats.org/officeDocument/2006/relationships/notesMaster" Target="/ppt/notesMasters/notesMaster1.xml" Id="Rfce05499e2434c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1bde97586a4575" /><Relationship Type="http://schemas.openxmlformats.org/officeDocument/2006/relationships/notesMaster" Target="/ppt/notesMasters/notesMaster1.xml" Id="Rd5bce0649b4a40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590c783c6b44ab" /><Relationship Type="http://schemas.openxmlformats.org/officeDocument/2006/relationships/notesMaster" Target="/ppt/notesMasters/notesMaster1.xml" Id="R23a8aeceed364d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0af302c6444bff" /><Relationship Type="http://schemas.openxmlformats.org/officeDocument/2006/relationships/notesMaster" Target="/ppt/notesMasters/notesMaster1.xml" Id="R12ddeda1b93f47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c7ae15e37b4f1c" /><Relationship Type="http://schemas.openxmlformats.org/officeDocument/2006/relationships/notesMaster" Target="/ppt/notesMasters/notesMaster1.xml" Id="R5b329a94fb914f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236cb5707447a0" /><Relationship Type="http://schemas.openxmlformats.org/officeDocument/2006/relationships/notesMaster" Target="/ppt/notesMasters/notesMaster1.xml" Id="R5c4f6e129fc043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3ae2028ef9473f" /><Relationship Type="http://schemas.openxmlformats.org/officeDocument/2006/relationships/notesMaster" Target="/ppt/notesMasters/notesMaster1.xml" Id="R66419bd4e3384f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68b7ab3e7f490e" /><Relationship Type="http://schemas.openxmlformats.org/officeDocument/2006/relationships/notesMaster" Target="/ppt/notesMasters/notesMaster1.xml" Id="Rb5b1e00bf03249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07737abf924605" /><Relationship Type="http://schemas.openxmlformats.org/officeDocument/2006/relationships/notesMaster" Target="/ppt/notesMasters/notesMaster1.xml" Id="R17f3b695053344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b3e35391ea4733" /><Relationship Type="http://schemas.openxmlformats.org/officeDocument/2006/relationships/notesMaster" Target="/ppt/notesMasters/notesMaster1.xml" Id="R984a2496d1cd49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7a9dfdc8db48c5" /><Relationship Type="http://schemas.openxmlformats.org/officeDocument/2006/relationships/notesMaster" Target="/ppt/notesMasters/notesMaster1.xml" Id="R67c5bd2b00a849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封面（建议 25 秒）
开场一句：BAI Work 不是另一个聊天入口，而是面向真实项目交付的轻量桌面工作台。
核心差异是把执行链收敛到本地项目：配置更短、过程可见、产物可验收。
当前已有可运行应用、三平台构建路径和完整自动化验证。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产品问题与定义（建议 35 秒）
不要从功能数量开始，先说明真实项目任务为什么需要连续交付。
BAI Work 的目标函数是缩短任务到产物的闭环，而不是覆盖所有通信场景。
这条目标函数决定了后续的轻量架构、过程可观测和 Token Economy。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秒演示目标（建议 45 秒）</a:t>
            </a:r>
          </a:p>
          <a:p xmlns:a="http://schemas.openxmlformats.org/drawingml/2006/main">
            <a:r>
              <a:t>用户只需提供 API Key，主进程完成服务探测、模型拉取、能力分类和保存。</a:t>
            </a:r>
          </a:p>
          <a:p xmlns:a="http://schemas.openxmlformats.org/drawingml/2006/main">
            <a:r>
              <a:t>技术上使用凭据隔离、端点规范化、能力感知发现与幂等集合合并。</a:t>
            </a:r>
          </a:p>
          <a:p xmlns:a="http://schemas.openxmlformats.org/drawingml/2006/main">
            <a:r>
              <a:t>30 秒是顺畅网络下的现场演示目标，不作为固定网络 SLA。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现场演示路径（建议 35 秒 + 3 分钟演示）
演示只跑一条主流程：选项目、发任务、展开步骤、打开产物。
每一步都说用户获得了什么信息，不在现场展开内部实现。
网络异常时切换到打包运行时健康检查、预生成产物与最新界面证据。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产品完成度（建议 40 秒）</a:t>
            </a:r>
          </a:p>
          <a:p xmlns:a="http://schemas.openxmlformats.org/drawingml/2006/main">
            <a:r>
              <a:t>完成度从用户生命周期衡量：配置、执行、观察、审阅、沉淀都在一个工作面完成。</a:t>
            </a:r>
          </a:p>
          <a:p xmlns:a="http://schemas.openxmlformats.org/drawingml/2006/main">
            <a:r>
              <a:t>三平台目标和稳定本地服务边界证明它不是一次性原型。</a:t>
            </a:r>
          </a:p>
          <a:p xmlns:a="http://schemas.openxmlformats.org/drawingml/2006/main">
            <a:r>
              <a:t>EBAI 的 Commands、Agents、Skills、Rules 和 Hooks 是 BAI Work 面向用户的产品能力；来源与安装不定义它的产品身份。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轻量 Runtime Host 架构（建议 50 秒）
核心创新不是桌面框架本身，而是单一 Runtime Host 对协议、凭据、文件和生命周期的收敛。
Renderer 只消费稳定事件模型，因此上游变化不会扩散到整个界面。
项目级状态和本机回环服务共同缩短了任务到产物的执行路径。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项目级 Runtime Host 数据链（建议 55 秒）</a:t>
            </a:r>
          </a:p>
          <a:p xmlns:a="http://schemas.openxmlformats.org/drawingml/2006/main">
            <a:r>
              <a:t>这一页只解释 BAI Work 自身的架构选择：把桌面复杂度集中在 Runtime Host。</a:t>
            </a:r>
          </a:p>
          <a:p xmlns:a="http://schemas.openxmlformats.org/drawingml/2006/main">
            <a:r>
              <a:t>工作台只消费稳定事件，项目上下文、状态、权限和产物则始终围绕 workspace 收敛。</a:t>
            </a:r>
          </a:p>
          <a:p xmlns:a="http://schemas.openxmlformats.org/drawingml/2006/main">
            <a:r>
              <a:t>从输入到验收的每一段都有明确边界，因此长任务可以被观察、恢复和验证。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可观测状态机（建议 45 秒）
事件流先去重、分类和清洗，再进入时间线和最终交付区。
过程区展示工具动作和可验证状态，不展示模型内部思维链。
错误与用量采用保守策略：不让堆栈污染界面，也不把缺失遥测当成零。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 Economy 控制面（建议 50 秒）</a:t>
            </a:r>
          </a:p>
          <a:p xmlns:a="http://schemas.openxmlformats.org/drawingml/2006/main">
            <a:r>
              <a:t>这里展示的是当前代码中可复现的请求预算配置，不使用仓库里不存在的估算公式。</a:t>
            </a:r>
          </a:p>
          <a:p xmlns:a="http://schemas.openxmlformats.org/drawingml/2006/main">
            <a:r>
              <a:t>历史保护限制发送请求时的超长工具结果和参数，原始聊天记录保持不变。</a:t>
            </a:r>
          </a:p>
          <a:p xmlns:a="http://schemas.openxmlformats.org/drawingml/2006/main">
            <a:r>
              <a:t>当前适配层没有可用的节省遥测，因此界面明确显示不可用，不宣称节省百分比。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上下文治理契约（建议 55 秒）</a:t>
            </a:r>
          </a:p>
          <a:p xmlns:a="http://schemas.openxmlformats.org/drawingml/2006/main">
            <a:r>
              <a:t>第一层约束工具结果，第二层约束工具参数，第三层定义摘要阈值与资源预算。</a:t>
            </a:r>
          </a:p>
          <a:p xmlns:a="http://schemas.openxmlformats.org/drawingml/2006/main">
            <a:r>
              <a:t>这些默认值和输入上限都能从共享设置、IPC schema 与 normalizer 中复现。</a:t>
            </a:r>
          </a:p>
          <a:p xmlns:a="http://schemas.openxmlformats.org/drawingml/2006/main">
            <a:r>
              <a:t>我们把控制面和实际运行效果分开陈述；只有可用遥测才进入节省展示。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EBAI 产品能力体系（建议 60 秒）</a:t>
            </a:r>
          </a:p>
          <a:p xmlns:a="http://schemas.openxmlformats.org/drawingml/2006/main">
            <a:r>
              <a:t>EBAI 的产品定义是 BAI Work 面向用户的能力体系；来源与安装只属于内部交付方式。</a:t>
            </a:r>
          </a:p>
          <a:p xmlns:a="http://schemas.openxmlformats.org/drawingml/2006/main">
            <a:r>
              <a:t>当前 Commands 和 Skills 可被运行时加载，Agents 以命令工作流接入，Rules 以 Skill 指令接入。</a:t>
            </a:r>
          </a:p>
          <a:p xmlns:a="http://schemas.openxmlformats.org/drawingml/2006/main">
            <a:r>
              <a:t>Hooks 当前仅生成默认关闭的 manifest；来源与安装是内部交付方式，不定义 EBAI 的产品身份。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EBAI Hook 安全（建议 50 秒）</a:t>
            </a:r>
          </a:p>
          <a:p xmlns:a="http://schemas.openxmlformats.org/drawingml/2006/main">
            <a:r>
              <a:t>Hook 已作为 EBAI 产品能力之一被建模，覆盖消息、会话和工具调用生命周期。</a:t>
            </a:r>
          </a:p>
          <a:p xmlns:a="http://schemas.openxmlformats.org/drawingml/2006/main">
            <a:r>
              <a:t>当前交付范围是生成默认关闭的 manifest，设置页开关禁用，BAI Code 0.9.1 也没有 Hook 执行契约。</a:t>
            </a:r>
          </a:p>
          <a:p xmlns:a="http://schemas.openxmlformats.org/drawingml/2006/main">
            <a:r>
              <a:t>因此答辩只宣称能力定义、配置边界与安全策略已实现，不把 Hook 冒充为已执行。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执行闭环（建议 45 秒）
BAI Work 的 AI 应用不是单次接口调用，而是上下文、规划、工具、产物和验证的闭环。
验证门将“模型说完成了”转换为文件、差异、测试与运行证据。
可选的签名和发布溯源是后续生态方向，不作为当前完成度陈述。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端到端工程证据链（建议 55 秒）</a:t>
            </a:r>
          </a:p>
          <a:p xmlns:a="http://schemas.openxmlformats.org/drawingml/2006/main">
            <a:r>
              <a:t>这一页把前半段技术点收束为评委可以直接判断的证据链。</a:t>
            </a:r>
          </a:p>
          <a:p xmlns:a="http://schemas.openxmlformats.org/drawingml/2006/main">
            <a:r>
              <a:t>从配置到工程验收，每个用户价值都对应明确的系统机制和验证入口。</a:t>
            </a:r>
          </a:p>
          <a:p xmlns:a="http://schemas.openxmlformats.org/drawingml/2006/main">
            <a:r>
              <a:t>BAI Work 的优势来自完整闭环，不需要依赖外部产品比较。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上游贡献与 BAI Work 可靠性（建议 50 秒）</a:t>
            </a:r>
          </a:p>
          <a:p xmlns:a="http://schemas.openxmlformats.org/drawingml/2006/main">
            <a:r>
              <a:t>我以 @2830500285 身份向 OpenAI Agents SDK 贡献 PR #3642，并随 v0.17.7 正式发布，官方 release 将我列为首次贡献者。</a:t>
            </a:r>
          </a:p>
          <a:p xmlns:a="http://schemas.openxmlformats.org/drawingml/2006/main">
            <a:r>
              <a:t>这项贡献解决长时 Agent 沙箱中的缓冲增长、重复写入和网络超时落盘问题。</a:t>
            </a:r>
          </a:p>
          <a:p xmlns:a="http://schemas.openxmlformats.org/drawingml/2006/main">
            <a:r>
              <a:t>BAI Work 没有移植该段 Python 代码，而是在 Runtime Host 中独立落实同一工程原则：pending 有界、事件游标去重、SSE 断点续传、指数退避与熔断。</a:t>
            </a:r>
          </a:p>
          <a:p xmlns:a="http://schemas.openxmlformats.org/drawingml/2006/main">
            <a:r>
              <a:t>GPT-5.6 ChatGPT Codex 用于本次贡献流程的协作与复核；公开仓库只证明 PR 合并与版本发布，因此不宣称 Codex 产品直接集成这段代码。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目标用户（建议 35 秒）
首批用户是有真实本地项目、长任务和产物验收需求的个人与小团队。
BAI 生态用户获得的是持续桌面入口和项目交付工作面。
切入策略先验证高频留存与任务完成率，再扩展更广泛场景。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首批商业推广（建议 50 秒）
建议采用限量、半价、封顶、限时的受控补贴方案，而不是无上限降价。
优惠在用户绑定有效 API Key 并完成首个项目任务后激活，确保补贴对应真实使用。
用首任务完成率、七日活跃项目和付费转化率决定是否扩大 Cohort。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十二周路线图（建议 45 秒）</a:t>
            </a:r>
          </a:p>
          <a:p xmlns:a="http://schemas.openxmlformats.org/drawingml/2006/main">
            <a:r>
              <a:t>前四周解决发布级稳定性，第二阶段验证首批 Cohort，第三阶段再决定规模化。</a:t>
            </a:r>
          </a:p>
          <a:p xmlns:a="http://schemas.openxmlformats.org/drawingml/2006/main">
            <a:r>
              <a:t>每个阶段用发布质量、真实激活、留存和单位经济验收，而不是继续堆叠功能数量。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收束（建议 30 秒）</a:t>
            </a:r>
          </a:p>
          <a:p xmlns:a="http://schemas.openxmlformats.org/drawingml/2006/main">
            <a:r>
              <a:t>最后一句：简单不是删掉能力，而是把架构、配置和安全复杂度留在系统内部。</a:t>
            </a:r>
          </a:p>
          <a:p xmlns:a="http://schemas.openxmlformats.org/drawingml/2006/main">
            <a:r>
              <a:t>BAI Work 通过轻量架构、Token Economy、EBAI 和工程验证形成完整交付闭环。</a:t>
            </a:r>
          </a:p>
          <a:p xmlns:a="http://schemas.openxmlformats.org/drawingml/2006/main">
            <a:r>
              <a:t>下一步是稳定签名发布并用首批真实用户数据验证留存与单位经济。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360527b4b4b2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22d7a5f0a4a5a" /><Relationship Type="http://schemas.openxmlformats.org/officeDocument/2006/relationships/slideLayout" Target="/ppt/slideLayouts/slideLayout1.xml" Id="R1c202630f0004b7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202630f0004b7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ca410f7a485d" /><Relationship Type="http://schemas.openxmlformats.org/officeDocument/2006/relationships/image" Target="/ppt/media/image.png" Id="R48fc2610ad4d496c" /><Relationship Type="http://schemas.openxmlformats.org/officeDocument/2006/relationships/image" Target="/ppt/media/image2.png" Id="R9e1fd36c5fa04d12" /><Relationship Type="http://schemas.openxmlformats.org/officeDocument/2006/relationships/notesSlide" Target="/ppt/notesSlides/notesSlide1.xml" Id="Rd6d16a7c7964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3b83fe5be4a27" /><Relationship Type="http://schemas.openxmlformats.org/officeDocument/2006/relationships/notesSlide" Target="/ppt/notesSlides/notesSlide2.xml" Id="Ra802d339cc4a4f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a5f5acce42cf" /><Relationship Type="http://schemas.openxmlformats.org/officeDocument/2006/relationships/notesSlide" Target="/ppt/notesSlides/notesSlide3.xml" Id="Rfec3391ef63240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5bccfcbab4512" /><Relationship Type="http://schemas.openxmlformats.org/officeDocument/2006/relationships/image" Target="/ppt/media/image3.png" Id="Ra581da7381c74a11" /><Relationship Type="http://schemas.openxmlformats.org/officeDocument/2006/relationships/notesSlide" Target="/ppt/notesSlides/notesSlide4.xml" Id="R66931c0093374e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a483be1f44083" /><Relationship Type="http://schemas.openxmlformats.org/officeDocument/2006/relationships/notesSlide" Target="/ppt/notesSlides/notesSlide5.xml" Id="Raca8c078a22e43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97009316d4eac" /><Relationship Type="http://schemas.openxmlformats.org/officeDocument/2006/relationships/notesSlide" Target="/ppt/notesSlides/notesSlide6.xml" Id="R0029c071f84e49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3373608cc4c1d" /><Relationship Type="http://schemas.openxmlformats.org/officeDocument/2006/relationships/notesSlide" Target="/ppt/notesSlides/notesSlide7.xml" Id="R627f0fa5f963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12abe2ab748d9" /><Relationship Type="http://schemas.openxmlformats.org/officeDocument/2006/relationships/notesSlide" Target="/ppt/notesSlides/notesSlide8.xml" Id="Raa590e44719b40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6259896fe4fab" /><Relationship Type="http://schemas.openxmlformats.org/officeDocument/2006/relationships/notesSlide" Target="/ppt/notesSlides/notesSlide9.xml" Id="R0c77c605bf184f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a21985deb4884" /><Relationship Type="http://schemas.openxmlformats.org/officeDocument/2006/relationships/notesSlide" Target="/ppt/notesSlides/notesSlide10.xml" Id="Re83e3316ac304d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8888b41d461c" /><Relationship Type="http://schemas.openxmlformats.org/officeDocument/2006/relationships/notesSlide" Target="/ppt/notesSlides/notesSlide11.xml" Id="Ra592093318f34c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4a3b0caf645ff" /><Relationship Type="http://schemas.openxmlformats.org/officeDocument/2006/relationships/notesSlide" Target="/ppt/notesSlides/notesSlide12.xml" Id="Rab01738edf8443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dc44d05604a8a" /><Relationship Type="http://schemas.openxmlformats.org/officeDocument/2006/relationships/notesSlide" Target="/ppt/notesSlides/notesSlide13.xml" Id="R05d32ec174234d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58f76f47e4a5c" /><Relationship Type="http://schemas.openxmlformats.org/officeDocument/2006/relationships/notesSlide" Target="/ppt/notesSlides/notesSlide14.xml" Id="Re332681966ce4a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dcc7e74d040ba" /><Relationship Type="http://schemas.openxmlformats.org/officeDocument/2006/relationships/notesSlide" Target="/ppt/notesSlides/notesSlide15.xml" Id="R47533c0b4c144b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91caa9b8646d5" /><Relationship Type="http://schemas.openxmlformats.org/officeDocument/2006/relationships/notesSlide" Target="/ppt/notesSlides/notesSlide16.xml" Id="Ra612b9dc446143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59f707354134" /><Relationship Type="http://schemas.openxmlformats.org/officeDocument/2006/relationships/notesSlide" Target="/ppt/notesSlides/notesSlide17.xml" Id="Ra2eb622776e445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a6cf29b2e4089" /><Relationship Type="http://schemas.openxmlformats.org/officeDocument/2006/relationships/notesSlide" Target="/ppt/notesSlides/notesSlide18.xml" Id="R3fa0614a9d0f4a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855185fae417e" /><Relationship Type="http://schemas.openxmlformats.org/officeDocument/2006/relationships/image" Target="/ppt/media/image4.png" Id="Rfcbb2214cd464e48" /><Relationship Type="http://schemas.openxmlformats.org/officeDocument/2006/relationships/notesSlide" Target="/ppt/notesSlides/notesSlide19.xml" Id="R01fa7c018a3a46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4BDF23-DFD8-4A17-83DE-8D89E74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0"/>
            <a:ext cx="52879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2700">
            <a:solidFill>
              <a:srgbClr val="FFFEF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FFA43CD-CC1F-47DB-AEB5-96844674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475488"/>
            <a:ext cx="4754880" cy="507492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c2610ad4d49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8896" y="1500759"/>
            <a:ext cx="4608576" cy="3024378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D9B947A-7BFC-4C5B-8F6E-9111208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678311"/>
            <a:ext cx="4608576" cy="8468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2700">
            <a:solidFill>
              <a:srgbClr val="FFFEFA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F8401EC-7DDE-46C6-8BA2-7FD3E71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3973708"/>
            <a:ext cx="424281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BAI Work · 项目级桌面工作台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86E5DCF-D5BA-4DC6-B780-8878AFD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650992"/>
            <a:ext cx="5287975" cy="1207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E96765D-B2C6-439A-B880-93F6519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7EC5C1"/>
                </a:solidFill>
                <a:latin typeface="Aptos"/>
                <a:ea typeface="Aptos"/>
                <a:cs typeface="Aptos"/>
              </a:rPr>
              <a:t>GENESIS HACKATHON</a:t>
            </a:r>
          </a:p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d36c5fa04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1084955"/>
            <a:ext cx="5212080" cy="1359673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9EF86E0-C753-4E70-A312-28D2AAA0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5715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项目级轻量 Agent 工作台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6892DAB-76C1-4B1D-8403-199C40F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364992"/>
            <a:ext cx="5623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C5CDD4"/>
                </a:solidFill>
                <a:latin typeface="PingFang SC"/>
                <a:ea typeface="PingFang SC"/>
                <a:cs typeface="PingFang SC"/>
              </a:rPr>
              <a:t>更短执行链 · 更小故障域 · 更清晰产物闭环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D4CF059-3D84-469A-AD6F-C8F54FA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811D1E5-31FC-4B7C-973C-482CD824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33672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 秒路径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6FD5049-A4AD-4568-812E-F6CB923C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42245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FE6A8AE-82CF-466C-9515-1F690C7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233672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单项目执行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77F0337-7F40-4D97-98E7-DEF3BC57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2245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9BDE66F-9101-411C-A938-156B11A3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33672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Token Economy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9C3514E-2AD7-4905-9113-8282349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2744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7C9C1DA-8B82-4072-B12C-A10ACE9B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92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EBAI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8047C08-22B3-4C8E-9A4D-6057FD32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472744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7CFCFE8-3DC9-4102-8E78-634B256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736592"/>
            <a:ext cx="11521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三平台交付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3F1B0535-9CB4-4A7D-A9B3-F294863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99632"/>
            <a:ext cx="2834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89939D"/>
                </a:solidFill>
                <a:latin typeface="PingFang SC"/>
                <a:ea typeface="PingFang SC"/>
                <a:cs typeface="PingFang SC"/>
              </a:rPr>
              <a:t>项目答辩 · 2026.07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F40DF44-F574-49D0-870F-FED44124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5925312"/>
            <a:ext cx="4251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API Key 到可验收产物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8078A19-F20C-4C43-8FD0-3BE5812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6291072"/>
            <a:ext cx="4251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8D1D8"/>
                </a:solidFill>
                <a:latin typeface="Aptos"/>
                <a:ea typeface="Aptos"/>
                <a:cs typeface="Aptos"/>
              </a:rPr>
              <a:t>Mac Intel · Mac Apple Silicon · Windows x64</a:t>
            </a:r>
          </a:p>
        </p:txBody>
      </p:sp>
    </p:spTree>
    <p:extLst>
      <p:ext uri="{BB962C8B-B14F-4D97-AF65-F5344CB8AC3E}">
        <p14:creationId xmlns:p14="http://schemas.microsoft.com/office/powerpoint/2010/main" val="1228691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7ED87E-6BE8-4E46-81E4-88A27A62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WHY BAI WORK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41EA24-DD9B-42A9-A8D8-12CC68CA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为什么需要 BAI Work：项目任务要求“连续交付”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0DEFD58-393E-4BAB-831A-7AFFB407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92156B-F50A-4B05-85A4-E259B957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产品定义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741F0BB-6816-45B7-B922-CB33E4B9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748628-3F7B-4DAF-83CE-B5EAE6A8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36192"/>
            <a:ext cx="105613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真实知识工作不是一次问答，而是上下文进入、工具执行、过程反馈、产物审阅与后续复用的连续系统。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B020CBB-26F8-435D-8BEA-EC585376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95728"/>
            <a:ext cx="3456432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BD35AE-1EE8-46FC-9861-7C2793F3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33472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D8644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A5A12D-B9B3-4F54-99B0-EC02A961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90672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上下文割裂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7712D04-6F09-4865-954E-5068B14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657600"/>
            <a:ext cx="2971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项目、文件、版本状态与会话历史分散，重复传递成本高。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9ED134-A744-454E-A26E-4A43FA34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395728"/>
            <a:ext cx="3456432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4E7C8"/>
          </a:solidFill>
          <a:ln xmlns:a="http://schemas.openxmlformats.org/drawingml/2006/main" w="12700">
            <a:solidFill>
              <a:srgbClr val="F4E7C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7AFC05-8418-4001-BE02-6391962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633472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7B1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BC654F1-1870-432C-A229-D58DE5B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090672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过程不可观测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ABA8DE-4238-43B6-AA55-C031B389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657600"/>
            <a:ext cx="2971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长任务只有等待或原始日志，难以判断当前状态和失败位置。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C4F507-0D75-460B-8106-A9B345A4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395728"/>
            <a:ext cx="3456432" cy="2176272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0D3FE1-5EB9-4A3E-921B-F910540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33472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3559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6205B1-A795-4A52-B843-471C3585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90672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交付不可验收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4DA1506-8978-473B-A1A6-8084A324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2971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回答与工具过程混在一起，产物、差异和验证证据缺少结构。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A098C7-1F2D-4D42-A762-71CC0AC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74920"/>
            <a:ext cx="10076688" cy="841248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C8B29C-F99A-4288-9C17-738554D9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230368"/>
            <a:ext cx="95829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BAI Work = 项目上下文 + 本地执行 + 可观测状态机 + 可审阅产物 + 受信任能力层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85A511C-4CA4-477E-9B5B-9718D9E5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产品原则：以任务到产物的闭环效率为主目标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47ADF4D-EA4C-43AF-A358-4AD516CB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02 / 19</a:t>
            </a:r>
          </a:p>
        </p:txBody>
      </p:sp>
    </p:spTree>
    <p:extLst>
      <p:ext uri="{BB962C8B-B14F-4D97-AF65-F5344CB8AC3E}">
        <p14:creationId xmlns:p14="http://schemas.microsoft.com/office/powerpoint/2010/main" val="184362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DF7C4C-7A1F-4894-B0B3-1D82750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THIRTY-SECOND ONBOARDING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0C2388B-5A12-428F-8C2D-729FBEB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30 秒演示目标：API Key 进入，模型能力自动就绪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AD49319-07F9-4759-8E2D-F5014C39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19B8CBB-0350-411C-BA7A-0E6ADDC9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极简上手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5840A7-341D-4F9D-BECF-9E20053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D93E6D0-68AF-4E42-9664-1A8B2A2C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54480"/>
            <a:ext cx="98755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E58E8C8-9B57-44CB-B3E9-4763A7D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63624"/>
            <a:ext cx="8412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现场路径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BC74B06-0BFA-4738-B259-93DF8DDF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48256"/>
            <a:ext cx="1883664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F6CD-BC75-45AE-A23B-9671882D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21992"/>
            <a:ext cx="411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192D0C-AB8D-4839-AE05-C9503EEF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7860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输入 API Key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6056B7-B5EC-4F80-9FFE-E09F35B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971800"/>
            <a:ext cx="15727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9727E"/>
                </a:solidFill>
                <a:latin typeface="Aptos"/>
                <a:ea typeface="Aptos"/>
                <a:cs typeface="Aptos"/>
              </a:rPr>
              <a:t>Main-Process Credential Isolation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6381EF-D7A7-4D14-8187-CF82DEA0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724912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7CFEBF3-DAB9-4C5A-A9E5-6309D243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48256"/>
            <a:ext cx="1883664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0F64370-177E-412E-B060-3618E70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221992"/>
            <a:ext cx="411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CF8D8A-6771-47AE-9035-F8C808D4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57860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探测服务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4964022-AAA4-4511-AB1D-2BD3F66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2971800"/>
            <a:ext cx="15727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9727E"/>
                </a:solidFill>
                <a:latin typeface="Aptos"/>
                <a:ea typeface="Aptos"/>
                <a:cs typeface="Aptos"/>
              </a:rPr>
              <a:t>Endpoint Canonicalization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4F3A689-C73E-4E0C-B8E3-EB813C2D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724912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AC5CEE-0782-4801-A07D-B406452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48256"/>
            <a:ext cx="1883664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F9CDB4-4BB3-4288-B979-CC4CB1B7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221992"/>
            <a:ext cx="411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BD5E2E4-BD10-4027-A587-AD4B061A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7860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拉取模型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B30FAE5-BAAB-4078-8862-06E6D4EA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971800"/>
            <a:ext cx="15727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9727E"/>
                </a:solidFill>
                <a:latin typeface="Aptos"/>
                <a:ea typeface="Aptos"/>
                <a:cs typeface="Aptos"/>
              </a:rPr>
              <a:t>GET /v1/models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8B96C65-2799-4551-B2C5-B4D4B737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2724912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680DD74-FCBF-4F6F-95BE-56C3B208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048256"/>
            <a:ext cx="1883664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ECCA89D-A0CC-4D85-A340-09F9241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221992"/>
            <a:ext cx="411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4F50DF2-8621-4158-8528-AF54776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57860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能力分类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FC9380-8829-4331-8E12-DB62BA1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971800"/>
            <a:ext cx="15727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9727E"/>
                </a:solidFill>
                <a:latin typeface="Aptos"/>
                <a:ea typeface="Aptos"/>
                <a:cs typeface="Aptos"/>
              </a:rPr>
              <a:t>Capability-Aware Discovery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C13206A-9F66-4347-BEC3-369D71A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724912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7C0230D-E979-4879-81BB-0531266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048256"/>
            <a:ext cx="1883664" cy="1389888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29B8D20-9090-4177-8E48-83AE950E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221992"/>
            <a:ext cx="411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212470F-CABD-4584-84E4-9AFED52E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5727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保存并使用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0F23F2F-7263-405D-8E1C-7032924C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971800"/>
            <a:ext cx="15727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9727E"/>
                </a:solidFill>
                <a:latin typeface="Aptos"/>
                <a:ea typeface="Aptos"/>
                <a:cs typeface="Aptos"/>
              </a:rPr>
              <a:t>Idempotent Set Merge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F10BD46-C8D1-4A61-AC24-C3E15C6B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672084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59B7407-BA41-4DEE-9200-8F8E326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24528"/>
            <a:ext cx="960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实现机制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381C964-032C-4A9B-82FC-089A0D2B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29768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A06102-C6B4-470F-8A06-50704AB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160520"/>
            <a:ext cx="4956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凭据只在主进程中参与请求，避免渲染层暴露与跨域约束。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E4165AE-50FA-48A2-A708-B816177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72744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171E2CB-45D1-48AF-A4C2-9435A10A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590288"/>
            <a:ext cx="4956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统一规范化 Base URL，8 秒模型列表超时与 10 秒连通性探测。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20BFFB30-E85D-4E82-B4EF-5D77B7F4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157216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F63DA08-8F0E-4517-B36A-C7F038B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020056"/>
            <a:ext cx="4956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去重模型 ID，按文本对话能力过滤，并与已有配置幂等合并。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97338DD-DEA6-4E53-87DA-13975B3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77640"/>
            <a:ext cx="388620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BAFC173-2520-471B-B0E9-74C31D1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4224528"/>
            <a:ext cx="32735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用户感知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063A930-074A-4C78-B223-1417A1D7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4617720"/>
            <a:ext cx="3273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无需编辑配置文件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无需手工录入模型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无需理解运行时参数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225D229-B1EF-4701-AE79-631E989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925312"/>
            <a:ext cx="10287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实际完成时间取决于网络与 API 可用性；30 秒是典型配置目标，不是网络 SLA。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377BFEA-E677-46E9-A3D4-66F1C948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实现证据：provider connection · model discovery · protocol URL normalization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261E257-1674-404E-8ED9-2BD8BBF7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03 / 19</a:t>
            </a:r>
          </a:p>
        </p:txBody>
      </p:sp>
    </p:spTree>
    <p:extLst>
      <p:ext uri="{BB962C8B-B14F-4D97-AF65-F5344CB8AC3E}">
        <p14:creationId xmlns:p14="http://schemas.microsoft.com/office/powerpoint/2010/main" val="546507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BC3C75-1B0B-42CD-9D1B-429EE455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DEMO STORY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9ED7F-E4DC-4266-8B1B-A13D73C6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现场演示：从一句任务到可验收产物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0A08C73-963E-4E35-AF0C-B10F42B8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71E12C-E31F-4C8E-9C5A-5A1A5CEE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用户流程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2356599-3480-48A3-8BF5-FE891E19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DBC063D-FC55-49BD-A12C-A0E2B89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36192"/>
            <a:ext cx="6537960" cy="4462272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1da7381c7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56" y="1670066"/>
            <a:ext cx="6391656" cy="4194524"/>
          </a:xfrm>
          <a:prstGeom xmlns:a="http://schemas.openxmlformats.org/drawingml/2006/main" prst="rect">
            <a:avLst/>
          </a:prstGeom>
        </p:spPr>
      </p:pic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AD770C3-0B71-4FE9-BEA5-D674C0A2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813030"/>
            <a:ext cx="6391656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12700">
            <a:solidFill>
              <a:srgbClr val="FFFEFA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1898BF-E5A5-407E-9CC0-61BAC271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210794"/>
            <a:ext cx="60258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BAI Work · 项目级桌面工作台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68FF8DB-4575-4145-BA61-B1C811C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1627632"/>
            <a:ext cx="9601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73D947B-BAA6-4D71-9FE7-AFFC8276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1636776"/>
            <a:ext cx="8138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演示任务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EFDAEAD-8092-4A81-9C80-6683960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011680"/>
            <a:ext cx="3977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“检查当前项目，持续展示推进过程，并交付可验证结果。”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ECBB807-363C-49FB-8E35-0F757863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907792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C42002-22AA-4DA4-A4F4-6B5495B0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9077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2261FC-3C61-450B-B6CC-8D3EBE2F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880360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选择项目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8AF5E8B-4149-47BE-B73C-73EF00A8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16382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项目、文件与版本状态进入上下文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BA32A6C-975E-4322-B33B-78FD6601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630168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5941762-7FF9-463C-A1CD-8EBDEA0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363016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CDC4183-0C20-4E62-9D52-58B2E07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602736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启动执行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833E221-8C5E-4C29-9E5C-FB60722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3886200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规划、工具动作与等待状态持续可见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FA6B3B7-B8A4-4FDD-B0FE-3FF18DD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352544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97E8F70-F503-46C7-9D29-6CC8CD56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435254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43EBC03-A720-4020-AD06-1240A772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325112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审阅结果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49D575A-7C95-430B-8FC4-13DE1E47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4608576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回答、产物、差异与验证证据分离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9BD4248D-C11A-4BB3-9186-036A5D52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074920"/>
            <a:ext cx="384048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B6EF29A-7932-4765-9E03-D9D710B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B333E5C-9CD0-4F35-92A7-1B556DA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047488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沉淀能力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4A82AB2-EC5D-4D72-89D6-441F074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5330952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规则、技能与记忆进入后续任务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125FD0B-7909-40EE-A0D0-D6CC7E6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现场演示使用当前 Mac Intel x86_64 构建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EF44739-A6B8-4E49-893E-6A1806B9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04 / 19</a:t>
            </a:r>
          </a:p>
        </p:txBody>
      </p:sp>
    </p:spTree>
    <p:extLst>
      <p:ext uri="{BB962C8B-B14F-4D97-AF65-F5344CB8AC3E}">
        <p14:creationId xmlns:p14="http://schemas.microsoft.com/office/powerpoint/2010/main" val="55706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99300C-86AE-4F70-AD9C-CA391C8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PRODUCT COMPLETENESS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88E1C6-B5A4-40CC-8460-8227F474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产品完成度：一个工作面覆盖完整任务生命周期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C25963-7FBD-4AD2-9C88-E730189D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08E391-DEE1-4F63-9C16-9D73341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产品能力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B98B9F-F55A-49E3-AF94-0CB0E8F7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476E0F-067F-4CA9-BF16-1CD36CA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B7B8208-AA12-42DF-8C9B-2619BAE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2CCC4E3-7FE6-48BB-BEB2-7952A91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8013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项目与会话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751D5B0-6401-45EC-9F69-BB0880F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585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Workspace、历史与版本上下文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BB34269-B4FA-409B-A62D-794DF5B7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642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5981DBD-2FA7-4999-A6FC-09E73B57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8288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9519D02-8007-4F1F-BF29-E5304F5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013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模型与服务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224B218-E5D2-402E-B1EA-C66EB3F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2585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BAI 默认与标准兼容协议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3524157-DC4D-46DC-816D-2F8B43D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6642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5DF1468-E03E-4717-BBDF-C20203D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18288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7E0B6A-9ED2-4BE7-A30F-ABA9C025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18013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实时进度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56B90C-05C6-4E8E-9F6C-26A1B6D1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585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步骤、工具摘要与错误恢复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A8DBCD-052E-4033-AEE7-1C07AF27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358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E5436D8-D761-4CC4-B023-3355207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2C13243-52A6-4004-A758-19B984F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729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文件与产物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25AB10-C4A9-40D4-8FB1-C4694D3C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301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引用、预览、差异与文档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5532120-452F-470B-AD80-2656EC85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358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AEECB8-38E1-4EC9-8166-3F18B7C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004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DB23FA4-E845-42E7-846B-3227981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729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长期记忆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628B10-3665-4CAF-8CA0-A632FAF4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6301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用户、工作区与项目作用域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AB041DE-693B-47AB-9541-5269D25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035808"/>
            <a:ext cx="345643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ABB8182-B12D-4783-805E-4E7D301A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00400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3CB5879-F6C3-4DB2-A1DB-FCAFBF7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172968"/>
            <a:ext cx="2651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产品能力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B0F558C-7CDA-4F0C-9885-AB38AAD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30168"/>
            <a:ext cx="312724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EBAI 命令、技能、规则与自动化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B8A8585-B9D9-4FB3-B61B-58CD93D9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7720"/>
            <a:ext cx="10863072" cy="1298448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D102253-CBFC-444A-9801-BCE322B7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28032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3559C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546B718-F756-4DCF-9B76-A26E0CE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03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桌面目标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D9C6042-4F1F-4AD1-A1A1-3277E152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596128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mac-x64 / mac-arm64 / win-x64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23E1786-C6DF-426A-A3F5-64F8B95B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828032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B7A78"/>
                </a:solidFill>
                <a:latin typeface="Aptos Display"/>
                <a:ea typeface="Aptos Display"/>
                <a:cs typeface="Aptos Display"/>
              </a:rPr>
              <a:t>168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629B309-7C25-418F-9524-F1554367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303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测试文件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81E0C6E-52FD-4B60-96F5-A0F21B6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596128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main / runtime / renderer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014FE8E-3233-4B43-B96D-C5E453E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828032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B87B16"/>
                </a:solidFill>
                <a:latin typeface="Aptos Display"/>
                <a:ea typeface="Aptos Display"/>
                <a:cs typeface="Aptos Display"/>
              </a:rPr>
              <a:t>/v1/*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3871453-B103-403B-B6F4-39FE11D5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303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本地服务边界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1E2A995-2E80-4C85-B3E6-DB43AC9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596128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稳定桌面接口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FDEF4CA-C754-4D15-A4D8-878D5D1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4828032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D8644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DBB99B1-E056-4386-8BC4-714FD1A2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5303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EBAI 能力形态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DDED136-E49A-424A-8920-D9378036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5596128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Command · Agent · Skill · Rule · Hook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89E1F3F3-E285-4A1C-B56B-D93D5DD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4828032"/>
            <a:ext cx="1645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39775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C356FED-B506-4E30-90B0-9F8AA10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5303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连续工作流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AF81715-9867-48C6-A14E-4B0780D6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5596128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任务到产物再到复用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1B1F85E5-3BE5-4B66-9449-C5217E7C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当前实现证据：README · runtime adapter · EBAI capability tests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0CBC8996-0E0E-45A7-B4B8-2A5470F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05 / 19</a:t>
            </a:r>
          </a:p>
        </p:txBody>
      </p:sp>
    </p:spTree>
    <p:extLst>
      <p:ext uri="{BB962C8B-B14F-4D97-AF65-F5344CB8AC3E}">
        <p14:creationId xmlns:p14="http://schemas.microsoft.com/office/powerpoint/2010/main" val="1359498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26C1D0-566A-4BE6-8FFE-90080C0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LIGHTWEIGHT RUNTIME 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494106-659F-408C-AAAB-0E4F89C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技术实现：单一 Runtime Host 收敛桌面复杂度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A18C5B-8155-44B1-B4A2-19687B8F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651699-DB77-4CCC-95A4-B19BCCCD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523CE8D-FEF7-4EBD-BADD-DA54C67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C16A0D6-9B17-431C-859B-AB93DDED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38528"/>
            <a:ext cx="1847088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04D8AD-6788-4455-BF88-4479A726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76272"/>
            <a:ext cx="16276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Renderer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1D0CD92-8F43-47CF-89A4-89659D4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70048"/>
            <a:ext cx="15910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工作台 UI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会话 / 设置 / 审阅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636EF2-AC41-417A-842C-D75D760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734056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306E7E-7176-438E-B3FB-D2E3081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938528"/>
            <a:ext cx="1847088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725B45-413D-49CC-B149-F1AADD5E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176272"/>
            <a:ext cx="16276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Preload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DBAFAE-FA65-4C28-80F4-C9B09390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670048"/>
            <a:ext cx="15910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最小 IPC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受控桌面能力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FE781B0-19C7-439C-BC3E-98112F5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734056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810CDD8-5BF7-4E9A-A3FA-FFEBD4C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938528"/>
            <a:ext cx="1847088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DAAB25D-E6DE-4F5B-AB47-6E9BDD5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176272"/>
            <a:ext cx="16276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Main Host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8E404D2-FED1-417F-8788-6EB51DBB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670048"/>
            <a:ext cx="15910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凭据 / 文件 / 生命周期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单一运行时入口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0C7C2D4-B5CC-4A24-8FC5-DD8EB1E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34056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3B2249-BDA8-46F0-9EB9-144DB2B0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938528"/>
            <a:ext cx="1847088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4E7C8"/>
          </a:solidFill>
          <a:ln xmlns:a="http://schemas.openxmlformats.org/drawingml/2006/main" w="12700">
            <a:solidFill>
              <a:srgbClr val="F4E7C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7BE7A58-D796-420D-B2C7-4E8D419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76272"/>
            <a:ext cx="16276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Loopback API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1763FC-E79D-4124-981A-0884A588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670048"/>
            <a:ext cx="15910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稳定 /v1/*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SSE 事件边界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24D44BE-85D5-4E47-8DB9-C471EE4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734056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712D337-C607-49BC-B21A-FCA70AD5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938528"/>
            <a:ext cx="1847088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C7B1D8-C03F-4E9D-8DED-57AFAE2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176272"/>
            <a:ext cx="16276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BAI Code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D3757FA-C29E-4E75-955B-64505BA0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670048"/>
            <a:ext cx="15910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模型调用</a:t>
            </a:r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工具执行 / 上下文压缩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73A9C0D-479A-497E-8C35-A846D1FB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78224"/>
            <a:ext cx="6903720" cy="1298448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C46A94F-B444-4D00-BADA-9A4A008A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15968"/>
            <a:ext cx="932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协议隔离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471A799-09F6-4791-8207-D2B5C99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251960"/>
            <a:ext cx="533095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上游 CLI 与服务契约的变化只进入 Runtime Host；Renderer 始终面对稳定的本地事件模型。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CE71265-AA15-4E37-A200-08C2F67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28032"/>
            <a:ext cx="6263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结果：运行时可替换、桌面流程连续、错误可清洗、测试边界清晰。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6323E90-94CA-485B-AB85-D3C8D38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78224"/>
            <a:ext cx="3703320" cy="1298448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B0C3F57-757F-4010-A211-9634583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315968"/>
            <a:ext cx="30906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轻量拓扑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126C0E6-B042-490C-B494-17B9DA1C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4645152"/>
            <a:ext cx="309067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单进程主机 · 本机回环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项目级状态 · 最短交付路径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D8F734D-150E-4218-A95C-274BBDF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实现证据：runtime host · preload IPC · streaming adapter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955768-150B-4189-A95B-D1C8839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06 / 19</a:t>
            </a:r>
          </a:p>
        </p:txBody>
      </p:sp>
    </p:spTree>
    <p:extLst>
      <p:ext uri="{BB962C8B-B14F-4D97-AF65-F5344CB8AC3E}">
        <p14:creationId xmlns:p14="http://schemas.microsoft.com/office/powerpoint/2010/main" val="1727577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07CDB8-218A-4293-8721-8C094FF1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RUNTIME DESIGN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6DBE9F7-85E2-4E99-A76A-41053B77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架构选择：把复杂度收敛到项目级 Runtime Host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B537B5-D493-4876-A5E5-CF8B72C9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DAE4D8-DD0F-40CF-89CB-8B212D6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架构优势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85A062E-C9DF-4EBE-A680-EFF821E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DF70A7-B127-44F1-9141-EAC0E2FD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517904"/>
            <a:ext cx="10149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系统复杂度集中处理，交付证据持续回到当前项目。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7810ED-86C4-4985-B06E-99B307CA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29968"/>
            <a:ext cx="5230368" cy="3493008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18E3965-C42D-43F2-B3B4-20463877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28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27313A"/>
                </a:solidFill>
                <a:latin typeface="Aptos Display"/>
                <a:ea typeface="Aptos Display"/>
                <a:cs typeface="Aptos Display"/>
              </a:rPr>
              <a:t>控制边界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1F5A723-CA8B-44A3-99A0-0C3D9DB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72" y="231343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59CBB7-EA48-4792-BD0C-DA4B76A8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224" y="2322576"/>
            <a:ext cx="1335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Runtime Host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CCA5D29-A9E2-4437-807A-A2C62F01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08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845589D-8179-477F-9F81-9F9B9F2F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5292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凭据、协议、文件访问和生命周期集中在主进程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4CF5106-171A-4398-8C7A-628C0083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872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D5406B-B5CC-4D29-9CD4-4CC5E06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0156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上游变化只进入适配层，不扩散到工作台界面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DA12351-36FB-43E5-B9E3-92B8BDC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736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4FAC12-9BC6-46A7-8C3D-E3E565F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5020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本机回环服务与稳定 /v1/* 构成清晰边界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3512633-4D9F-4428-806F-04071EED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600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421E83B-2E48-4D10-8F1C-480EB0D5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49884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错误清洗、重试和事件归一化共享同一入口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BF3B15-01ED-40B9-A5AE-831E3D68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029968"/>
            <a:ext cx="5230368" cy="3493008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3A7AE2-A6BA-49A6-9E48-5E1DDC5D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286000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00" b="1">
                <a:solidFill>
                  <a:srgbClr val="2B7A78"/>
                </a:solidFill>
                <a:latin typeface="Aptos Display"/>
                <a:ea typeface="Aptos Display"/>
                <a:cs typeface="Aptos Display"/>
              </a:rPr>
              <a:t>交付数据面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F3DE3DE-2C0E-433F-8C54-4069ACB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1343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418C128-3874-4735-970E-748862C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322576"/>
            <a:ext cx="1335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Workspace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DA44728-00FC-4126-9BE0-F48447B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99008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4D06A4-9284-45AA-9757-84AAFB4A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285292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上下文、任务状态、权限与记忆围绕项目收敛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CDC4D8F-16DD-42AB-B289-FA19C76B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53872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8280C74-BDB6-405C-9597-398D567C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40156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工具动作、等待、错误与完成进入统一时间线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9E325F2-1937-4A4F-B863-1E8B0A72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8736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B4C19B-C030-4016-8C99-FA353EF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95020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回答、文件、差异、截图与报告分区呈现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7647AF1-9570-4F30-830B-7677125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63600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9E9B0C5-706F-41B2-AF9B-3727893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498848"/>
            <a:ext cx="4343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文件、测试、构建和运行证据共同完成验收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1E04479-CADC-43C4-ABB1-ABE62AA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9008"/>
            <a:ext cx="9902952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55E3D7-552C-4B65-8822-8E8F5BFE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852160"/>
            <a:ext cx="9482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Workspace Context → Runtime Host → Event Stream → Deliverables → Verification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C78B83C-CE40-4C64-B84B-7CE9A4F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实现依据：runtime host · streaming adapter · project-scoped state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1A7AEFA-1E72-4458-9334-0B5FE855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07 / 19</a:t>
            </a:r>
          </a:p>
        </p:txBody>
      </p:sp>
    </p:spTree>
    <p:extLst>
      <p:ext uri="{BB962C8B-B14F-4D97-AF65-F5344CB8AC3E}">
        <p14:creationId xmlns:p14="http://schemas.microsoft.com/office/powerpoint/2010/main" val="1568147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7AEB74-45B9-4A7C-B2B5-EFCE5D3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RUNTIME OBSERVABILITY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DB2913-BC7B-480D-9494-4B3EBBEF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可观测执行：把长任务转换为确定性状态机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F21A9B-11D8-4E40-A3D7-12FED7D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5FFB915-F959-45C9-92D3-0894D02D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过程体验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B56A5A-3E43-4F30-9031-B66B8953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6F4723-FD9F-43C6-964A-608A8DD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F29071-BBF2-45FB-A84B-5777FB53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AFB98B5-262A-4496-A862-85FE94F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目标与约束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94DB396-4CAB-4190-89DA-E7CC9F71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2304288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29E751-C01F-4CA8-BD07-DBAAFC6C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A20396-370E-4FDB-99FA-447293E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事件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C41E25-5F7B-4871-AA52-BAF804F4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流式运行时输出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3457E2-3286-4A92-B357-FFC8158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2304288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04F4F24-7632-4675-A2C1-AF355D2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6B6B15-E8D4-45F1-968D-B41E37E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归一化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5D28E80-206C-4727-809F-E2F09F0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去重 / 分类 / 清洗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3DE6493-3A3F-4E5D-B079-51F09CB5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2304288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410B3BD-3D71-4D70-937A-81A3B317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81ECB1F-8176-4688-AD0F-22A22E6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时间线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4D3199A-47BD-4D63-BEF7-B51CACF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步骤 / 工具 / 等待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1291A03-65B0-4FB5-A312-A65B5F9C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304288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57BEF5F-2B9C-4F97-A8E6-597503F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8620-D933-406E-AFAD-B9F4F20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9C607E-D4B3-4C45-A3DC-9D6FFB8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摘要 / 产物 / 验证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3703099-FF6C-4C52-941E-F25B9B6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4288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C2DD9D1-31AA-4503-ADF7-4519F7F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1773936"/>
            <a:ext cx="158191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E8FF790-FAD5-4696-9D8B-D325ED50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975104"/>
            <a:ext cx="136245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用量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8010271-0716-4E78-99F8-14ADA848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2377440"/>
            <a:ext cx="13624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可得则展示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211E6A-CC9A-470B-8E68-B0C6134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0128"/>
            <a:ext cx="1325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A44747"/>
                </a:solidFill>
                <a:latin typeface="PingFang SC"/>
                <a:ea typeface="PingFang SC"/>
                <a:cs typeface="PingFang SC"/>
              </a:rPr>
              <a:t>原始输出问题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654C241-AE6B-41AD-887C-9EE4045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39312"/>
            <a:ext cx="52120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1DEDE"/>
          </a:solidFill>
          <a:ln xmlns:a="http://schemas.openxmlformats.org/drawingml/2006/main" w="12700">
            <a:solidFill>
              <a:srgbClr val="F1DEDE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8F02959-C1EC-45C1-8700-30AD5A41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13632"/>
            <a:ext cx="4663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A44747"/>
                </a:solidFill>
                <a:latin typeface="PingFang SC"/>
                <a:ea typeface="PingFang SC"/>
                <a:cs typeface="PingFang SC"/>
              </a:rPr>
              <a:t>工具语法与状态句混排</a:t>
            </a:r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A44747"/>
                </a:solidFill>
                <a:latin typeface="PingFang SC"/>
                <a:ea typeface="PingFang SC"/>
                <a:cs typeface="PingFang SC"/>
              </a:rPr>
              <a:t>连接错误堆栈污染聊天</a:t>
            </a:r>
          </a:p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A44747"/>
                </a:solidFill>
                <a:latin typeface="PingFang SC"/>
                <a:ea typeface="PingFang SC"/>
                <a:cs typeface="PingFang SC"/>
              </a:rPr>
              <a:t>长时间无反馈，最终整段堆积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CD8F50-C786-4A53-B7B2-21A78C85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1012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BAI Work 呈现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F77BFEA-CC5D-4D07-B488-CEF2FF28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39312"/>
            <a:ext cx="52120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BF94933-589D-40DF-B21E-168DE46B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913632"/>
            <a:ext cx="4663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正在检查工作区 → 已运行 6 条命令</a:t>
            </a:r>
          </a:p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连接中断：可重试并保留有效上下文</a:t>
            </a:r>
          </a:p>
          <a:p xmlns:a="http://schemas.openxmlformats.org/drawingml/2006/main">
            <a:pPr marL="0" indent="0" algn="l">
              <a:buNone/>
            </a:pPr>
            <a:r>
              <a:rPr sz="145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完成后只留下结论、产物与验证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96F5FF0-AB43-410B-8B18-478F565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5532120"/>
            <a:ext cx="8119872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2F7C0F7-568E-44E2-8FB2-827C0C54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5614416"/>
            <a:ext cx="7680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只展示可验证状态，不暴露模型内部推理；Telemetry 缺失时显示不可用，不伪造零值。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169A671-6310-4685-8D9C-28659EF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实现证据：stream normalization · progress timeline · failure sanitization tests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C4739F6-4003-4D6A-BB7F-15B6E8A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08 / 19</a:t>
            </a:r>
          </a:p>
        </p:txBody>
      </p:sp>
    </p:spTree>
    <p:extLst>
      <p:ext uri="{BB962C8B-B14F-4D97-AF65-F5344CB8AC3E}">
        <p14:creationId xmlns:p14="http://schemas.microsoft.com/office/powerpoint/2010/main" val="11982346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3AB93F-2A6B-42D8-B44A-7870148E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CONTEXT BUDGET CONTROL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9045E5-61FA-4C7E-9EEF-7F94EF7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Token Economy：先建立可配置预算，再谈节省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149471-818D-443E-AF16-F9F7E0E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849C4E4-8DFF-464D-83C3-E39718F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上下文控制面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7F4A930-7DEC-4B3E-A1A2-303F2984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DBAFAD2-9E47-4CE6-9ADA-1A3FF56C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3977640" cy="2084832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C1B322-D5FE-4000-8375-EE76B42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38528"/>
            <a:ext cx="3429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2BE73"/>
                </a:solidFill>
                <a:latin typeface="PingFang SC"/>
                <a:ea typeface="PingFang SC"/>
                <a:cs typeface="PingFang SC"/>
              </a:rPr>
              <a:t>请求预算 ≠ 删除聊天记录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0E8E59-E5E3-46B8-87BF-7578CAB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05456"/>
            <a:ext cx="3429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本次请求受限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BA627E-BB08-4557-B23E-A722DA25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27248"/>
            <a:ext cx="3429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C8D1D8"/>
                </a:solidFill>
                <a:latin typeface="Aptos"/>
                <a:ea typeface="Aptos"/>
                <a:cs typeface="Aptos"/>
              </a:rPr>
              <a:t>原始历史保留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DC961D-D0F7-47C0-BB64-F2F2A2A9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1664208"/>
            <a:ext cx="6565392" cy="2084832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710C2B3-A44B-4066-8249-8EB5D04B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938528"/>
            <a:ext cx="60167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History Hygiene 默认预算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3E0A27E-D661-41DD-AF5B-40CE361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542032"/>
            <a:ext cx="153619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A782F4-5862-437D-8C13-80126A12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51176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320 行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02CD3D8-9BD7-44C3-B30C-9A805793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999232"/>
            <a:ext cx="1536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单次工具结果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73C8E57-08B4-4380-B940-9C0F073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42032"/>
            <a:ext cx="153619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D9FD01-B2E2-4960-93A0-658B6D42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551176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 KiB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C1D964-7F87-4237-9F75-A6562E1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99232"/>
            <a:ext cx="1536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结果字节预算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C20736E-B023-4EF0-9F34-1F51DFB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53619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D35FBA5-27EA-4601-AF04-0434C2A0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551176"/>
            <a:ext cx="13898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8K tokens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1736FE1-7998-43A1-A63B-578523B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99232"/>
            <a:ext cx="1536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结果 Token 预算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1A6C722-6F30-460F-AEA3-C2C4CFA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63072" cy="1353312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4E7C8"/>
          </a:solidFill>
          <a:ln xmlns:a="http://schemas.openxmlformats.org/drawingml/2006/main" w="12700">
            <a:solidFill>
              <a:srgbClr val="F4E7C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CE0893-4778-4097-B4C3-081A56F6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25696"/>
            <a:ext cx="1051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87B16"/>
                </a:solidFill>
                <a:latin typeface="PingFang SC"/>
                <a:ea typeface="PingFang SC"/>
                <a:cs typeface="PingFang SC"/>
              </a:rPr>
              <a:t>控制契约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85FB6F6-9C02-4E3E-A4D5-6493E80A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489704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C3D2BB3-606B-4DBC-98B2-EAEB5F0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352544"/>
            <a:ext cx="8823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工具参数字符串默认 8 KiB / 2K tokens，数组默认最多 80 项。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56361A2-697C-41E9-A2DC-8080C304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873752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7CCE8C2-0CDC-460D-B231-7FD46C9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736592"/>
            <a:ext cx="8823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共享类型、IPC schema 与 normalizer 共同限制非法或失控配置。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32DBF9D-9605-4D12-B357-6B65A9E1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5780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89424D0-F181-45D6-8EC0-564098E1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120640"/>
            <a:ext cx="8823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设置层保留压缩工具描述、工具结果和简洁回答的独立开关。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A60DF08-38E3-4406-8643-18416798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852160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遥测不可用时明确显示 unavailable，不把缺失数据包装成“节省 0%”。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9583678-B638-4A77-A345-9C220161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实现证据：app settings · IPC schema · normalizer · usage telemetry guards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F216925-C80D-446D-A898-D8E4E0E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09 / 19</a:t>
            </a:r>
          </a:p>
        </p:txBody>
      </p:sp>
    </p:spTree>
    <p:extLst>
      <p:ext uri="{BB962C8B-B14F-4D97-AF65-F5344CB8AC3E}">
        <p14:creationId xmlns:p14="http://schemas.microsoft.com/office/powerpoint/2010/main" val="3109568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C36DD9-70FD-43F7-A29E-8AC3F90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CONTEXT GOVERNANCE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D3B8B8-63F5-4C7F-804F-00D4373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双层上下文治理：历史卫生 + 压缩配置契约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0EA43E-66E0-4693-8F72-5EB1C514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3520A45-151D-47FE-8525-1513E25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控制参数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370B399-F4EC-4D3D-98D7-B91C637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4EE178-30C6-4319-8D0A-617EE26C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1086307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3F19EE-D002-41B7-A514-D69F403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10512"/>
            <a:ext cx="5669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FED68B-29E4-4B89-92C8-3F0BD9EE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19656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5DB239-D8C6-4590-835C-E0D5B12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1792224"/>
            <a:ext cx="3291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History Hygiene / 工具结果预算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BC2F33-900D-4920-A2D7-5AB119C1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22199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默认：320 行 · 32 KiB · 8K tokens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838AD1C-AF01-4F1E-8E27-36B33530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92224"/>
            <a:ext cx="3749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定义工具结果上限；原始聊天记录保持不变。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53293D-6D62-495D-8FE0-30F91DCF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6232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控制输入放大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653DBAF-F6FD-4E5D-86E5-5E5A753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17520"/>
            <a:ext cx="1086307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E7C8"/>
          </a:solidFill>
          <a:ln xmlns:a="http://schemas.openxmlformats.org/drawingml/2006/main" w="12700">
            <a:solidFill>
              <a:srgbClr val="F4E7C8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B0DB20A-E429-4A2E-9751-F918B02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00400"/>
            <a:ext cx="5669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F82C233-61BF-4256-B772-1B5C356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209544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28E833-73F3-43AB-A462-11F76EE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182112"/>
            <a:ext cx="3291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Tool Argument Guard / 工具参数预算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41FE704-D15E-4895-A3F9-32882A0D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611880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默认：8 KiB · 2K tokens · 80 项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ACC8B1-4953-4E81-93AD-AAF52739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182112"/>
            <a:ext cx="3749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约束长字符串与数组展开；输入边界由 schema 和 normalizer 校验。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8FC643-E3A2-4F55-ABAC-589FCE1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4612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B87B16"/>
                </a:solidFill>
                <a:latin typeface="PingFang SC"/>
                <a:ea typeface="PingFang SC"/>
                <a:cs typeface="PingFang SC"/>
              </a:rPr>
              <a:t>降低结构冗余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7239371-4A4D-47CA-9970-EE69116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07408"/>
            <a:ext cx="10863072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2C376CC-353B-43C3-8B64-1F821BC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590288"/>
            <a:ext cx="5669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C845A3-6B38-4A9F-BF88-4B90356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599432"/>
            <a:ext cx="420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D61FD3A-8E54-4F10-B286-5461957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572000"/>
            <a:ext cx="3291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Context Compaction / 摘要配置契约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0E59A3F-3051-49D6-9532-BDA50C3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5001768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默认：软阈值 16K · 硬阈值 24K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80FEC5A-681C-4DD5-9DE8-1C2FA2E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572000"/>
            <a:ext cx="3749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启发式摘要；15 秒超时；摘要上限 1,200 tokens；输入 96 KiB。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8588CD-A7B7-49E3-8F20-174AB93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6008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为运行时留出空间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1FD3557-CC6A-409F-A8DE-761EE975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70448"/>
            <a:ext cx="1086307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D6B0ADC-5A46-43A6-BAEF-10064DFB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925312"/>
            <a:ext cx="10378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证据边界：这是可配置控制面与压缩配置契约；实际节省量只在后端提供遥测时展示。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22CA0FC-629C-4B60-A5A2-E022B0D6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实现证据：history hygiene defaults · compaction settings · validation bounds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95D9D56-4FF9-4B9F-AEDA-D94496B3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10 / 19</a:t>
            </a:r>
          </a:p>
        </p:txBody>
      </p:sp>
    </p:spTree>
    <p:extLst>
      <p:ext uri="{BB962C8B-B14F-4D97-AF65-F5344CB8AC3E}">
        <p14:creationId xmlns:p14="http://schemas.microsoft.com/office/powerpoint/2010/main" val="765543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7D26F-AAE4-4193-9EF2-6364E81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EBAI PRODUCT CAPABILITY SYSTEM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08D653-7558-4904-8529-7EE1DDA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EBAI：BAI Work 面向用户的能力体系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63D5EE-17DE-4B71-9588-08FD639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610A46-ED23-4736-8CF6-96526B61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产品能力层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79171E4-593B-45A3-A18B-77F817AE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7E59345-B667-4F2F-BBD1-2566F4BD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812BAC-63F7-4F08-A4EA-A376C3F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EBAI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ADC8B7-EFC6-4336-9D51-59EDF1AE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能力随应用呈现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统一产品身份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AF5495D-5594-4F16-917E-E5E174C0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1DEDE"/>
          </a:solidFill>
          <a:ln xmlns:a="http://schemas.openxmlformats.org/drawingml/2006/main" w="12700">
            <a:solidFill>
              <a:srgbClr val="F1DED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7DAA4B-198D-4D4A-BC2B-1F75C86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A44747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63A529-1112-451C-8A24-511251E8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项目命令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运行时可加载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1E47CC3-6A1B-4D6D-95BA-F1EF5B5E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92CF63D-5932-42CD-BC4C-CBDCB24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B0C3208-BD9F-431A-ADD1-6EC97D6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专业角色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以命令工作流接入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CB99CD-9AF4-4FB8-A6A7-C452F65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EA6F4B9-93F8-4EF6-9194-6E9B98A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Skills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9E96E5-79BC-4985-A1E5-A66E1E8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任务方法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运行时可加载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E2474F-2331-414A-AB51-E708687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4E7C8"/>
          </a:solidFill>
          <a:ln xmlns:a="http://schemas.openxmlformats.org/drawingml/2006/main" w="12700">
            <a:solidFill>
              <a:srgbClr val="F4E7C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BE008F3-5511-4DCB-BC9B-52E7BC5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9DC7A5A-7D23-4CF2-8F07-CBA55DE7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行为约束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以 Skill 指令接入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F98FB27-FB4B-488E-8A88-AD25B88B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10512"/>
            <a:ext cx="1554480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766CA3E-92E8-4848-8FA5-28175F7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2029968"/>
            <a:ext cx="1371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Hooks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D9CD7A2-0A7D-4D73-AA2E-D6F4344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542032"/>
            <a:ext cx="13350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自动化契约</a:t>
            </a:r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Manifest 已生成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5BFF5F5-F613-4694-8FDF-549B0E9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521208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1B16258-081F-49C5-9E44-5F9999E1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5993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617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用户可用能力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F256A0F-5A26-4AD3-8C3C-8B4DC033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123944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56C0C8A-CB35-420D-BED1-F64FE5EF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86784"/>
            <a:ext cx="34747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命令、技能与规则进入任务上下文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7555F8E-73C1-4A89-AAFB-9ED880F3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517136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70673AC-3B3F-4CF8-A119-934350FE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79976"/>
            <a:ext cx="34747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Agent 以专业命令工作流对用户呈现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976B84DA-E0FA-4B2F-A02A-4C68A3C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91032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DB48993-908F-493C-9430-8043DF9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73168"/>
            <a:ext cx="34747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Hooks 保留能力定义，执行契约待 Runtime 支持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439FFEE-A160-43AC-9CBE-FF3EC55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794760"/>
            <a:ext cx="5376672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646EB49-3A90-43E9-B641-6C2EE14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05993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05390AF-76AC-4639-950B-B6158AA9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950208"/>
            <a:ext cx="358444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Commands · Skills：安装后可加载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Agents：命令化接入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Rules：Skill 化接入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Hooks：默认关闭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62E1AAA-F77D-4AEA-83FB-572937ED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97296"/>
            <a:ext cx="9966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这些能力就是 BAI Work 的产品能力；来源与安装只属于内部交付方式。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DA3870D-710B-474B-ACBE-A15BDA2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实现证据：runtime instruction loader · component install tests · hook manifest guard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45A97C9-2026-4C18-954C-988D81D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11 / 19</a:t>
            </a:r>
          </a:p>
        </p:txBody>
      </p:sp>
    </p:spTree>
    <p:extLst>
      <p:ext uri="{BB962C8B-B14F-4D97-AF65-F5344CB8AC3E}">
        <p14:creationId xmlns:p14="http://schemas.microsoft.com/office/powerpoint/2010/main" val="1478626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55E671-2A0C-46EE-8833-6F7B2C57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HOOK CAPABILITY BOUNDARY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E036EF-5AE5-4634-A718-A516BB4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EBAI Hooks：能力已纳入产品体系，执行仍服从 Runtime 契约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52C32A-6A71-4896-87E5-AD85AEA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1AA8A41-E93B-45CD-B77F-B9C285D0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能力边界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FD0D90-B30D-4543-8F1D-7087498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72E8CAA-4980-4164-94DD-898F0DDC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4983480" cy="4315968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B18F58-6262-4C44-A2A5-6A908F94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B87B16"/>
                </a:solidFill>
                <a:latin typeface="PingFang SC"/>
                <a:ea typeface="PingFang SC"/>
                <a:cs typeface="PingFang SC"/>
              </a:rPr>
              <a:t>Hook 能力模型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E41B964-C984-4682-A3CA-C67B9DD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957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消息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6F52FAD-B531-4E7E-A02D-05137561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5237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0E7144-9563-4E84-B4A4-771384A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3957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message_submit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A6AF15-3B10-49B8-A2E9-EDD49688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529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会话开始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A7F111-8A5F-4B0A-9CD3-9A02C71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9809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363AFE2-3351-4F32-BBC0-E7DE4E66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28529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session_start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4770A6-21BC-4F1E-A8E4-5D75FB8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101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工具调用前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50737C5-AC11-4F92-AFA1-63B8523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4381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9AF2684-F604-484A-ACF7-7970552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3101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tool_call_before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28EBAA1-7615-497D-8A0A-9E5B9D14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673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工具调用后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18C9077-939C-438B-85E1-C8B9364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8953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44DC8C3-D06E-4154-A6D1-CAFEB5AE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37673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tool_call_after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24DEBDD-E973-4249-9032-44516B9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245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轮次结束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69F3E4F-45D7-4C36-BD94-07FEFB0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3525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769D786-4AF7-4BAB-B593-6F7326F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2245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turn_end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8D41A0B-B1D9-4E8F-BBF7-EAF41322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81728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会话结束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0802F11-F248-4871-A002-B7B436F5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809744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821D3F3-9145-4744-9621-1D48DC4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681728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session_end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B8C839F-87A8-4120-BF00-3B81FB95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1627632"/>
            <a:ext cx="5559552" cy="4315968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4A9DB0B-9867-4E54-94BF-D26F974B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874520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F2BE73"/>
                </a:solidFill>
                <a:latin typeface="PingFang SC"/>
                <a:ea typeface="PingFang SC"/>
                <a:cs typeface="PingFang SC"/>
              </a:rPr>
              <a:t>当前交付状态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7D91A4B-0996-47B2-B310-7F62F56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2432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A8019D6-4BB0-48D7-89EF-FFC12826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871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生成的全局 manifest 始终 enabled = false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4A21D47-12A7-4022-8C34-2FB27DF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2724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A33FF8B-1D0C-41BA-9770-241ADBA7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9008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当前设置页 Hook 开关保持禁用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AACBFDC-C96F-418A-B4B0-60FA5300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3016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0952993-48FA-492B-AC0E-A68103A6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9300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BAI Code 0.9.1 尚无 Hook 执行契约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DAA3C68-6CCF-4C37-A458-E1D42FC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3308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AE48855-5D47-4A1A-8725-F33D808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9592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只有显式工作区才允许生成项目配置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E80F553-F8D3-45B2-A8E2-CF72DF7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63600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79E6DAE-99D7-4CC7-BD34-E1266B03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9884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不安全路径与符号链接会被拒绝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102DB87-F75D-4E93-8B75-486942D9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3892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E4C2260-3761-4C15-B5C6-DB0AC498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001768"/>
            <a:ext cx="4526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未支持事件被记录，不伪装为已执行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204D7BE-9FC2-4264-973D-5237EC0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468112"/>
            <a:ext cx="12344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44747"/>
          </a:solidFill>
          <a:ln xmlns:a="http://schemas.openxmlformats.org/drawingml/2006/main" w="12700">
            <a:solidFill>
              <a:srgbClr val="A44747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902FA63-AB39-4DD8-8903-33233A4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477256"/>
            <a:ext cx="10881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能力已建模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DC47184-4DAC-4C0E-932C-EC45CDDE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468112"/>
            <a:ext cx="1353312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D136E75-A4D8-462E-8907-0A43E33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77256"/>
            <a:ext cx="12070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执行未开放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7609550-0A40-4E1A-8EDD-2E55CEC6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5468112"/>
            <a:ext cx="12344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0E91B5E-62FC-445B-A7C4-080F8BEA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477256"/>
            <a:ext cx="10881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边界可验证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A63048A-8228-4289-81E4-98788E4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交付原则：产品能力与当前可执行状态分开陈述；未开放能力不冒充为已生效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DB44749-DA43-4D84-AB7D-7686DEB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12 / 19</a:t>
            </a:r>
          </a:p>
        </p:txBody>
      </p:sp>
    </p:spTree>
    <p:extLst>
      <p:ext uri="{BB962C8B-B14F-4D97-AF65-F5344CB8AC3E}">
        <p14:creationId xmlns:p14="http://schemas.microsoft.com/office/powerpoint/2010/main" val="824127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D90BA5-F07D-4CD6-8D29-68B4CC33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AGENT EXECUTION LOOP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02D375-1963-4A0C-8B1D-9D01AFF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AI 深度：上下文、工具、产物与验证构成闭环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4190EA-4945-470C-AA91-23D160D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5C0F3D-DD97-4212-B326-3FE4D646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 系统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219EF3-C968-4BD6-8E71-ACC646A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7100A7A-68F3-4074-AFED-47CD277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00200"/>
            <a:ext cx="6748272" cy="4462272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013E7DA-907C-4C02-908B-BB08594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993392"/>
            <a:ext cx="23317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D7F596-236F-4B9A-97FF-5A7B6D82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139696"/>
            <a:ext cx="6583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C72D1F-F6BD-4996-9E49-DD944DF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51460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Workspace · 文件 · 版本 · 记忆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412F23-EC1C-453E-9AED-515330F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3392"/>
            <a:ext cx="23317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80007D-A980-4F49-9FD8-A9A8446B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39696"/>
            <a:ext cx="6583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CD4C483-62CE-44B8-A420-8748516C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51460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目标拆解与约束解析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4B12B0E-6DE4-4867-8C8E-EC60B06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05072"/>
            <a:ext cx="23317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DAF98F0-9992-4FE7-8A80-87D2FBC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151376"/>
            <a:ext cx="6583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7F40CE6-7C30-44F8-B59B-0F2337D9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52628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命令 · 文件 · 检索 · 技能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DAE5F1A-600B-4451-B916-195EA42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05072"/>
            <a:ext cx="2331720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7CF791-DD5A-436D-9C1A-A8602E5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4151376"/>
            <a:ext cx="6583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1EF887E-6035-4552-AF1D-68690822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4526280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代码 · 文档 · 图表 · 差异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6FB2988-AB74-412E-AF5E-9BE0CA1E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468880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19AA37-790D-4295-A81C-95F98B05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2962656"/>
            <a:ext cx="0" cy="932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52EF7F6-6A68-4D12-B74F-3D4AA71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11880" y="4480560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4A9BC3-F7B1-4021-971E-BCB8F11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95728" y="3035808"/>
            <a:ext cx="0" cy="896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0124E97-86E3-4844-A548-6DE4834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45536"/>
            <a:ext cx="260604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6D2CD41-8A37-4619-A3CD-1CA0005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3236976"/>
            <a:ext cx="2350008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验证门：结果一致 · 文件存在 · 测试/运行证据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30301D6-CB1F-4761-8EA9-27EF5D8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600200"/>
            <a:ext cx="3794760" cy="4462272"/>
          </a:xfrm>
          <a:prstGeom xmlns:a="http://schemas.openxmlformats.org/drawingml/2006/main" prst="roundRect">
            <a:avLst>
              <a:gd name="adj" fmla="val 1928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C0E105F-D630-4D8C-9655-20AC2E6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920240"/>
            <a:ext cx="31821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系统级 AI 应用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B05481E-68EE-4D9E-ADCB-5D63E02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9748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A5FA55B-98D7-4F9C-BA25-1BD9BBB6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56032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多轮上下文与自动压缩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E26FA74-97D3-42C0-825D-FCB24AF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0040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360E698-F34A-4211-AB83-C083B1D7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6324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基于事件流的工具执行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30AA399-1FA7-4BFF-9D2F-73B7CF7D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0332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A4096BC-F439-4102-A1E3-E3CEFF4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56616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项目级权限与工作区边界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33CC118-2438-4830-A2AF-F64DB03F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20624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F3AC5C4-F5A0-42C4-90D9-0DF4C3E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6908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产物生成后的验证与摘要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AC98C1D-84C2-4AE6-A2AE-2D16322E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70916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BCB88E8-8CC2-41E4-B8E8-EA12DDE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7200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长期记忆与能力复用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420CFE8-C4F3-4EE4-A9C2-3DF91A0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21208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709B2B0-3931-4060-8F21-6BED28A9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74920"/>
            <a:ext cx="2606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DDE4E9"/>
                </a:solidFill>
                <a:latin typeface="PingFang SC"/>
                <a:ea typeface="PingFang SC"/>
                <a:cs typeface="PingFang SC"/>
              </a:rPr>
              <a:t>可选的签名与发布溯源方向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9B8C010-CF12-4DC7-9764-CDE28717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AI 的价值通过任务闭环证明；生态溯源作为未来方向，不包装为当前能力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CDD43E6-4F5D-4583-8BC2-6B489E48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13 / 19</a:t>
            </a:r>
          </a:p>
        </p:txBody>
      </p:sp>
    </p:spTree>
    <p:extLst>
      <p:ext uri="{BB962C8B-B14F-4D97-AF65-F5344CB8AC3E}">
        <p14:creationId xmlns:p14="http://schemas.microsoft.com/office/powerpoint/2010/main" val="18754835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FC029E-E509-4BD1-A951-FB0B683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BAI WORK EVIDENCE CHAIN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6E854D-3DB9-4C44-80A2-F8414AA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交付闭环：从输入到验收，每一步都有工程证据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0A035E-8BB4-477D-9CD8-E444A62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2C0658-B5BC-4597-9B13-536EF82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综合证据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C7DCE7E-03C1-4718-8E97-AC9247D0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9944924-A789-4D57-93EB-C3C60DE4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2029968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64577A-3558-4399-AAD8-F98B0346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55648"/>
            <a:ext cx="1847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交付阶段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DD58CB-20C4-461F-BCFA-4769691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8336" y="1664208"/>
            <a:ext cx="29260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E8D07C0-45A4-430A-9489-7E8438F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17556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用户价值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B788CD8-0886-45D3-A0F7-51601B0A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64208"/>
            <a:ext cx="274320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30A2DE2-4CD0-4B01-85EB-690AA5A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755648"/>
            <a:ext cx="25603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系统机制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C481574-B66A-47B0-A25E-A5A27DB3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1664208"/>
            <a:ext cx="3072384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D2875C-AA75-4762-8A70-495FB28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1755648"/>
            <a:ext cx="28895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可验证证据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20AD91-8AA3-4D34-B8A0-B70A8F2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304288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4FCF51C-35B5-4609-BE9D-25F67DFF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配置进入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81312DF-BB86-4FA5-8E63-CD576CA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395728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完成服务与模型就绪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7523382-EB61-45DB-9FE2-8E2C058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2395728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凭据隔离 · 探测 · 能力发现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B2F98A-E152-45AE-AA6A-FF82717D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395728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连接与模型发现测试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84B1491-0335-4EAC-947B-42D3BB00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9504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769235-FC48-4340-AD7C-9F94F09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0944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任务执行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B837D59-D681-4D5B-B13A-C89C0A4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980944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项目内发起并持续看见推进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DF6CE7A-EF02-48AB-937B-3DA37C9B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2980944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Runtime Host · SSE 归一化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DF9FE69-9025-466D-9973-CFB0FF3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980944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适配器与流式事件测试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05BD376-1781-44A6-942E-8E9A451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74720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58BD0E1-D23B-472F-8BE8-74D27FA7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上下文经济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8944C67-1518-40A6-A313-674142E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566160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请求预算与摘要边界可配置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DE67489-C417-45DB-B90F-47A9D28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3566160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历史卫生 · 压缩配置契约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9335759-ED2F-486D-8A53-620F5C0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566160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默认值与输入边界测试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04D54CF-C28C-4BB2-A14B-C7291F4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59936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A40CE27-300A-4C56-864F-9584AB8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能力体系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5E5FC24-14AD-4141-92BD-610FDED1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4151376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五类能力归入 BAI Work 产品体验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55DE577-1504-48C7-BABA-B3616AA8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151376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47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命令/技能加载 · Rule 指令 · Hook manifest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1E1ED56-5266-4C49-9EFC-6A3323D6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151376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加载与 manifest 安全测试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7A5771B-6E85-4920-9A62-E41DE31B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45152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8BF9817-0E4D-41E8-A3E1-4256296B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36592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产物交付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B864E27-115A-45C2-A6A3-BA6896C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4736592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回答、文件、差异与摘要分区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55BD952C-6608-487C-8F5E-6BA9E490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4736592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结果区与项目文件联动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BD17F18-F37A-4A00-B010-D1AFBA3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736592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文件存在性与差异证据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C356EAE-26A9-4DE3-B664-897763DC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30368"/>
            <a:ext cx="10863072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3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F996559-C55C-4CE3-9A20-F6FBCC26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21808"/>
            <a:ext cx="170078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工程验收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F13D9F43-A02C-49E1-9464-5C19F12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321808"/>
            <a:ext cx="26334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从代码验证到桌面包体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C6121A1-BF7F-4D71-840F-86B6C92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321808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类型检查 · 测试 · 构建 · 打包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A1F64E1-4327-4721-8177-79E41256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5321808"/>
            <a:ext cx="27249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自动化测试与运行 smoke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91BCBF63-2F65-4C0A-9A5F-0BD10020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961888"/>
            <a:ext cx="10168128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14E580D-2FBB-476F-BC34-D7C78CA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6007608"/>
            <a:ext cx="976579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上手、执行、上下文、安全、交付、验收——每个价值点都能回到实现与现场证据。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9E20D65D-B3DB-4817-84E0-7BB5518C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证据来源：BAI Work 当前代码 · 自动化测试 · 构建与运行结果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CA8CEFC3-E078-4C27-9276-6B00FCBE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14 / 19</a:t>
            </a:r>
          </a:p>
        </p:txBody>
      </p:sp>
    </p:spTree>
    <p:extLst>
      <p:ext uri="{BB962C8B-B14F-4D97-AF65-F5344CB8AC3E}">
        <p14:creationId xmlns:p14="http://schemas.microsoft.com/office/powerpoint/2010/main" val="3504037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1B1D186-30A8-4796-84D2-988BA94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UPSTREAM CONTRIBUTION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F4AFDD-86FA-4C63-8C87-F528025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把 Agent 可靠性写进上游，也写进 BAI Work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DB9D719-C01A-43E2-B4F5-677868A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422D15-C540-43C4-A66C-FACC31C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技术背书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2D7BF5-7FA6-4E77-87FE-C58866A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06D1F1-AB20-4024-B736-46A9E15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2450592" cy="1536192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AB6D5B-94F6-4958-BAC3-E3A03BA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65376"/>
            <a:ext cx="2048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3559C7"/>
                </a:solidFill>
                <a:latin typeface="Aptos Display"/>
                <a:ea typeface="Aptos Display"/>
                <a:cs typeface="Aptos Display"/>
              </a:rPr>
              <a:t>OPENAI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8B1466-E827-4AE1-BB04-B578EB5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40864"/>
            <a:ext cx="20482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Contributor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F883DB-85A0-452D-82DD-2F11345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33472"/>
            <a:ext cx="2048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@2830500285 · 首次贡献者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B2F04BA-C6D9-4B77-B462-9687F32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664208"/>
            <a:ext cx="2450592" cy="1536192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E45F82-64DE-45C8-A3B4-AC76218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1865376"/>
            <a:ext cx="2048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B7A78"/>
                </a:solidFill>
                <a:latin typeface="Aptos Display"/>
                <a:ea typeface="Aptos Display"/>
                <a:cs typeface="Aptos Display"/>
              </a:rPr>
              <a:t>#3642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A8D4A0-6746-4F9B-B668-ACC2631B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340864"/>
            <a:ext cx="20482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Merged PR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0EB3A8-67B9-43AA-BBD3-03EF9E51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633472"/>
            <a:ext cx="2048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OpenAI Agents SDK main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9E7357E-65E8-497A-8671-05765977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664208"/>
            <a:ext cx="2450592" cy="1536192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B82918-A27C-4E8D-A107-380C185C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865376"/>
            <a:ext cx="2048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39775C"/>
                </a:solidFill>
                <a:latin typeface="Aptos Display"/>
                <a:ea typeface="Aptos Display"/>
                <a:cs typeface="Aptos Display"/>
              </a:rPr>
              <a:t>v0.17.7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A77B64-C8FD-48A0-B29D-EFBE63F2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340864"/>
            <a:ext cx="20482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正式发布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3A186E-3493-41AF-9158-9A76A5D4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633472"/>
            <a:ext cx="2048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官方 release 收录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5859E0-FD5A-41F5-B69B-EFC39DA0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664208"/>
            <a:ext cx="2450592" cy="1536192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A0F5CEF-4060-4A6F-B880-2EE9B2DA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865376"/>
            <a:ext cx="204825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D8644D"/>
                </a:solidFill>
                <a:latin typeface="Aptos Display"/>
                <a:ea typeface="Aptos Display"/>
                <a:cs typeface="Aptos Display"/>
              </a:rPr>
              <a:t>GPT-5.6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FBB700F-A7EF-4846-B456-480F408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340864"/>
            <a:ext cx="20482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ChatGPT Codex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9861A-933C-48D0-B73B-959471EE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633472"/>
            <a:ext cx="204825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9727E"/>
                </a:solidFill>
                <a:latin typeface="PingFang SC"/>
                <a:ea typeface="PingFang SC"/>
                <a:cs typeface="PingFang SC"/>
              </a:rPr>
              <a:t>贡献流程采用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608A979-6DA3-4C2C-91E6-9ED2B01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75888"/>
            <a:ext cx="233172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6B4DD28-6169-4DED-BCAF-8DDC56DA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58184"/>
            <a:ext cx="19933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有界状态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1E21207-9036-4A24-BF57-BDE76A5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30752"/>
            <a:ext cx="5029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上游释放缓冲；BAI Work：pending 上限 50，消费即删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D82E787-1529-45D6-AD89-CD21C12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767328"/>
            <a:ext cx="2651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C1041D4-2C6B-4AF1-B36B-C4912AC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3776472"/>
            <a:ext cx="2505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长跑不涨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1F18DF9-675B-4A42-8FAB-8AD7B74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70832"/>
            <a:ext cx="233172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C1FE5B6-3E80-4831-8AA5-6DDFFE1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53128"/>
            <a:ext cx="19933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无重复续传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C5546F6-BBB1-4AC2-8349-CD0808FF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425696"/>
            <a:ext cx="5029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上游不重复写入；BAI Work：单调 seq + 跨批去重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A0E03C2-B303-4F3C-B4D3-6A5ACCF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62272"/>
            <a:ext cx="2651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2B3A695-5FF7-4D6E-B70B-F1EB4C92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4471416"/>
            <a:ext cx="2505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重连不重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C9BF15E-7A78-4795-BBE2-F70A6F2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65776"/>
            <a:ext cx="2331720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46D5335-40A4-4A3C-B0BC-26D0812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48072"/>
            <a:ext cx="19933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超时恢复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A83066C-95C3-47D1-91DD-AD5F671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120640"/>
            <a:ext cx="5029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上游超时落盘；BAI Work：SSE 续传 + 退避熔断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691820B-A3B0-4249-9433-01A5B96E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57216"/>
            <a:ext cx="2651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296D711-33D6-488F-AAD1-3EED4D4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0224" y="5166360"/>
            <a:ext cx="25054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失败可恢复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51F4EC8-5166-4518-93DC-7358A68A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863072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0423AFF-3B8F-4F48-A2F5-4AACB1B9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943600"/>
            <a:ext cx="10378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27313A"/>
                </a:solidFill>
                <a:latin typeface="Aptos"/>
                <a:ea typeface="Aptos"/>
                <a:cs typeface="Aptos"/>
              </a:rPr>
              <a:t>原则复用，非代码移植：把经 OpenAI 主线验证的可靠性不变量，产品化为 BAI Work Runtime Host 的默认行为。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01EC8CB-A473-40B4-8737-76310FB0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公开证据：OpenAI Agents SDK PR #3642 · v0.17.7 release；GPT-5.6 Codex 使用情况来自贡献者研发记录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7B7B9A2-9A27-4A13-ABB4-6A7E684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15 / 19</a:t>
            </a:r>
          </a:p>
        </p:txBody>
      </p:sp>
    </p:spTree>
    <p:extLst>
      <p:ext uri="{BB962C8B-B14F-4D97-AF65-F5344CB8AC3E}">
        <p14:creationId xmlns:p14="http://schemas.microsoft.com/office/powerpoint/2010/main" val="1281637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4F97B34-E229-4AE1-8255-DDF23B8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TARGET USERS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194D2EB-186F-478B-BA89-020237B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目标用户：先占领高频、长链路的项目工作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636A5D-3F25-458B-BCD9-907C5BD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906911-402E-4416-954B-5C128E6C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市场切入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3756483-CE33-48E7-B85B-78B4A4AB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3CE274-0839-495C-85FC-46B76D0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3364992" cy="3584448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9089C67-9EB6-459B-9B64-5BB5EC55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01952"/>
            <a:ext cx="457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032E31-BBE4-4772-802E-9415E0F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67712"/>
            <a:ext cx="2880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个人开发者 / 研究者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905E972-9CF5-4C51-A934-EBE89327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035808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核心摩擦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B20177-F95C-4C46-A9D0-5CF81670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364992"/>
            <a:ext cx="28712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本地项目任务长、文件多、上下文重复传递。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A5C1AD1-D3FE-4D3C-8DF4-97A5EE52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224528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BAI Work 价值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057049-8D2A-4C9F-BA51-707C57C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553712"/>
            <a:ext cx="287121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从问题到代码、文档和图表的一站式交付。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5FF4663-8CBC-4ED9-8BB9-E944695D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1640"/>
            <a:ext cx="3364992" cy="3584448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DE6E63-E276-42F2-A69C-464690D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901952"/>
            <a:ext cx="457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1D56193-B65E-4F65-A6E3-83B9C7E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267712"/>
            <a:ext cx="2880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小型研发团队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C1315D5-CFE9-41EB-BD8A-BA952B09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035808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核心摩擦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B08603-5C9C-4BF2-88E6-4F261ACC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364992"/>
            <a:ext cx="28712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流程难复用，Agent 行为和权限口径难统一。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10DF2EB-9426-49CD-AEFC-2FFC819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224528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BAI Work 价值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CA37942-542D-4E46-9E19-26FB7B27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553712"/>
            <a:ext cx="287121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共享技能、规则、服务配置与审阅标准。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775940-0F2C-4E4E-B8F1-B981EC9B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691640"/>
            <a:ext cx="3364992" cy="3584448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F97485-9DF8-45A8-874E-0F5E611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901952"/>
            <a:ext cx="457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EA71D58-2989-4467-9D1A-DC2AC37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267712"/>
            <a:ext cx="28803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BAI 生态用户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9F3D7E-6ED9-41C9-AB1B-A6622A4C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035808"/>
            <a:ext cx="1005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核心摩擦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29D4459-0014-4862-9EBF-53876D9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364992"/>
            <a:ext cx="28712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底层执行能力缺少持续桌面入口与产物工作面。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F8CE4D1-1740-47EA-882A-8057AE9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224528"/>
            <a:ext cx="1280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BAI Work 价值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F6348DB-C14C-4A4D-91C0-C4AF3185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553712"/>
            <a:ext cx="287121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模型、运行时与生态能力进入日常项目流程。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74F2D0B-0A5D-4C08-AB4A-B7C0BD8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856"/>
            <a:ext cx="10332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首批验证不追求覆盖所有 AI 用户，而聚焦已有本地项目、愿意把完整任务交给 Agent 的用户。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C4800B9-D09F-4EBC-9CAA-2833F14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市场判断基于 Jobs-to-be-Done；不使用未经验证的市场规模数字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B03362B-8D18-432B-B90D-16BD49C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16 / 19</a:t>
            </a:r>
          </a:p>
        </p:txBody>
      </p:sp>
    </p:spTree>
    <p:extLst>
      <p:ext uri="{BB962C8B-B14F-4D97-AF65-F5344CB8AC3E}">
        <p14:creationId xmlns:p14="http://schemas.microsoft.com/office/powerpoint/2010/main" val="18485378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ACCA7B-D38E-4B7E-99C1-1670881E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CONTROLLED SUBSIDY ACQUISITION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111137-89A1-455B-8E1B-F85CAFAD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商业推广：受控补贴驱动首批高质量激活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3D5F58-3525-4954-B59C-6B6DB6E9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4C54A9-4AC7-4D86-98B2-280B5A1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商业增长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BD6A95C-94D4-457D-9FED-EE3B1302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673D77E-F783-4D25-8B07-8FB62378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124358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8EA11C-E3A1-4338-9B0E-BE343395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8191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建议实验方案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05E0017-B6C5-42A8-9FED-0337A8D3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29968"/>
            <a:ext cx="24688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588D19-2F55-4CB6-862E-21CC19E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49424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限量 Cohort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70653C-CD69-49D0-8C1E-8B73618A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06624"/>
            <a:ext cx="2103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首批限量名额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按批次开放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CFFEF9F-C7CA-4E7B-A98C-69595C45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029968"/>
            <a:ext cx="24688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1832B70-28E6-4A11-A62E-22AF51B6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249424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半价折扣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530F23D-6DE6-4272-9BD9-786710A5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06624"/>
            <a:ext cx="2103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模型使用费用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提供 50% 优惠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6CF7B9-16C2-4295-BA9A-98DD169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029968"/>
            <a:ext cx="24688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AA897E-F51F-4032-9BB4-514F2CA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49424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B87B16"/>
                </a:solidFill>
                <a:latin typeface="PingFang SC"/>
                <a:ea typeface="PingFang SC"/>
                <a:cs typeface="PingFang SC"/>
              </a:rPr>
              <a:t>额度封顶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B2BA30-FF63-4869-8192-68690C5C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706624"/>
            <a:ext cx="2103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单账户月度上限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控制补贴敞口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E337B0F-6F6C-4918-831B-7AC7BB1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29968"/>
            <a:ext cx="2468880" cy="1444752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7E90EE-8923-4067-8DBB-1795D66B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249424"/>
            <a:ext cx="2103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限时验证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01F93E9-CA98-441F-853F-E639FD00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706624"/>
            <a:ext cx="210312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持续 8–12 周</a:t>
            </a:r>
          </a:p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到期自动复核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38746A9-DC94-45E1-8A8C-E8E83B96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86200"/>
            <a:ext cx="658368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DD77F1-16F2-43A1-97E9-8BFA8884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8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Activation-Gated Subsidy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412EF43-A6DF-4C82-AD6E-9D69833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78808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8F8750-9CC1-4B1D-B170-F15031C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1648"/>
            <a:ext cx="3429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绑定有效 API Key 并完成首个项目任务后激活优惠。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4426D7-6E75-4D48-86A6-DC811E9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572000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63E3B5B-A17B-4496-AF94-580D26A0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4840"/>
            <a:ext cx="3429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按账户、设备与异常使用信号控制重复领取。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8F9DC6F-3B28-4E16-807E-D20505FB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965192"/>
            <a:ext cx="731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6F88EF1-86A7-4F92-988E-803454FF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8032"/>
            <a:ext cx="342900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补贴只覆盖真实使用量，未使用额度不沉淀、不转售。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7EE499C-99DE-4D8C-9565-E8CC2C9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39776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D25DE10-DA1A-4336-8391-C370B76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133088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单位经济门槛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73ED988-856D-458E-8F19-C027E18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572000"/>
            <a:ext cx="3383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Subsidy CAC ≤ Cohort LTV ×</a:t>
            </a:r>
          </a:p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目标回收系数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59F2ED7-C2DC-46DF-A146-F051885C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806440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07312F7-B015-4741-8839-9EA7C13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15584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API Key 绑定率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4A5E2BD-DE65-4A42-A3BD-E2AC5FA2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0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782C476-0599-4369-A703-CE7C6559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815584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首任务完成率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AF4A57A-8C18-41C0-9A69-DCB3B3E0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5806440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1243181-2934-4D57-9E79-CD87C169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5815584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D7 活跃项目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5B4FFE8-9E1E-452F-8676-CCEDBE4D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5806440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BE3"/>
          </a:solidFill>
          <a:ln xmlns:a="http://schemas.openxmlformats.org/drawingml/2006/main" w="12700">
            <a:solidFill>
              <a:srgbClr val="DDEBE3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2EF47D2-ED30-4A76-A02B-919CBFFB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15584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9775C"/>
                </a:solidFill>
                <a:latin typeface="PingFang SC"/>
                <a:ea typeface="PingFang SC"/>
                <a:cs typeface="PingFang SC"/>
              </a:rPr>
              <a:t>付费转化率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4CEA21B-AF54-47AC-95D5-63CB0F75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806440"/>
            <a:ext cx="19385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95F2147-4DE7-46DE-BA4E-037A8A2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15584"/>
            <a:ext cx="17922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补贴效率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144AA52-E362-446D-9BD5-017A4657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商业方案为待验证实验；额度、周期和风控阈值需按 Cohort 数据迭代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F54F8BF2-1F64-42C2-A61E-3B64AFB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17 / 19</a:t>
            </a:r>
          </a:p>
        </p:txBody>
      </p:sp>
    </p:spTree>
    <p:extLst>
      <p:ext uri="{BB962C8B-B14F-4D97-AF65-F5344CB8AC3E}">
        <p14:creationId xmlns:p14="http://schemas.microsoft.com/office/powerpoint/2010/main" val="1555927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0EB514-9BA5-41FA-94DB-5F40AC3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1752"/>
            <a:ext cx="4023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12-WEEK ROADMAP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0231D7-F33D-40F9-BB63-46BF0A9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21792"/>
            <a:ext cx="9875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0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12 周推进：先稳定发布，再验证增长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73089B-C1A9-4951-97D5-2A217047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20040"/>
            <a:ext cx="17373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B8895F5-C7BB-4F88-AD6B-77FF0F6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329184"/>
            <a:ext cx="15910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执行计划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B2C7C23-096D-400B-AD3C-D45C1FC5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98448"/>
            <a:ext cx="11109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3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E51C476-F3FD-4AC6-853B-AD0183F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2487168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5E9EC"/>
          </a:solidFill>
          <a:ln xmlns:a="http://schemas.openxmlformats.org/drawingml/2006/main" w="12700">
            <a:solidFill>
              <a:srgbClr val="E5E9EC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173964-13AA-4F2E-AA60-219D7610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874520"/>
            <a:ext cx="8412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70ECB46-79C9-440F-9DDE-AB5160D6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83664"/>
            <a:ext cx="6949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NOW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170A1F-5B9B-4536-A04E-D0EE2A77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395728"/>
            <a:ext cx="20848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7313A"/>
                </a:solidFill>
                <a:latin typeface="PingFang SC"/>
                <a:ea typeface="PingFang SC"/>
                <a:cs typeface="PingFang SC"/>
              </a:rPr>
              <a:t>稳定基线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A58748D-E0BF-4B3B-98C2-3360E979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944368"/>
            <a:ext cx="20848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Mac Intel 主版本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Token Economy / EBAI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当前自动化验证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33A00BE-9979-46EC-8D1E-EE199BE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889504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EDC5044-51A0-4245-AAE2-CBCD94AE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664208"/>
            <a:ext cx="2487168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4E9F8"/>
          </a:solidFill>
          <a:ln xmlns:a="http://schemas.openxmlformats.org/drawingml/2006/main" w="12700">
            <a:solidFill>
              <a:srgbClr val="E4E9F8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4AB893-C44D-4359-8A30-385B4EA2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1874520"/>
            <a:ext cx="8412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7E4F65-DAE8-43E4-BE2A-0DD49DE4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1883664"/>
            <a:ext cx="6949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W1–4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805AB40-705B-4274-B6E9-76F09B76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2395728"/>
            <a:ext cx="20848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3559C7"/>
                </a:solidFill>
                <a:latin typeface="PingFang SC"/>
                <a:ea typeface="PingFang SC"/>
                <a:cs typeface="PingFang SC"/>
              </a:rPr>
              <a:t>发布级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266F178-8BBD-4C30-8522-F84E284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2944368"/>
            <a:ext cx="20848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正式签名与公证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运行时契约对齐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崩溃与恢复遥测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CC4CC26-5455-4F92-9795-D86B162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889504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E0ABF46-827A-42EA-8EAB-C793044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664208"/>
            <a:ext cx="2487168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DDECEA"/>
          </a:solidFill>
          <a:ln xmlns:a="http://schemas.openxmlformats.org/drawingml/2006/main" w="12700">
            <a:solidFill>
              <a:srgbClr val="DDEC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D2CD62C-ADD8-42FA-BC67-9FF622B4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874520"/>
            <a:ext cx="8412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ECB0B7B-A295-4AF7-A269-998B044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83664"/>
            <a:ext cx="6949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W5–8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9186D9F-96DB-48F5-B8BF-D23F77F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95728"/>
            <a:ext cx="20848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2B7A78"/>
                </a:solidFill>
                <a:latin typeface="PingFang SC"/>
                <a:ea typeface="PingFang SC"/>
                <a:cs typeface="PingFang SC"/>
              </a:rPr>
              <a:t>试点级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914F6FD-8724-49CC-9FE7-A14D2E2B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20848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首批限量 Cohort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30 秒上手漏斗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真实任务回归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F9BB15B-5423-4245-AED8-F4A1D844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2889504"/>
            <a:ext cx="2194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69727E"/>
            </a:solidFill>
            <a:prstDash val="solid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110FBAD-77FB-4125-A7A9-5FF64F37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664208"/>
            <a:ext cx="2487168" cy="2487168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2700">
            <a:solidFill>
              <a:srgbClr val="F5E2DD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BB412A0-4E96-4D79-A0D1-E4DAEAEF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8412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C04424C-EE05-4077-9DE4-9E766BC1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1883664"/>
            <a:ext cx="69494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W9–12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5B8F2C4-039C-4B6E-8080-13C864BB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5728"/>
            <a:ext cx="208483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900" b="1">
                <a:solidFill>
                  <a:srgbClr val="D8644D"/>
                </a:solidFill>
                <a:latin typeface="PingFang SC"/>
                <a:ea typeface="PingFang SC"/>
                <a:cs typeface="PingFang SC"/>
              </a:rPr>
              <a:t>规模化判断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7C37022-4218-4BF9-BDBB-FCCB232E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44368"/>
            <a:ext cx="208483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留存与单位经济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团队策略复用</a:t>
            </a:r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3E4650"/>
                </a:solidFill>
                <a:latin typeface="PingFang SC"/>
                <a:ea typeface="PingFang SC"/>
                <a:cs typeface="PingFang SC"/>
              </a:rPr>
              <a:t>生态能力审核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3918184-6AEA-47FB-8CC3-C481B9F4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83480"/>
            <a:ext cx="9646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12 周内只验证三件事：稳定发布、真实激活、单位经济成立。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4E098E1-EF8D-463B-8AE9-8BA65210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6547104"/>
            <a:ext cx="9052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路线图优先级：稳定发布 → 真实激活 → 留存与单位经济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ADB49C6-B8A8-4E06-80FE-89677D5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8961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30">
                <a:solidFill>
                  <a:srgbClr val="69727E"/>
                </a:solidFill>
                <a:latin typeface="Aptos"/>
                <a:ea typeface="Aptos"/>
                <a:cs typeface="Aptos"/>
              </a:rPr>
              <a:t>18 / 19</a:t>
            </a:r>
          </a:p>
        </p:txBody>
      </p:sp>
    </p:spTree>
    <p:extLst>
      <p:ext uri="{BB962C8B-B14F-4D97-AF65-F5344CB8AC3E}">
        <p14:creationId xmlns:p14="http://schemas.microsoft.com/office/powerpoint/2010/main" val="1988269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C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b2214cd46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531545"/>
            <a:ext cx="3566160" cy="930303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03F77554-398D-422F-B5B8-AFCC917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47088"/>
            <a:ext cx="4709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简单，不代表能力少。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1EDCC474-0388-4C21-8529-4C2AED74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4983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8FD4CF"/>
                </a:solidFill>
                <a:latin typeface="PingFang SC"/>
                <a:ea typeface="PingFang SC"/>
                <a:cs typeface="PingFang SC"/>
              </a:rPr>
              <a:t>而是把复杂度留在系统里。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1BA5478-0199-4B90-B49A-C4ABB09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566160"/>
            <a:ext cx="5120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CDD4DB"/>
                </a:solidFill>
                <a:latin typeface="PingFang SC"/>
                <a:ea typeface="PingFang SC"/>
                <a:cs typeface="PingFang SC"/>
              </a:rPr>
              <a:t>30 秒配置目标；过程可见；产物可验收。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E774220-B237-4DD7-B595-4096DE2A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13232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9189C7C-147B-4CCB-8628-747C157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13232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12700">
            <a:solidFill>
              <a:srgbClr val="2B7A78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1494FE3-735C-43AB-9001-7A8685E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832104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2B7A78"/>
                </a:solidFill>
                <a:latin typeface="Aptos"/>
                <a:ea typeface="Aptos"/>
                <a:cs typeface="Aptos"/>
              </a:rPr>
              <a:t>轻量架构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529EE42-4D12-4E88-A521-B73A3603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813816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项目级 Runtime Host 与最短执行链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CCE94C4-C138-4096-ABF5-1F17999F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45920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D02D20B-CEE3-4238-B9CE-D476BBF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45920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B16"/>
          </a:solidFill>
          <a:ln xmlns:a="http://schemas.openxmlformats.org/drawingml/2006/main" w="12700">
            <a:solidFill>
              <a:srgbClr val="B87B16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FDD7485-E481-49D2-B3FD-E80E305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1764792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7B16"/>
                </a:solidFill>
                <a:latin typeface="Aptos"/>
                <a:ea typeface="Aptos"/>
                <a:cs typeface="Aptos"/>
              </a:rPr>
              <a:t>Token Economy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E290540-1A00-4A97-BED3-1DAEBEE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746504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请求预算与上下文治理契约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C4B5745-EDC7-4B60-A83C-1FC5318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8608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761D614-2F57-46C3-8E53-45EB2ED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8608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44D"/>
          </a:solidFill>
          <a:ln xmlns:a="http://schemas.openxmlformats.org/drawingml/2006/main" w="12700">
            <a:solidFill>
              <a:srgbClr val="D8644D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726C720-419A-4A5F-92FB-393E186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2697480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D8644D"/>
                </a:solidFill>
                <a:latin typeface="Aptos"/>
                <a:ea typeface="Aptos"/>
                <a:cs typeface="Aptos"/>
              </a:rPr>
              <a:t>EBAI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400BA0B3-6EED-4C02-9DAB-4B3FB70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679192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产品能力体系与清晰执行边界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91FDE92-1040-4862-B70C-5D6B4011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11296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47E9EBB-95EF-48F3-829B-82942F4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11296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9C7"/>
          </a:solidFill>
          <a:ln xmlns:a="http://schemas.openxmlformats.org/drawingml/2006/main" w="12700">
            <a:solidFill>
              <a:srgbClr val="3559C7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69666B8-D2EA-405B-836B-65427F1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3630168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3559C7"/>
                </a:solidFill>
                <a:latin typeface="Aptos"/>
                <a:ea typeface="Aptos"/>
                <a:cs typeface="Aptos"/>
              </a:rPr>
              <a:t>产品交付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32677DA-4097-45D7-829A-6C5A2DBD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61188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三平台路径、自动化测试与运行证据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D0D1BE9-0581-4CA7-B236-0F38C3DE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43984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7313A"/>
          </a:solidFill>
          <a:ln xmlns:a="http://schemas.openxmlformats.org/drawingml/2006/main" w="12700">
            <a:solidFill>
              <a:srgbClr val="27313A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D8A1493-0B1B-4B7A-B422-0A56E5B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43984"/>
            <a:ext cx="73152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75C"/>
          </a:solidFill>
          <a:ln xmlns:a="http://schemas.openxmlformats.org/drawingml/2006/main" w="12700">
            <a:solidFill>
              <a:srgbClr val="39775C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7560985-708A-4B18-825C-767C0E0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4562856"/>
            <a:ext cx="1600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39775C"/>
                </a:solidFill>
                <a:latin typeface="Aptos"/>
                <a:ea typeface="Aptos"/>
                <a:cs typeface="Aptos"/>
              </a:rPr>
              <a:t>商业增长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C2AD491-34B6-4BE2-9B17-9F15089F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544568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限量半价、额度封顶与 Cohort 验证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ACCAC38-24D0-4912-A8F9-05AB6709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04688"/>
            <a:ext cx="5989320" cy="713232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2700">
            <a:solidFill>
              <a:srgbClr val="FFFEFA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4527624-60C1-439F-B1B4-747CFD3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41848"/>
            <a:ext cx="5532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71A1F"/>
                </a:solidFill>
                <a:latin typeface="PingFang SC"/>
                <a:ea typeface="PingFang SC"/>
                <a:cs typeface="PingFang SC"/>
              </a:rPr>
              <a:t>下一步：稳定签名发布 · 首批用户验证 · 项目级生态扩展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4BC3121-8E4B-4685-B2F4-EAA18D92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6144768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8FD4CF"/>
                </a:solidFill>
                <a:latin typeface="Aptos"/>
                <a:ea typeface="Aptos"/>
                <a:cs typeface="Aptos"/>
              </a:rPr>
              <a:t>github.com/2830500285/BAI-Work</a:t>
            </a:r>
          </a:p>
        </p:txBody>
      </p:sp>
    </p:spTree>
    <p:extLst>
      <p:ext uri="{BB962C8B-B14F-4D97-AF65-F5344CB8AC3E}">
        <p14:creationId xmlns:p14="http://schemas.microsoft.com/office/powerpoint/2010/main" val="16856180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2026-07-22T06:47:57.7080000Z</dcterms:created>
  <dcterms:modified xsi:type="dcterms:W3CDTF">2026-07-22T06:47:57.7090000Z</dcterms:modified>
</coreProperties>
</file>