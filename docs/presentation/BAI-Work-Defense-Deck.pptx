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44d2699a6404761" /><Relationship Type="http://schemas.openxmlformats.org/officeDocument/2006/relationships/extended-properties" Target="/docProps/app.xml" Id="Rc91963ab4deb4b78" /><Relationship Type="http://schemas.openxmlformats.org/officeDocument/2006/relationships/officeDocument" Target="/ppt/presentation.xml" Id="R0e6fc22ab285485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25872652052445a"/>
  </p:sldMasterIdLst>
  <p:notesMasterIdLst>
    <p:notesMasterId xmlns:r="http://schemas.openxmlformats.org/officeDocument/2006/relationships" r:id="R6be2c663fb664f7c"/>
  </p:notesMasterIdLst>
  <p:sldIdLst>
    <p:sldId xmlns:r="http://schemas.openxmlformats.org/officeDocument/2006/relationships" id="256" r:id="R6dacada4a1534070"/>
    <p:sldId xmlns:r="http://schemas.openxmlformats.org/officeDocument/2006/relationships" id="257" r:id="Rf444c171f81d4e45"/>
    <p:sldId xmlns:r="http://schemas.openxmlformats.org/officeDocument/2006/relationships" id="258" r:id="R3dea2fb87d7f45a7"/>
    <p:sldId xmlns:r="http://schemas.openxmlformats.org/officeDocument/2006/relationships" id="259" r:id="R69d7ee90fb8b466f"/>
    <p:sldId xmlns:r="http://schemas.openxmlformats.org/officeDocument/2006/relationships" id="260" r:id="R34e4dd31762c4b59"/>
    <p:sldId xmlns:r="http://schemas.openxmlformats.org/officeDocument/2006/relationships" id="261" r:id="Rd4e009313c2e4732"/>
    <p:sldId xmlns:r="http://schemas.openxmlformats.org/officeDocument/2006/relationships" id="262" r:id="R6f4402b8af614a94"/>
    <p:sldId xmlns:r="http://schemas.openxmlformats.org/officeDocument/2006/relationships" id="263" r:id="Rb7c679bd604d46d0"/>
    <p:sldId xmlns:r="http://schemas.openxmlformats.org/officeDocument/2006/relationships" id="264" r:id="Re15441bef143433a"/>
    <p:sldId xmlns:r="http://schemas.openxmlformats.org/officeDocument/2006/relationships" id="265" r:id="R2bcffbdc5c4a4205"/>
    <p:sldId xmlns:r="http://schemas.openxmlformats.org/officeDocument/2006/relationships" id="266" r:id="R054a35c735af46b7"/>
    <p:sldId xmlns:r="http://schemas.openxmlformats.org/officeDocument/2006/relationships" id="267" r:id="Rde2a834882674bf9"/>
    <p:sldId xmlns:r="http://schemas.openxmlformats.org/officeDocument/2006/relationships" id="268" r:id="Rb58f33b101244c1d"/>
    <p:sldId xmlns:r="http://schemas.openxmlformats.org/officeDocument/2006/relationships" id="269" r:id="Rbc41b6eb05bd4058"/>
    <p:sldId xmlns:r="http://schemas.openxmlformats.org/officeDocument/2006/relationships" id="270" r:id="R0df95486c23a462c"/>
    <p:sldId xmlns:r="http://schemas.openxmlformats.org/officeDocument/2006/relationships" id="271" r:id="R1062c11ef6f04701"/>
    <p:sldId xmlns:r="http://schemas.openxmlformats.org/officeDocument/2006/relationships" id="272" r:id="Rb26bbf5d070b40f5"/>
    <p:sldId xmlns:r="http://schemas.openxmlformats.org/officeDocument/2006/relationships" id="273" r:id="R93d5c05475544713"/>
    <p:sldId xmlns:r="http://schemas.openxmlformats.org/officeDocument/2006/relationships" id="274" r:id="Rf706687afbec443c"/>
  </p:sldIdLst>
  <p:sldSz cx="12191695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7d09da7719a4be5" /><Relationship Type="http://schemas.openxmlformats.org/officeDocument/2006/relationships/slideMaster" Target="/ppt/slideMasters/slideMaster1.xml" Id="Rc25872652052445a" /><Relationship Type="http://schemas.openxmlformats.org/officeDocument/2006/relationships/notesMaster" Target="/ppt/notesMasters/notesMaster1.xml" Id="R6be2c663fb664f7c" /><Relationship Type="http://schemas.openxmlformats.org/officeDocument/2006/relationships/presProps" Target="/ppt/presProps.xml" Id="R786100e1a2d141f6" /><Relationship Type="http://schemas.openxmlformats.org/officeDocument/2006/relationships/viewProps" Target="/ppt/viewProps.xml" Id="Rae5aac0fc116417d" /><Relationship Type="http://schemas.openxmlformats.org/officeDocument/2006/relationships/tableStyles" Target="/ppt/tableStyles.xml" Id="R3521d552d1f34622" /><Relationship Type="http://schemas.openxmlformats.org/officeDocument/2006/relationships/slide" Target="/ppt/slides/slide1.xml" Id="R6dacada4a1534070" /><Relationship Type="http://schemas.openxmlformats.org/officeDocument/2006/relationships/slide" Target="/ppt/slides/slide2.xml" Id="Rf444c171f81d4e45" /><Relationship Type="http://schemas.openxmlformats.org/officeDocument/2006/relationships/slide" Target="/ppt/slides/slide3.xml" Id="R3dea2fb87d7f45a7" /><Relationship Type="http://schemas.openxmlformats.org/officeDocument/2006/relationships/slide" Target="/ppt/slides/slide4.xml" Id="R69d7ee90fb8b466f" /><Relationship Type="http://schemas.openxmlformats.org/officeDocument/2006/relationships/slide" Target="/ppt/slides/slide5.xml" Id="R34e4dd31762c4b59" /><Relationship Type="http://schemas.openxmlformats.org/officeDocument/2006/relationships/slide" Target="/ppt/slides/slide6.xml" Id="Rd4e009313c2e4732" /><Relationship Type="http://schemas.openxmlformats.org/officeDocument/2006/relationships/slide" Target="/ppt/slides/slide7.xml" Id="R6f4402b8af614a94" /><Relationship Type="http://schemas.openxmlformats.org/officeDocument/2006/relationships/slide" Target="/ppt/slides/slide8.xml" Id="Rb7c679bd604d46d0" /><Relationship Type="http://schemas.openxmlformats.org/officeDocument/2006/relationships/slide" Target="/ppt/slides/slide9.xml" Id="Re15441bef143433a" /><Relationship Type="http://schemas.openxmlformats.org/officeDocument/2006/relationships/slide" Target="/ppt/slides/slide10.xml" Id="R2bcffbdc5c4a4205" /><Relationship Type="http://schemas.openxmlformats.org/officeDocument/2006/relationships/slide" Target="/ppt/slides/slide11.xml" Id="R054a35c735af46b7" /><Relationship Type="http://schemas.openxmlformats.org/officeDocument/2006/relationships/slide" Target="/ppt/slides/slide12.xml" Id="Rde2a834882674bf9" /><Relationship Type="http://schemas.openxmlformats.org/officeDocument/2006/relationships/slide" Target="/ppt/slides/slide13.xml" Id="Rb58f33b101244c1d" /><Relationship Type="http://schemas.openxmlformats.org/officeDocument/2006/relationships/slide" Target="/ppt/slides/slide14.xml" Id="Rbc41b6eb05bd4058" /><Relationship Type="http://schemas.openxmlformats.org/officeDocument/2006/relationships/slide" Target="/ppt/slides/slide15.xml" Id="R0df95486c23a462c" /><Relationship Type="http://schemas.openxmlformats.org/officeDocument/2006/relationships/slide" Target="/ppt/slides/slide16.xml" Id="R1062c11ef6f04701" /><Relationship Type="http://schemas.openxmlformats.org/officeDocument/2006/relationships/slide" Target="/ppt/slides/slide17.xml" Id="Rb26bbf5d070b40f5" /><Relationship Type="http://schemas.openxmlformats.org/officeDocument/2006/relationships/slide" Target="/ppt/slides/slide18.xml" Id="R93d5c05475544713" /><Relationship Type="http://schemas.openxmlformats.org/officeDocument/2006/relationships/slide" Target="/ppt/slides/slide19.xml" Id="Rf706687afbec443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201d777577b481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139f91bb00540aa" /><Relationship Type="http://schemas.openxmlformats.org/officeDocument/2006/relationships/notesMaster" Target="/ppt/notesMasters/notesMaster1.xml" Id="R9cf96cad28c6452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e09519c48b6448e" /><Relationship Type="http://schemas.openxmlformats.org/officeDocument/2006/relationships/notesMaster" Target="/ppt/notesMasters/notesMaster1.xml" Id="R52ca9a50d110469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dd06683385241a3" /><Relationship Type="http://schemas.openxmlformats.org/officeDocument/2006/relationships/notesMaster" Target="/ppt/notesMasters/notesMaster1.xml" Id="R01b853a0f0214bf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2ed0ac259ec4d17" /><Relationship Type="http://schemas.openxmlformats.org/officeDocument/2006/relationships/notesMaster" Target="/ppt/notesMasters/notesMaster1.xml" Id="Ree7509f8e4414b0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65de2e590114d10" /><Relationship Type="http://schemas.openxmlformats.org/officeDocument/2006/relationships/notesMaster" Target="/ppt/notesMasters/notesMaster1.xml" Id="R918a231f031d473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bbb0a682a1944ab" /><Relationship Type="http://schemas.openxmlformats.org/officeDocument/2006/relationships/notesMaster" Target="/ppt/notesMasters/notesMaster1.xml" Id="R908fb367d566404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184e3a7f30f4137" /><Relationship Type="http://schemas.openxmlformats.org/officeDocument/2006/relationships/notesMaster" Target="/ppt/notesMasters/notesMaster1.xml" Id="Rf66f75f63a814aa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29fc4da93064264" /><Relationship Type="http://schemas.openxmlformats.org/officeDocument/2006/relationships/notesMaster" Target="/ppt/notesMasters/notesMaster1.xml" Id="R0a329ab8e6604c7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1937f9f1b724176" /><Relationship Type="http://schemas.openxmlformats.org/officeDocument/2006/relationships/notesMaster" Target="/ppt/notesMasters/notesMaster1.xml" Id="Rc5952ce0bbaf4d5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c49168002144fff" /><Relationship Type="http://schemas.openxmlformats.org/officeDocument/2006/relationships/notesMaster" Target="/ppt/notesMasters/notesMaster1.xml" Id="Ra103c46f04cf4f1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ef34f24a1774bf7" /><Relationship Type="http://schemas.openxmlformats.org/officeDocument/2006/relationships/notesMaster" Target="/ppt/notesMasters/notesMaster1.xml" Id="R28b010814b724e8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f1177ca6b7a4786" /><Relationship Type="http://schemas.openxmlformats.org/officeDocument/2006/relationships/notesMaster" Target="/ppt/notesMasters/notesMaster1.xml" Id="R98531128f636467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92993edd65d4219" /><Relationship Type="http://schemas.openxmlformats.org/officeDocument/2006/relationships/notesMaster" Target="/ppt/notesMasters/notesMaster1.xml" Id="R72165de80f6d42a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24893e76a844c45" /><Relationship Type="http://schemas.openxmlformats.org/officeDocument/2006/relationships/notesMaster" Target="/ppt/notesMasters/notesMaster1.xml" Id="Rc1b1584739de432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b8575d7d251414c" /><Relationship Type="http://schemas.openxmlformats.org/officeDocument/2006/relationships/notesMaster" Target="/ppt/notesMasters/notesMaster1.xml" Id="R37f91889cd294c1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17e4f8650c14e4f" /><Relationship Type="http://schemas.openxmlformats.org/officeDocument/2006/relationships/notesMaster" Target="/ppt/notesMasters/notesMaster1.xml" Id="Rb6f28ae0d985440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d9f53a66a134166" /><Relationship Type="http://schemas.openxmlformats.org/officeDocument/2006/relationships/notesMaster" Target="/ppt/notesMasters/notesMaster1.xml" Id="R7225ed6240ed46e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6d2d42579aa4db3" /><Relationship Type="http://schemas.openxmlformats.org/officeDocument/2006/relationships/notesMaster" Target="/ppt/notesMasters/notesMaster1.xml" Id="R02aec882731b4c6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e5bfa0138ff43e4" /><Relationship Type="http://schemas.openxmlformats.org/officeDocument/2006/relationships/notesMaster" Target="/ppt/notesMasters/notesMaster1.xml" Id="R832459c11ac243a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封面（建议 25 秒）
开场一句：BAI Work 不是另一个聊天入口，而是面向真实项目交付的轻量桌面工作台。
核心差异是把执行链收敛到本地项目：配置更短、过程可见、产物可验收。
当前已有可运行应用、三平台构建路径和完整自动化验证。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产品问题与定义（建议 35 秒）
不要从功能数量开始，先说明真实项目任务为什么需要连续交付。
BAI Work 的目标函数是缩短任务到产物的闭环，而不是覆盖所有通信场景。
这条目标函数决定了后续的轻量架构、过程可观测和 Token Economy。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 秒演示目标（建议 45 秒）</a:t>
            </a:r>
          </a:p>
          <a:p xmlns:a="http://schemas.openxmlformats.org/drawingml/2006/main">
            <a:r>
              <a:t>用户只需提供 API Key，主进程完成服务探测、模型拉取、能力分类和保存。</a:t>
            </a:r>
          </a:p>
          <a:p xmlns:a="http://schemas.openxmlformats.org/drawingml/2006/main">
            <a:r>
              <a:t>技术上使用凭据隔离、端点规范化、能力感知发现与幂等集合合并。</a:t>
            </a:r>
          </a:p>
          <a:p xmlns:a="http://schemas.openxmlformats.org/drawingml/2006/main">
            <a:r>
              <a:t>30 秒是顺畅网络下的现场演示目标，不作为固定网络 SLA。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现场演示路径（建议 35 秒 + 3 分钟演示）
演示只跑一条主流程：选项目、发任务、展开步骤、打开产物。
每一步都说用户获得了什么信息，不在现场展开内部实现。
网络异常时切换到打包运行时健康检查、预生成产物与最新界面证据。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产品完成度（建议 40 秒）</a:t>
            </a:r>
          </a:p>
          <a:p xmlns:a="http://schemas.openxmlformats.org/drawingml/2006/main">
            <a:r>
              <a:t>完成度从用户生命周期衡量：配置、执行、观察、审阅、沉淀都在一个工作面完成。</a:t>
            </a:r>
          </a:p>
          <a:p xmlns:a="http://schemas.openxmlformats.org/drawingml/2006/main">
            <a:r>
              <a:t>三平台目标和稳定本地服务边界证明它不是一次性原型。</a:t>
            </a:r>
          </a:p>
          <a:p xmlns:a="http://schemas.openxmlformats.org/drawingml/2006/main">
            <a:r>
              <a:t>EBAI 的 Commands、Agents、Skills、Rules 和 Hooks 是 BAI Work 面向用户的产品能力；来源与安装不定义它的产品身份。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轻量 Runtime Host 架构（建议 50 秒）
核心创新不是桌面框架本身，而是单一 Runtime Host 对协议、凭据、文件和生命周期的收敛。
Renderer 只消费稳定事件模型，因此上游变化不会扩散到整个界面。
项目级状态和本机回环服务共同缩短了任务到产物的执行路径。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项目级 Runtime Host 数据链（建议 55 秒）</a:t>
            </a:r>
          </a:p>
          <a:p xmlns:a="http://schemas.openxmlformats.org/drawingml/2006/main">
            <a:r>
              <a:t>这一页只解释 BAI Work 自身的架构选择：把桌面复杂度集中在 Runtime Host。</a:t>
            </a:r>
          </a:p>
          <a:p xmlns:a="http://schemas.openxmlformats.org/drawingml/2006/main">
            <a:r>
              <a:t>工作台只消费稳定事件，项目上下文、状态、权限和产物则始终围绕 workspace 收敛。</a:t>
            </a:r>
          </a:p>
          <a:p xmlns:a="http://schemas.openxmlformats.org/drawingml/2006/main">
            <a:r>
              <a:t>从输入到验收的每一段都有明确边界，因此长任务可以被观察、恢复和验证。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可观测状态机（建议 45 秒）
事件流先去重、分类和清洗，再进入时间线和最终交付区。
过程区展示工具动作和可验证状态，不展示模型内部思维链。
错误与用量采用保守策略：不让堆栈污染界面，也不把缺失遥测当成零。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Token Economy 控制面（建议 50 秒）</a:t>
            </a:r>
          </a:p>
          <a:p xmlns:a="http://schemas.openxmlformats.org/drawingml/2006/main">
            <a:r>
              <a:t>这里展示的是当前代码中可复现的请求预算配置，不使用仓库里不存在的估算公式。</a:t>
            </a:r>
          </a:p>
          <a:p xmlns:a="http://schemas.openxmlformats.org/drawingml/2006/main">
            <a:r>
              <a:t>历史保护限制发送请求时的超长工具结果和参数，原始聊天记录保持不变。</a:t>
            </a:r>
          </a:p>
          <a:p xmlns:a="http://schemas.openxmlformats.org/drawingml/2006/main">
            <a:r>
              <a:t>当前适配层没有可用的节省遥测，因此界面明确显示不可用，不宣称节省百分比。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上下文治理契约（建议 55 秒）</a:t>
            </a:r>
          </a:p>
          <a:p xmlns:a="http://schemas.openxmlformats.org/drawingml/2006/main">
            <a:r>
              <a:t>第一层约束工具结果，第二层约束工具参数，第三层定义摘要阈值与资源预算。</a:t>
            </a:r>
          </a:p>
          <a:p xmlns:a="http://schemas.openxmlformats.org/drawingml/2006/main">
            <a:r>
              <a:t>这些默认值和输入上限都能从共享设置、IPC schema 与 normalizer 中复现。</a:t>
            </a:r>
          </a:p>
          <a:p xmlns:a="http://schemas.openxmlformats.org/drawingml/2006/main">
            <a:r>
              <a:t>我们把控制面和实际运行效果分开陈述；只有可用遥测才进入节省展示。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EBAI 产品能力体系（建议 60 秒）</a:t>
            </a:r>
          </a:p>
          <a:p xmlns:a="http://schemas.openxmlformats.org/drawingml/2006/main">
            <a:r>
              <a:t>EBAI 的产品定义是 BAI Work 面向用户的能力体系；来源与安装只属于内部交付方式。</a:t>
            </a:r>
          </a:p>
          <a:p xmlns:a="http://schemas.openxmlformats.org/drawingml/2006/main">
            <a:r>
              <a:t>当前 Commands 和 Skills 可被运行时加载，Agents 以命令工作流接入，Rules 以 Skill 指令接入。</a:t>
            </a:r>
          </a:p>
          <a:p xmlns:a="http://schemas.openxmlformats.org/drawingml/2006/main">
            <a:r>
              <a:t>Hooks 当前仅生成默认关闭的 manifest；来源与安装是内部交付方式，不定义 EBAI 的产品身份。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EBAI Hook 安全（建议 50 秒）</a:t>
            </a:r>
          </a:p>
          <a:p xmlns:a="http://schemas.openxmlformats.org/drawingml/2006/main">
            <a:r>
              <a:t>Hook 已作为 EBAI 产品能力之一被建模，覆盖消息、会话和工具调用生命周期。</a:t>
            </a:r>
          </a:p>
          <a:p xmlns:a="http://schemas.openxmlformats.org/drawingml/2006/main">
            <a:r>
              <a:t>当前交付范围是生成默认关闭的 manifest，设置页开关禁用，BAI Code 0.9.1 也没有 Hook 执行契约。</a:t>
            </a:r>
          </a:p>
          <a:p xmlns:a="http://schemas.openxmlformats.org/drawingml/2006/main">
            <a:r>
              <a:t>因此答辩只宣称能力定义、配置边界与安全策略已实现，不把 Hook 冒充为已执行。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执行闭环（建议 45 秒）
BAI Work 的 AI 应用不是单次接口调用，而是上下文、规划、工具、产物和验证的闭环。
验证门将“模型说完成了”转换为文件、差异、测试与运行证据。
可选的签名和发布溯源是后续生态方向，不作为当前完成度陈述。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端到端工程证据链（建议 55 秒）</a:t>
            </a:r>
          </a:p>
          <a:p xmlns:a="http://schemas.openxmlformats.org/drawingml/2006/main">
            <a:r>
              <a:t>这一页把前半段技术点收束为评委可以直接判断的证据链。</a:t>
            </a:r>
          </a:p>
          <a:p xmlns:a="http://schemas.openxmlformats.org/drawingml/2006/main">
            <a:r>
              <a:t>从配置到工程验收，每个用户价值都对应明确的系统机制和验证入口。</a:t>
            </a:r>
          </a:p>
          <a:p xmlns:a="http://schemas.openxmlformats.org/drawingml/2006/main">
            <a:r>
              <a:t>BAI Work 的优势来自完整闭环，不需要依赖外部产品比较。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工程验证证据（建议 40 秒）
四个数字证明项目已有真实工程规模和自动化验证。
Mac Intel 是当前迭代主版本，其他平台保持同源构建和原生 smoke。
商业发布仍需正式签名和公证凭据，这一风险在路线图中明确。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目标用户（建议 35 秒）
首批用户是有真实本地项目、长任务和产物验收需求的个人与小团队。
BAI 生态用户获得的是持续桌面入口和项目交付工作面。
切入策略先验证高频留存与任务完成率，再扩展更广泛场景。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首批商业推广（建议 50 秒）
建议采用限量、半价、封顶、限时的受控补贴方案，而不是无上限降价。
优惠在用户绑定有效 API Key 并完成首个项目任务后激活，确保补贴对应真实使用。
用首任务完成率、七日活跃项目和付费转化率决定是否扩大 Cohort。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路线图与现场演示（建议 45 秒）
前四周解决发布级稳定性，第二阶段验证首批 Cohort，第三阶段再决定规模化。
现场演示严格控制三分钟，覆盖配置、过程、产物和安全边界。
每个阶段都用行为指标验收，而不是继续堆叠功能数量。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收束（建议 30 秒）</a:t>
            </a:r>
          </a:p>
          <a:p xmlns:a="http://schemas.openxmlformats.org/drawingml/2006/main">
            <a:r>
              <a:t>最后一句：简单不是删掉能力，而是把架构、配置和安全复杂度留在系统内部。</a:t>
            </a:r>
          </a:p>
          <a:p xmlns:a="http://schemas.openxmlformats.org/drawingml/2006/main">
            <a:r>
              <a:t>BAI Work 通过轻量架构、Token Economy、EBAI 和工程验证形成完整交付闭环。</a:t>
            </a:r>
          </a:p>
          <a:p xmlns:a="http://schemas.openxmlformats.org/drawingml/2006/main">
            <a:r>
              <a:t>下一步是稳定签名发布并用首批真实用户数据验证留存与单位经济。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f8632435964403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44072a3f6374a4b" /><Relationship Type="http://schemas.openxmlformats.org/officeDocument/2006/relationships/slideLayout" Target="/ppt/slideLayouts/slideLayout1.xml" Id="R7e2ab0ef7f3f4779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e2ab0ef7f3f4779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04a3f6ed64498b" /><Relationship Type="http://schemas.openxmlformats.org/officeDocument/2006/relationships/image" Target="/ppt/media/image.png" Id="R88c22d9376794fc4" /><Relationship Type="http://schemas.openxmlformats.org/officeDocument/2006/relationships/image" Target="/ppt/media/image2.png" Id="R8e00392ffff24c06" /><Relationship Type="http://schemas.openxmlformats.org/officeDocument/2006/relationships/notesSlide" Target="/ppt/notesSlides/notesSlide1.xml" Id="R6e7db5dbb70d4a7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ce47a162a44068" /><Relationship Type="http://schemas.openxmlformats.org/officeDocument/2006/relationships/notesSlide" Target="/ppt/notesSlides/notesSlide2.xml" Id="Rd3dfe14bf3f0495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fead99266e4e8e" /><Relationship Type="http://schemas.openxmlformats.org/officeDocument/2006/relationships/notesSlide" Target="/ppt/notesSlides/notesSlide3.xml" Id="R0b5dcad1ee9842a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5bcb3d8aad47e4" /><Relationship Type="http://schemas.openxmlformats.org/officeDocument/2006/relationships/image" Target="/ppt/media/image3.png" Id="R7067e0ddffe44093" /><Relationship Type="http://schemas.openxmlformats.org/officeDocument/2006/relationships/notesSlide" Target="/ppt/notesSlides/notesSlide4.xml" Id="R40db258431d5404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f88c1052174bd6" /><Relationship Type="http://schemas.openxmlformats.org/officeDocument/2006/relationships/notesSlide" Target="/ppt/notesSlides/notesSlide5.xml" Id="R4ae24dff72b14f7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24e60386a242f4" /><Relationship Type="http://schemas.openxmlformats.org/officeDocument/2006/relationships/notesSlide" Target="/ppt/notesSlides/notesSlide6.xml" Id="R00a3ce8c9f8c4b8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0e6a65bde9493f" /><Relationship Type="http://schemas.openxmlformats.org/officeDocument/2006/relationships/notesSlide" Target="/ppt/notesSlides/notesSlide7.xml" Id="R1173bb7f5ef3451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23230d61694ef6" /><Relationship Type="http://schemas.openxmlformats.org/officeDocument/2006/relationships/notesSlide" Target="/ppt/notesSlides/notesSlide8.xml" Id="R5cfeda941130411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782086dd544622" /><Relationship Type="http://schemas.openxmlformats.org/officeDocument/2006/relationships/notesSlide" Target="/ppt/notesSlides/notesSlide9.xml" Id="R23e2d763625642e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a0e0ce5beb41a3" /><Relationship Type="http://schemas.openxmlformats.org/officeDocument/2006/relationships/notesSlide" Target="/ppt/notesSlides/notesSlide10.xml" Id="R24e0fed59bf14b6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66bd346a9948d7" /><Relationship Type="http://schemas.openxmlformats.org/officeDocument/2006/relationships/notesSlide" Target="/ppt/notesSlides/notesSlide11.xml" Id="Rbc46c770880d4ec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b2500fd8734c4a" /><Relationship Type="http://schemas.openxmlformats.org/officeDocument/2006/relationships/notesSlide" Target="/ppt/notesSlides/notesSlide12.xml" Id="Rb96bbbefcfa049e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dc9c9ff7964939" /><Relationship Type="http://schemas.openxmlformats.org/officeDocument/2006/relationships/notesSlide" Target="/ppt/notesSlides/notesSlide13.xml" Id="R74d48f3ec451404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2b223f83464679" /><Relationship Type="http://schemas.openxmlformats.org/officeDocument/2006/relationships/notesSlide" Target="/ppt/notesSlides/notesSlide14.xml" Id="Rd6139b7b0f0749d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bdf90b6ce54c9f" /><Relationship Type="http://schemas.openxmlformats.org/officeDocument/2006/relationships/notesSlide" Target="/ppt/notesSlides/notesSlide15.xml" Id="R69ce391b9a28480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5282d201104212" /><Relationship Type="http://schemas.openxmlformats.org/officeDocument/2006/relationships/notesSlide" Target="/ppt/notesSlides/notesSlide16.xml" Id="R1dc61e049bd447a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ae00d89b0748a5" /><Relationship Type="http://schemas.openxmlformats.org/officeDocument/2006/relationships/notesSlide" Target="/ppt/notesSlides/notesSlide17.xml" Id="R2db978fdb7d345e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e8be6470e04930" /><Relationship Type="http://schemas.openxmlformats.org/officeDocument/2006/relationships/notesSlide" Target="/ppt/notesSlides/notesSlide18.xml" Id="R989d9e642ff44da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85e75494614fec" /><Relationship Type="http://schemas.openxmlformats.org/officeDocument/2006/relationships/image" Target="/ppt/media/image4.png" Id="R926c5f188d9a4b74" /><Relationship Type="http://schemas.openxmlformats.org/officeDocument/2006/relationships/notesSlide" Target="/ppt/notesSlides/notesSlide19.xml" Id="Rf98fa03a5cde409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C0E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89B3F76-A574-4D0A-9AA4-ADAFDF62D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0"/>
            <a:ext cx="52879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DB25FC2-501D-4322-B375-80708BB67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5744" y="475488"/>
            <a:ext cx="4754880" cy="5074920"/>
          </a:xfrm>
          <a:prstGeom xmlns:a="http://schemas.openxmlformats.org/drawingml/2006/main" prst="roundRect">
            <a:avLst>
              <a:gd name="adj" fmla="val 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c22d9376794f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68896" y="1500759"/>
            <a:ext cx="4608576" cy="3024378"/>
          </a:xfrm>
          <a:prstGeom xmlns:a="http://schemas.openxmlformats.org/drawingml/2006/main" prst="rect">
            <a:avLst/>
          </a:prstGeom>
        </p:spPr>
      </p:pic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7DA1849B-0584-40A3-896F-47523DCA8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8896" y="3678311"/>
            <a:ext cx="4608576" cy="84682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A64B761-AB3A-47E6-BA4D-432929594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1776" y="3973708"/>
            <a:ext cx="424281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BAI Work · 项目级桌面工作台</a:t>
            </a:r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71B8279A-DACF-40C8-967E-00E8A7AF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5650992"/>
            <a:ext cx="5287975" cy="1207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616A99D6-95D9-4134-8EE1-1982073BC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32918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7EC5C1"/>
                </a:solidFill>
                <a:latin typeface="Aptos"/>
                <a:ea typeface="Aptos"/>
                <a:cs typeface="Aptos"/>
              </a:rPr>
              <a:t>GENESIS HACKATHON</a:t>
            </a:r>
          </a:p>
        </p:txBody>
      </p:sp>
      <p:pic>
        <p:nvPicPr>
          <p:cNvPr id="3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00392ffff24c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1084955"/>
            <a:ext cx="5212080" cy="1359673"/>
          </a:xfrm>
          <a:prstGeom xmlns:a="http://schemas.openxmlformats.org/drawingml/2006/main" prst="rect">
            <a:avLst/>
          </a:prstGeom>
        </p:spPr>
      </p:pic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3A3EA62E-8A4C-4D3F-886F-BF647965C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651760"/>
            <a:ext cx="57150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项目级轻量 Agent 工作台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813227-40D8-48FF-B83D-62037AC17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364992"/>
            <a:ext cx="5623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C5CDD4"/>
                </a:solidFill>
                <a:latin typeface="PingFang SC"/>
                <a:ea typeface="PingFang SC"/>
                <a:cs typeface="PingFang SC"/>
              </a:rPr>
              <a:t>更短执行链 · 更小故障域 · 更清晰产物闭环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826F5F73-91B0-4002-8FED-1C1264D0C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22452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7D29A61E-412C-42FF-8118-16A6325E3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3367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30 秒路径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B5F638CB-09B6-4393-93D9-A70305D33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7128" y="422452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47F1F4E4-1AD1-4FC0-B6D4-59B175023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23367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单项目执行</a:t>
            </a:r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C9DBF50B-6DDC-4E17-B29C-C2183DDE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22452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4065EEBD-754A-4BE7-9FB1-790B431E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0" y="423367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Token Economy</a:t>
            </a:r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DEBFBEE6-7A10-4A1D-BB79-AEEF2BF1F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2744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BAC50695-7C44-4FDD-8345-2C0BE014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3659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EBAI</a:t>
            </a:r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D5D83D42-C5E5-4B00-A5CE-D69234E5F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7128" y="472744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B91D1707-7671-43FB-8DAE-BD78A3EB0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73659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三平台交付</a:t>
            </a:r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1D9E4101-1364-4944-AECC-83801F9E0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199632"/>
            <a:ext cx="2834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89939D"/>
                </a:solidFill>
                <a:latin typeface="PingFang SC"/>
                <a:ea typeface="PingFang SC"/>
                <a:cs typeface="PingFang SC"/>
              </a:rPr>
              <a:t>项目答辩 · 2026.07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36AC1F5-C28C-4F33-A170-F9D4DF72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912" y="5925312"/>
            <a:ext cx="42519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 API Key 到可验收产物</a:t>
            </a:r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AE8FC0B7-BDD7-483C-8EA4-E7F06DCE1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912" y="6291072"/>
            <a:ext cx="42519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C8D1D8"/>
                </a:solidFill>
                <a:latin typeface="Aptos"/>
                <a:ea typeface="Aptos"/>
                <a:cs typeface="Aptos"/>
              </a:rPr>
              <a:t>Mac Intel · Mac Apple Silicon · Windows x64</a:t>
            </a:r>
          </a:p>
        </p:txBody>
      </p:sp>
    </p:spTree>
    <p:extLst>
      <p:ext uri="{BB962C8B-B14F-4D97-AF65-F5344CB8AC3E}">
        <p14:creationId xmlns:p14="http://schemas.microsoft.com/office/powerpoint/2010/main" val="120898402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CECB8B8-F3D8-4508-A15D-C72C7F4A1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WHY BAI WORK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A171385-E4F4-4EDE-9C49-41EF06DF4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为什么需要 BAI Work：项目任务要求“连续交付”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B44D6A1-A707-486B-87A2-8D9C43365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6EA5961-FB63-4EB8-8F63-CEB4CD59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产品定义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BCC0C17-E066-4336-968C-B30F2202B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0122229-38EB-4FC4-B17E-283A7560E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36192"/>
            <a:ext cx="10561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真实知识工作不是一次问答，而是上下文进入、工具执行、过程反馈、产物审阅与后续复用的连续系统。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BA28A09-960D-4D3D-85A3-D39C2547E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395728"/>
            <a:ext cx="3456432" cy="2176272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5D5BB4D-3180-4720-805F-EAA075B14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2633472"/>
            <a:ext cx="502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D8644D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F8DAC540-F03A-4B30-8EBC-9000FD74B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090672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上下文割裂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F7C133D-5070-4288-9B30-A77B40EEB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657600"/>
            <a:ext cx="2971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项目、文件、版本状态与会话历史分散，重复传递成本高。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0EC53F38-665F-4DAB-B804-B77A4A260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696" y="2395728"/>
            <a:ext cx="3456432" cy="2176272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C5579C9-6961-41ED-A4E2-98CCED7A7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2633472"/>
            <a:ext cx="502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B87B1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753F68E-3D49-46D2-A033-0F04D97A1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3090672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过程不可观测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5D575C8-EE49-4439-9AC9-DDFEA0106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3657600"/>
            <a:ext cx="2971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长任务只有等待或原始日志，难以判断当前状态和失败位置。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6316E8ED-0630-4E60-A731-E229F1748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395728"/>
            <a:ext cx="3456432" cy="2176272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041B5E04-2E29-4745-B5AE-25926505A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633472"/>
            <a:ext cx="502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3559C7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160A74A-2232-41B2-9BCA-161858110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090672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交付不可验收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F4D90977-AEBE-4255-81CF-25EF823D4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657600"/>
            <a:ext cx="2971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回答与工具过程混在一起，产物、差异和验证证据缺少结构。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37D1FBBB-DDB2-419F-8245-3F5EB623D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074920"/>
            <a:ext cx="10076688" cy="841248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4694264-B74B-43B6-A9F1-8675AE6A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5230368"/>
            <a:ext cx="9582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BAI Work = 项目上下文 + 本地执行 + 可观测状态机 + 可审阅产物 + 受信任能力层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CE8F0A4B-E56F-4078-959B-09F8BB71E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产品原则：以任务到产物的闭环效率为主目标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49DDEB8-2A84-44F1-89F4-7FFF573DB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02 / 19</a:t>
            </a:r>
          </a:p>
        </p:txBody>
      </p:sp>
    </p:spTree>
    <p:extLst>
      <p:ext uri="{BB962C8B-B14F-4D97-AF65-F5344CB8AC3E}">
        <p14:creationId xmlns:p14="http://schemas.microsoft.com/office/powerpoint/2010/main" val="27895165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5E6B13D-C14D-4DE4-8ED8-ABAB8200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THIRTY-SECOND ONBOARDING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63C1387-5557-4D59-8C0D-1FE591B2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30 秒演示目标：API Key 进入，模型能力自动就绪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EAEFBEF-C4E0-459C-BBF1-6C7BF8C2A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4BC4DC0-78AE-4CE4-B786-03437B8B5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极简上手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3AF50A3-4924-4513-AADE-3810C8B06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8EE2B2D-06BB-4233-8916-DF0666A96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54480"/>
            <a:ext cx="98755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4656091-9661-4FC0-974D-5F0FF4781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63624"/>
            <a:ext cx="8412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现场路径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F3CD27EF-B2C1-45A1-8299-AF1A47EB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7293B62-F8C3-40BB-B180-084C9E046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0179E94A-ACEC-4EE7-B843-2CF5B0EE3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输入 API Key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3367E6F-3336-4EB6-8721-4523E2F3D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Main-Process Credential Isolation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EF4F7F93-973E-46F4-93C8-9BCCCA2CB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7527DAD1-0572-4F67-B893-C51B512C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7E26DEE-6C68-4390-8655-F5551645A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384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5580F86-321D-48CB-8D57-765997D62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384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探测服务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7146731-D099-43AD-9B2E-828C0581E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384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Endpoint Canonicalization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FE2999C6-FE81-41E0-A7B0-9317C2041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8032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BF5A3508-760F-44B1-94DF-93AD53576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0EA56631-4429-4E6D-BFC5-528D886FA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6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5CFF4EF-FA1C-461C-A55F-92E1A622E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6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拉取模型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7018FA3C-3E5B-497B-A381-1A09F44BD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6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GET /v1/models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C03A4EBA-D0F4-4594-BB22-1D76228AB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5744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929D174C-3F13-482E-9AB8-CAB447A43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BE338C68-0941-41DC-8F18-8CFA1D8B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96E18D9A-E891-4FED-933A-D9F3042FD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能力分类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A34F10E-3796-45C6-9F44-AACC5D9F5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Capability-Aware Discovery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792540D1-6B5B-434D-A88F-8D9DD2DB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A07F310A-CAE5-4F0A-9927-6F9946348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9216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77EC6C54-1B67-4299-B62F-25089E447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8D986AA5-BE33-41EB-8FA2-92BF4A956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保存并使用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79F4B52F-3284-4943-92E6-BBCDD69F3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Idempotent Set Merge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944FBBB4-77B1-4199-B3EB-5622FFA1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977640"/>
            <a:ext cx="6720840" cy="1600200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B7A8ACE2-AB4B-4457-9DC0-A17958881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224528"/>
            <a:ext cx="960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实现机制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C8AD4ED3-B37F-421E-9C50-3326A5585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29768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BB2EE246-3968-4B18-9925-C1CAD70A7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160520"/>
            <a:ext cx="4956048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凭据只在主进程中参与请求，避免渲染层暴露与跨域约束。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297F86A1-E195-4EC4-A3BF-0DFBB3EA4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72744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B452952B-8F63-48AF-9F2D-83081466C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590288"/>
            <a:ext cx="4956048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统一规范化 Base URL，8 秒模型列表超时与 10 秒连通性探测。</a:t>
            </a:r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6B37B038-C0E8-4668-A9B1-A72CCEA8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5157216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C2F73463-A9AC-41A2-8A89-0F5EFC6C4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5020056"/>
            <a:ext cx="4956048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去重模型 ID，按文本对话能力过滤，并与已有配置幂等合并。</a:t>
            </a:r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418F0BD8-C319-4C03-9C27-C676E2E2F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3977640"/>
            <a:ext cx="3886200" cy="1600200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65EF776E-4F3E-4649-A660-A306A7F08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6992" y="4224528"/>
            <a:ext cx="327355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用户感知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A93980AE-EDB8-4816-9BEB-74BA82AF4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6992" y="4617720"/>
            <a:ext cx="3273552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无需编辑配置文件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无需手工录入模型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无需理解运行时参数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A46748AB-7BA0-4EA6-8753-4BA37C742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925312"/>
            <a:ext cx="102870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实际完成时间取决于网络与 API 可用性；30 秒是典型配置目标，不是网络 SLA。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9FBA34E9-69F1-42CB-8828-CAA54CA2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实现证据：provider connection · model discovery · protocol URL normalization</a:t>
            </a:r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93B97CF7-010A-4851-B2A4-9D12583D8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03 / 19</a:t>
            </a:r>
          </a:p>
        </p:txBody>
      </p:sp>
    </p:spTree>
    <p:extLst>
      <p:ext uri="{BB962C8B-B14F-4D97-AF65-F5344CB8AC3E}">
        <p14:creationId xmlns:p14="http://schemas.microsoft.com/office/powerpoint/2010/main" val="92502191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7146CB-DFCB-4FF8-A237-3B36C62E8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DEMO STORY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F6FFCEF-C88B-4C63-8CBF-9BF446E74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现场演示：从一句任务到可验收产物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34A458A-1C6A-4ADC-8E34-198A37E72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E8C8432-990B-472A-B4EB-342EE1F1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用户流程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8BE373E-57AE-4B23-BEA8-714D61AC2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ECE1A37-1D1A-4F89-8DE0-486EA108B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1536192"/>
            <a:ext cx="6537960" cy="4462272"/>
          </a:xfrm>
          <a:prstGeom xmlns:a="http://schemas.openxmlformats.org/drawingml/2006/main" prst="roundRect">
            <a:avLst>
              <a:gd name="adj" fmla="val 16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pic>
        <p:nvPicPr>
          <p:cNvPr id="3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67e0ddffe440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6656" y="1670066"/>
            <a:ext cx="6391656" cy="4194524"/>
          </a:xfrm>
          <a:prstGeom xmlns:a="http://schemas.openxmlformats.org/drawingml/2006/main" prst="rect">
            <a:avLst/>
          </a:prstGeom>
        </p:spPr>
      </p:pic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4573920E-F206-493E-A2CE-1B6939425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4813030"/>
            <a:ext cx="6391656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0269CE0-F50D-4B6C-A344-CA82A6C3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10794"/>
            <a:ext cx="6025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BAI Work · 项目级桌面工作台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F0ACBBE-5E97-4A8F-98B4-D4C7BED62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1627632"/>
            <a:ext cx="96012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9565748A-2E7E-4579-A8E7-243A95B6C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944" y="1636776"/>
            <a:ext cx="8138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演示任务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D41F88CF-499E-4BDE-8232-A12489ED6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2011680"/>
            <a:ext cx="39776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“检查当前项目，持续展示推进过程，并交付可验证结果。”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474011E-1BEA-4F63-A483-024A293A1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2907792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184227E-49C8-4F21-9B46-4E995F49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2907792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8595C55-2AB8-4DE8-87AF-636F3466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2880360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选择项目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6289D57D-DFF9-4E29-8081-DC921CE0E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163824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项目、文件与版本状态进入上下文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8488A4B5-D8C6-4292-8006-49C66FF76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3630168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A9771B5E-8C53-4151-AE7F-AA79F2D28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3630168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1EFEAAF5-CF26-4129-A206-6EB0E9E23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602736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启动执行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AF7F4A59-8121-4ED5-B585-13C4DAC42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886200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规划、工具动作与等待状态持续可见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A961009F-81ED-4C8D-B68B-FF2563113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4352544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04066098-DB83-4D15-8718-8D9861DD6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4352544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F83B1D2-0196-4360-9F2D-7903606D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325112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审阅结果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961B844-E305-40F1-8B95-EB37EB191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608576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回答、产物、差异与验证证据分离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E5BB8A4-B992-488A-BDE6-3616FCC02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5074920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64D5C10-30F7-4B9C-94A1-9246388A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5074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321C33F0-B520-458A-88AA-6BA4A918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5047488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沉淀能力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4FC54BDA-3AA4-4395-9AB6-B4DA53FA4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5330952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规则、技能与记忆进入后续任务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98476478-D5EC-4029-85A4-7077018A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现场演示使用当前 Mac Intel x86_64 构建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D12E6EB8-50BC-4050-9DFD-63EA96CEC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04 / 19</a:t>
            </a:r>
          </a:p>
        </p:txBody>
      </p:sp>
    </p:spTree>
    <p:extLst>
      <p:ext uri="{BB962C8B-B14F-4D97-AF65-F5344CB8AC3E}">
        <p14:creationId xmlns:p14="http://schemas.microsoft.com/office/powerpoint/2010/main" val="12196753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C11BF27-CD04-4CDC-916F-8739F59B0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PRODUCT COMPLETENESS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700EF4E-43BD-43B0-9DCC-7F7A47FD1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产品完成度：一个工作面覆盖完整任务生命周期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476F3EB-EBE3-43F5-9B7C-6F4CAEE05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D458956-03C9-4D90-893C-BD1B83A77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产品能力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C1AD914-D889-4D9E-B051-C512FB15D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1A888A5-9946-4B60-A7B7-7C34CA370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D53F1A5-2CCE-4FE3-B3D8-35089AED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288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EDDED3D-42D0-474A-968A-7AA662D16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18013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项目与会话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626C549-0DD8-4741-BF3B-72347D92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585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Workspace、历史与版本上下文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383E2534-C457-4198-9183-D725CFA8E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6642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486E46A-B230-4912-9082-78266093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18288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8F153AB-FEF9-4DB6-ACBB-0CABECCC2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18013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模型与服务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660B95E-CDA5-4858-B30C-4603CD4B0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2585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BAI 默认与标准兼容协议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AC3B3A94-F043-4F98-967F-7D039EBB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16642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54AE688-B91A-4D4D-9FF3-3F4F7B3E1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18288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4C5ECE4E-45E0-46FA-8D4B-3B9F9B157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18013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实时进度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FA12378-A42C-4512-ADD9-7D08CF95A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22585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步骤、工具摘要与错误恢复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ADE7521F-1CAF-462C-82F9-C6170F16E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0358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0FDE8683-22AC-4D4C-87C4-6C62BA77B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2004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C22082E-F773-44DD-96A2-410323CD5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1729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文件与产物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664BE157-2AA7-48FB-B4C2-762968700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301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引用、预览、差异与文档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B505862B-32F6-4429-B755-B1375AD81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358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94FD894-ABC7-4AF0-BD4D-5FBA55949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004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7F00B32-BD7B-4537-8A4B-7153FEA3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31729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长期记忆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7296A1CB-4B25-4CA1-A192-F5F7275F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6301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用户、工作区与项目作用域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C8873658-973D-4AC7-8BE8-25A736BC1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0358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D32ECDF0-5319-44D3-8524-028F2494A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32004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EBA969CF-2591-407D-A299-8E7C8F79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31729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产品能力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8E8C6159-D483-4108-BD2E-A1D33DE8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36301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EBAI 命令、技能、规则与自动化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297F7FB3-9148-487C-B247-1882D2CD7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617720"/>
            <a:ext cx="10863072" cy="1298448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D2ECF98F-E1B4-4620-99A9-30E1A18D2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559C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67E42DAE-1F93-40C8-8F6B-345AF79D2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桌面目标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F11CADFA-DB47-403C-917C-28192E0C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mac-x64 / mac-arm64 / win-x64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33D0FDE0-D6FC-4D79-ABDA-2888F4D72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2B7A78"/>
                </a:solidFill>
                <a:latin typeface="Aptos Display"/>
                <a:ea typeface="Aptos Display"/>
                <a:cs typeface="Aptos Display"/>
              </a:rPr>
              <a:t>168</a:t>
            </a:r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9DD51ED8-CBA7-44B7-B8FA-C9ECE5D40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测试文件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B5646B81-7BB3-4E7B-8540-B71EFDE93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main / runtime / renderer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8683A959-44FF-4723-91E0-F83AFBF7B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B87B16"/>
                </a:solidFill>
                <a:latin typeface="Aptos Display"/>
                <a:ea typeface="Aptos Display"/>
                <a:cs typeface="Aptos Display"/>
              </a:rPr>
              <a:t>/v1/*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D8653A8A-A488-4084-8290-59C49F8F4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本地服务边界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1EC5ECD4-EFCC-422E-87DC-F244107A9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稳定桌面接口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8A627912-3992-40AD-9E9C-5EED5A80F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D8644D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775F0AE5-09C0-4431-AAF3-6D4E8B294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EBAI 能力形态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67B7579E-60CA-4463-AB69-D98E49CCF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Command · Agent · Skill · Rule · Hook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BA8BF225-CA12-46D6-B1B0-191C6876E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9775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D9BC98F2-C06D-47EC-8DC7-04F93E3A6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连续工作流</a:t>
            </a:r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FFC8C252-8C58-4BB3-B7A0-FF16724C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任务到产物再到复用</a:t>
            </a:r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2B2A5413-4759-4E02-B253-681DDC5F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当前实现证据：README · runtime adapter · EBAI capability tests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1886946A-3097-4B57-B885-2C45AD28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05 / 19</a:t>
            </a:r>
          </a:p>
        </p:txBody>
      </p:sp>
    </p:spTree>
    <p:extLst>
      <p:ext uri="{BB962C8B-B14F-4D97-AF65-F5344CB8AC3E}">
        <p14:creationId xmlns:p14="http://schemas.microsoft.com/office/powerpoint/2010/main" val="20522580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D60A4EE-954F-48C3-93BC-06DAFD2A3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LIGHTWEIGHT RUNTIME ARCHITECTURE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07C4919-511D-499C-8F00-7921C1E3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技术实现：单一 Runtime Host 收敛桌面复杂度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4BD815B-80BA-43BC-BE43-BEE017C9B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47D68EC-1441-4F7B-B021-02237B50E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系统架构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F357C91-E0A2-4252-B401-24C45A068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DCDFC25B-E67F-44D8-9F0C-DC2D67A24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EAF5210-BF75-41CD-8130-C3EE0266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Renderer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A923B69-7D2E-4CE0-B231-02A91940F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工作台 UI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会话 / 设置 / 审阅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CE45EF3-3E90-4D25-A50F-53FC8E8C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2888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56808D7-9409-44D7-A89F-AFD1AE02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936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13D4B1A-3337-4D64-91B1-352D8F552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6664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Preload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58EB310-262E-48ED-AF70-09E8556A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952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最小 IPC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受控桌面能力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EE5D46A3-D343-4203-B4FC-EEDF38AD2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456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8AB304F2-DB1B-40BB-AA25-D002620C5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1A610FF-7C1F-4D73-BF0C-BB3452EE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5232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Main Host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246E92DF-A5A8-4C3A-9563-5470D04C6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凭据 / 文件 / 生命周期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单一运行时入口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9481D604-5380-4661-8BAD-25871EB2D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769D1D4A-40B7-419F-9DE3-F943F775A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8C5F49E-AE87-45BD-AF7B-398FF1025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Loopback API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A4C9769-FA97-4C5F-8A88-B30185EC1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88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稳定 /v1/*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SSE 事件边界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8E304559-8646-411A-A742-5FC3EDE38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8A79B2A6-0147-46CD-A829-B77E05DFF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070EE488-90FC-4647-B38D-1A526AECD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BAI Code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12E245A-D5C9-419D-B149-C778050C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656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模型调用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工具执行 / 上下文压缩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9FE33337-F098-4268-8DB2-EF96AC7D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078224"/>
            <a:ext cx="6903720" cy="1298448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74A10744-D84A-40F9-BEA4-37688B5E2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315968"/>
            <a:ext cx="9326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协议隔离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3662ECC5-1F8C-44B3-8274-CB92A56A6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4251960"/>
            <a:ext cx="5330952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上游 CLI 与服务契约的变化只进入 Runtime Host；Renderer 始终面对稳定的本地事件模型。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6DB031A2-0274-44F2-8B70-C622091D9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828032"/>
            <a:ext cx="62636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结果：运行时可替换、桌面流程连续、错误可清洗、测试边界清晰。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7B073063-DF9C-4419-99B3-827C8D93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4078224"/>
            <a:ext cx="3703320" cy="1298448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7D8F1B6A-5E6A-41C6-BD8D-D7C5F92A3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4315968"/>
            <a:ext cx="309067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轻量拓扑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8A304B49-5939-4E2C-B07F-6AB5A102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4645152"/>
            <a:ext cx="309067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单进程主机 · 本机回环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项目级状态 · 最短交付路径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4EE52739-F517-43D4-964B-008667EF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实现证据：runtime host · preload IPC · streaming adapter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81CAE5C2-E2E5-4F29-9897-90BC629C4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06 / 19</a:t>
            </a:r>
          </a:p>
        </p:txBody>
      </p:sp>
    </p:spTree>
    <p:extLst>
      <p:ext uri="{BB962C8B-B14F-4D97-AF65-F5344CB8AC3E}">
        <p14:creationId xmlns:p14="http://schemas.microsoft.com/office/powerpoint/2010/main" val="18488828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3DB24B6-DBB4-4498-921D-1465371A9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RUNTIME DESIGN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54CAABC-CB3A-48D7-B810-C2AB3073F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架构选择：把复杂度收敛到项目级 Runtime Host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ABA7FDD-C45E-4D16-AE27-B9388A9FE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00E0BCB-B537-4FE4-9FA6-7B057D609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架构优势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4DC5FA4-77C5-4071-A134-CD6D95DF3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5A8722B-41CE-487C-9B0D-45F1BECD1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517904"/>
            <a:ext cx="101498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系统复杂度集中处理，交付证据持续回到当前项目。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C395831-0CC4-4E88-BD59-E1C899238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29968"/>
            <a:ext cx="5230368" cy="3493008"/>
          </a:xfrm>
          <a:prstGeom xmlns:a="http://schemas.openxmlformats.org/drawingml/2006/main" prst="roundRect">
            <a:avLst>
              <a:gd name="adj" fmla="val 2094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31D6485-D452-4681-9BB2-ADF8598DF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18288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27313A"/>
                </a:solidFill>
                <a:latin typeface="Aptos Display"/>
                <a:ea typeface="Aptos Display"/>
                <a:cs typeface="Aptos Display"/>
              </a:rPr>
              <a:t>控制边界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86CC5B4-0959-4454-BEE2-2D369FC71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5072" y="2313432"/>
            <a:ext cx="14813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267D09D-A129-4D72-A6FF-B35F9C2ED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8224" y="2322576"/>
            <a:ext cx="13350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Runtime Host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63168497-E0ED-44BB-9279-9CE5DFB4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08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DCFA64AB-FE7A-4137-A101-961907978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85292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凭据、协议、文件访问和生命周期集中在主进程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8C6AABB5-6B2B-4383-898C-D31C0F280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387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2C2FFBA-7E08-4C62-BA61-E4521B280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0156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上游变化只进入适配层，不扩散到工作台界面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E5C9713A-6E63-4C16-A5AF-CA594C686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8736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6CAE598-F4E7-414E-95FB-F561DE497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95020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本机回环服务与稳定 /v1/* 构成清晰边界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F503D140-FFAB-4382-9847-BDC2A5D68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360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01F010C-0CD5-49D9-9400-006D3D7B4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49884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错误清洗、重试和事件归一化共享同一入口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6F733699-F35B-495A-9607-2AE1BB6E9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029968"/>
            <a:ext cx="5230368" cy="3493008"/>
          </a:xfrm>
          <a:prstGeom xmlns:a="http://schemas.openxmlformats.org/drawingml/2006/main" prst="roundRect">
            <a:avLst>
              <a:gd name="adj" fmla="val 2094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94B1DC5D-9130-4D75-8A19-9A13572AF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286000"/>
            <a:ext cx="19202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2B7A78"/>
                </a:solidFill>
                <a:latin typeface="Aptos Display"/>
                <a:ea typeface="Aptos Display"/>
                <a:cs typeface="Aptos Display"/>
              </a:rPr>
              <a:t>交付数据面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3F656982-DAAE-4A3C-AF35-8F6AEAF9A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13432"/>
            <a:ext cx="14813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438FA255-2261-4C67-A109-DC7DC33CE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352" y="2322576"/>
            <a:ext cx="13350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Workspace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AA7B1A58-4289-4236-94CF-AB1453D03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99008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9DAF78DC-91A0-4865-94A6-45D7A1852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285292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上下文、任务状态、权限与记忆围绕项目收敛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7854A7E3-1998-4674-9622-EB49597F1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35387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670A0EBC-B9C5-4746-9D97-D90253B49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340156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工具动作、等待、错误与完成进入统一时间线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1DD06951-5F01-4287-818D-3743A7619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408736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28E06F0-590B-4BC7-8A08-66636E995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395020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回答、文件、差异、截图与报告分区呈现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CFE01C4E-1733-49CA-BCCC-8A2126D23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46360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015AE297-5670-4A28-831C-71C8B69E2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449884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文件、测试、构建和运行证据共同完成验收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2357B33B-8AD0-4541-B023-44AE65CA8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79008"/>
            <a:ext cx="9902952" cy="475488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26B5A987-4E85-4A49-BE7A-8A13DC760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5852160"/>
            <a:ext cx="94823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Workspace Context → Runtime Host → Event Stream → Deliverables → Verification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EC879536-C659-4DFE-B95A-7168851F4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实现依据：runtime host · streaming adapter · project-scoped state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B8660639-A3AF-466F-A63C-888597958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07 / 19</a:t>
            </a:r>
          </a:p>
        </p:txBody>
      </p:sp>
    </p:spTree>
    <p:extLst>
      <p:ext uri="{BB962C8B-B14F-4D97-AF65-F5344CB8AC3E}">
        <p14:creationId xmlns:p14="http://schemas.microsoft.com/office/powerpoint/2010/main" val="207880700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8872956-50D9-471F-8687-46A63A7D2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RUNTIME OBSERVABILITY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D39F35D-B249-48CC-9530-8E4CFCB78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可观测执行：把长任务转换为确定性状态机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E717799-2644-4A1E-92CF-1322CBC0B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709A5CD-E09E-4C48-92E2-27F7FA81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过程体验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BA0AC52-E44D-421B-B655-7E411B191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3CB6558-3086-4A1C-976E-75CC15BEA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8382E8D-AC6C-4CEB-8B25-51B64FADF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输入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9FA9DC4-3AB6-4EEA-B741-9E20614BF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目标与约束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2D66045F-563E-4874-BCC8-4B70E652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1992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ED07D84E-F535-4B2C-A811-975FAA679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F631D18F-23C3-46E9-9926-AA5B8142D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4328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事件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E715344-479A-4845-80A8-472041585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4328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流式运行时输出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FB60B839-1BD3-4DB6-B2DC-BE39FB832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3944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C2E0EB5F-D56F-4605-81AD-5AD94D06D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444F1B9-6F7F-4DB9-934D-C5B76D9A9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归一化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F06CC2D-C065-4549-A90F-66915225B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去重 / 分类 / 清洗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BC92669F-EDB0-48C3-8B86-E7D5F3EC2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5896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A8C27809-AF66-4523-B063-BD410A407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41180C1-34F8-4824-889E-50BAD01F5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8232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时间线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DA01F1B-0D0A-4C5A-ACA2-0F84826D8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8232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步骤 / 工具 / 等待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E84DA2A7-8E70-4121-B336-9DE6AD51E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848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C1D12FE3-848C-4F7F-A8E1-1F51D5667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B5B93C8-769F-4EBF-A552-8E920A091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84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交付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D37F30B0-234C-47B1-94D7-7F0A404AC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84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摘要 / 产物 / 验证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3D6629B1-8220-48F0-9CB8-FA8906FD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82E0DD59-8D59-4F5F-99C8-BBB58AA4F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2408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9D27EF31-D660-412E-80F8-21067330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2136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用量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1C1928AF-FF07-4E4E-A89D-28FA90490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2136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可得则展示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640508CA-434C-4B34-A60D-AE7D460B9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0128"/>
            <a:ext cx="1325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原始输出问题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0CE2225A-2A11-40CE-BA08-E17F960B8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639312"/>
            <a:ext cx="52120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1DEDE"/>
          </a:solidFill>
          <a:ln xmlns:a="http://schemas.openxmlformats.org/drawingml/2006/main" w="12700">
            <a:solidFill>
              <a:srgbClr val="F1DEDE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DE2A5367-179C-4CC9-B6F0-96594C586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913632"/>
            <a:ext cx="4663440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工具语法与状态句混排</a:t>
            </a:r>
          </a:p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连接错误堆栈污染聊天</a:t>
            </a:r>
          </a:p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长时间无反馈，最终整段堆积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8F49AC0F-20B1-4AE7-94F0-4B79E7EE5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3310128"/>
            <a:ext cx="1417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BAI Work 呈现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3AB9F167-90E4-4BD0-9109-0B129DA3A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639312"/>
            <a:ext cx="52120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944A05E5-4504-4B1B-A22D-56718AFAE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913632"/>
            <a:ext cx="4663440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正在检查工作区 → 已运行 6 条命令</a:t>
            </a:r>
          </a:p>
          <a:p xmlns:a="http://schemas.openxmlformats.org/drawingml/2006/main">
            <a:pPr marL="0" indent="0" algn="l">
              <a:buNone/>
            </a:pPr>
            <a:r>
              <a:rPr sz="14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连接中断：可重试并保留有效上下文</a:t>
            </a:r>
          </a:p>
          <a:p xmlns:a="http://schemas.openxmlformats.org/drawingml/2006/main">
            <a:pPr marL="0" indent="0" algn="l">
              <a:buNone/>
            </a:pPr>
            <a:r>
              <a:rPr sz="14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完成后只留下结论、产物与验证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1F62DC66-592E-493E-A40A-93F34AF9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5532120"/>
            <a:ext cx="8119872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E44D836E-04A0-4F62-8442-2E9563409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9424" y="5614416"/>
            <a:ext cx="76809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只展示可验证状态，不暴露模型内部推理；Telemetry 缺失时显示不可用，不伪造零值。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7F87D2F5-45BB-4A98-BF2F-9FCDE4290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实现证据：stream normalization · progress timeline · failure sanitization tests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4164E7AC-EEF9-4E19-8746-1B959FF6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08 / 19</a:t>
            </a:r>
          </a:p>
        </p:txBody>
      </p:sp>
    </p:spTree>
    <p:extLst>
      <p:ext uri="{BB962C8B-B14F-4D97-AF65-F5344CB8AC3E}">
        <p14:creationId xmlns:p14="http://schemas.microsoft.com/office/powerpoint/2010/main" val="193798471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A4A4825-37E7-4CE1-A7C4-BA0E000CC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CONTEXT BUDGET CONTROL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A6835F7-0293-471E-A061-C62626D3C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Token Economy：先建立可配置预算，再谈节省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1DAB91F-8DC8-43C5-8594-4112CD32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7023573-DDEF-4447-B60F-230441BAF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上下文控制面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7CCAF1D-9BE2-42D8-BCB2-B52C6E882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BDEBB94-5FF4-4E72-9FEB-C93223F55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3977640" cy="2084832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72F2B2E-BA00-4FAA-B018-E702FA39F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938528"/>
            <a:ext cx="34290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2BE73"/>
                </a:solidFill>
                <a:latin typeface="PingFang SC"/>
                <a:ea typeface="PingFang SC"/>
                <a:cs typeface="PingFang SC"/>
              </a:rPr>
              <a:t>请求预算 ≠ 删除聊天记录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0B4C3BF-243C-4937-B71E-3DAC8753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505456"/>
            <a:ext cx="342900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本次请求受限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C43A43F-654C-477D-9073-2C0D4F975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127248"/>
            <a:ext cx="34290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C8D1D8"/>
                </a:solidFill>
                <a:latin typeface="Aptos"/>
                <a:ea typeface="Aptos"/>
                <a:cs typeface="Aptos"/>
              </a:rPr>
              <a:t>原始历史保留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9B3AE43B-8ACC-45CA-A0C3-8F45C049A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1664208"/>
            <a:ext cx="6565392" cy="2084832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279A9D6-6E4C-4F96-BD06-1763CC83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1938528"/>
            <a:ext cx="60167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History Hygiene 默认预算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C78A7F1E-E6A5-4F63-93B6-A2B0566C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2542032"/>
            <a:ext cx="153619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1D54B8E-3BFA-44FC-A059-68A9B208E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551176"/>
            <a:ext cx="13898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320 行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43BE904-F6A3-4D3A-B60C-136571BF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2999232"/>
            <a:ext cx="15361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单次工具结果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113E8026-7E8C-40C9-8A95-1790C396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542032"/>
            <a:ext cx="153619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597C878-F18F-4469-A77C-5FC159A0C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472" y="2551176"/>
            <a:ext cx="13898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32 KiB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33FC0C21-7558-45EB-AD72-C64EB7DE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999232"/>
            <a:ext cx="15361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结果字节预算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3BC1A6AC-623E-49F7-AEAF-CBCACBFEC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53619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03727AE3-FEDA-462E-BE18-1898411ED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2551176"/>
            <a:ext cx="13898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8K tokens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F6632538-A38D-4FBC-AC01-04BAE7529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99232"/>
            <a:ext cx="15361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结果 Token 预算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7D581AD7-E1A8-415C-A40E-50D16B95B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160520"/>
            <a:ext cx="10863072" cy="1353312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F3AE1AF4-B66F-479B-93EE-6C1389D5A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425696"/>
            <a:ext cx="10515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控制契约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8C220F87-C9C1-472B-A0A6-A8F9B68C2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4489704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57560460-DCFF-4C18-A637-568574BD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4352544"/>
            <a:ext cx="8823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工具参数字符串默认 8 KiB / 2K tokens，数组默认最多 80 项。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C767D10C-63E0-4D6F-8490-925954D58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4873752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A3F6908F-B3E7-47BC-BC57-E27D2A3B1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4736592"/>
            <a:ext cx="8823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共享类型、IPC schema 与 normalizer 共同限制非法或失控配置。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690C5C5E-D66A-42E1-B6E2-5C0F198FC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25780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419813B4-17A5-44BA-8FE3-A0F2BDA57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5120640"/>
            <a:ext cx="8823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设置层保留压缩工具描述、工具结果和简洁回答的独立开关。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10418C86-5A48-4EB8-AE34-4AF218FD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5852160"/>
            <a:ext cx="9601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遥测不可用时明确显示 unavailable，不把缺失数据包装成“节省 0%”。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4516DAE8-E8E8-41C2-A543-1AE275D7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实现证据：app settings · IPC schema · normalizer · usage telemetry guards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0951D8A4-12D4-41EE-BBF4-1351593B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09 / 19</a:t>
            </a:r>
          </a:p>
        </p:txBody>
      </p:sp>
    </p:spTree>
    <p:extLst>
      <p:ext uri="{BB962C8B-B14F-4D97-AF65-F5344CB8AC3E}">
        <p14:creationId xmlns:p14="http://schemas.microsoft.com/office/powerpoint/2010/main" val="1934891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3D9E006-3767-47E8-9EE4-B164171EB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CONTEXT GOVERNANCE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FFF0150-7023-4ADD-981D-B88514D78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双层上下文治理：历史卫生 + 压缩配置契约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F967F4A-A435-430D-AA40-557BD38D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FCD810C-303C-44CE-8D39-1C2A397C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控制参数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3141054-B5C9-425E-AFD6-958BB6572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B4054D69-EDC0-4FFD-B0F5-22EE9E829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1086307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71CE9FC-37A9-4429-9193-A446A38A6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1810512"/>
            <a:ext cx="5669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AC33012-7308-44FD-9AC3-07B77D934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1819656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L1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F4E7450-4E63-4769-8ACA-F5B829193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1792224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History Hygiene / 工具结果预算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A01B324-36E0-456D-B38F-C88B3D3CE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2221992"/>
            <a:ext cx="3291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默认：320 行 · 32 KiB · 8K tokens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881764A-F237-4351-AC3A-D5355001D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1792224"/>
            <a:ext cx="3749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定义工具结果上限；原始聊天记录保持不变。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17D1588-DBAB-4F5E-A2A7-504730999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56232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控制输入放大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183766E4-7941-4BDD-91C4-5328B857F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017520"/>
            <a:ext cx="1086307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059349AB-BADF-40F5-AA22-586EDD316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200400"/>
            <a:ext cx="5669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796BBD6C-4F46-495E-BDBD-108B6F5A9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3209544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L2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24FBA300-7594-4C85-90F5-093DBA4B4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3182112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Tool Argument Guard / 工具参数预算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3461BF94-7777-4EC8-9892-E34C096B6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3611880"/>
            <a:ext cx="3291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默认：8 KiB · 2K tokens · 80 项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D82F2907-4192-4510-A284-DF0A8C71A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3182112"/>
            <a:ext cx="3749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约束长字符串与数组展开；输入边界由 schema 和 normalizer 校验。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E3E3585-8A9C-4994-9851-8621ED86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4612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降低结构冗余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79F92336-4456-449B-8142-D62B49FEC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407408"/>
            <a:ext cx="1086307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E7CB2537-1497-48B0-806B-8419B9548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590288"/>
            <a:ext cx="5669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F0C16394-A542-403A-8135-AF007F234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4599432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L3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D7765F1-74CC-41C7-A65C-C749FA7C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4572000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Context Compaction / 摘要配置契约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95797570-2958-433C-96D2-0C07C67BA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5001768"/>
            <a:ext cx="3291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默认：软阈值 16K · 硬阈值 24K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A5B1808C-E7C8-464B-94FF-E70A86115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4572000"/>
            <a:ext cx="3749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启发式摘要；15 秒超时；摘要上限 1,200 tokens；输入 96 KiB。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07A4623-C4FC-4820-9442-F15A2420F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36008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为运行时留出空间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EEBCC6BE-7938-4CA3-850E-36B8C98F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70448"/>
            <a:ext cx="10863072" cy="36576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244FAFDD-317B-454F-A1B0-FDB0BABE1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925312"/>
            <a:ext cx="103784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证据边界：这是可配置控制面与压缩配置契约；实际节省量只在后端提供遥测时展示。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C3A4B7D2-7114-4714-9EEC-5E733DF9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实现证据：history hygiene defaults · compaction settings · validation bounds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E3CC8256-42A2-4E70-AAF2-354B6E485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10 / 19</a:t>
            </a:r>
          </a:p>
        </p:txBody>
      </p:sp>
    </p:spTree>
    <p:extLst>
      <p:ext uri="{BB962C8B-B14F-4D97-AF65-F5344CB8AC3E}">
        <p14:creationId xmlns:p14="http://schemas.microsoft.com/office/powerpoint/2010/main" val="106227060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AE4B601-4373-4F1A-A2C6-77B759589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EBAI PRODUCT CAPABILITY SYSTEM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BCC3B34-DCD2-4EFA-B3D5-57CA899B8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EBAI：BAI Work 面向用户的能力体系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24D0D28-6928-4079-AA33-35F03094A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8B9C9D5-2263-4D67-9527-4A85C1BC2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产品能力层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1826BE9-74A1-4F2F-A35E-05B5A85B2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648A845-05AE-4C01-8037-D320295A2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CC24DE1-AE44-41C0-8139-C1A885C84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EBAI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E691904-63AE-43E9-B9FA-28A606CA7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能力随应用呈现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统一产品身份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E48AE584-9115-4C1A-8F00-88A9FF16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72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1DEDE"/>
          </a:solidFill>
          <a:ln xmlns:a="http://schemas.openxmlformats.org/drawingml/2006/main" w="12700">
            <a:solidFill>
              <a:srgbClr val="F1DEDE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BC76A56-018B-4CA1-BFD5-7986E05FC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6312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A44747"/>
                </a:solidFill>
                <a:latin typeface="Aptos"/>
                <a:ea typeface="Aptos"/>
                <a:cs typeface="Aptos"/>
              </a:rPr>
              <a:t>Commands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FD1F6A8-FA98-4756-BBD8-C3C8A8A0D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项目命令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运行时可加载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9B3EA0EC-185B-4AF9-9223-E40FF6F4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24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A6A9614-3E4E-4DB8-94A5-B2011C1C9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8264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Agents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23AC1AE7-F261-45FB-A48B-182B6FCC9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专业角色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以命令工作流接入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1FF25C67-FEA7-452D-A4EF-580680EB1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8776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EE0A42C0-70BC-4DC6-99E7-21EFE3060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216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Skills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3E045CE-1FAB-443F-A742-37EDB2187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任务方法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运行时可加载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0D8EDC2E-1E8E-41BF-995F-BBE14DC15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0728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33596BBE-6303-41A5-9F05-1F58E5D6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2168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Rules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335FBD9-3E3E-40BD-849E-B3899CDC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行为约束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以 Skill 指令接入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F803B0CF-F2FC-4FE9-B7AD-D41F3AE1A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2680" y="1810512"/>
            <a:ext cx="1554480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34C78FF-B116-4005-ABDB-233EB2AEF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4120" y="2029968"/>
            <a:ext cx="1371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Hooks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D4365CAC-3DE4-43A5-A89D-3037E262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2408" y="2542032"/>
            <a:ext cx="1335024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自动化契约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Manifest 已生成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17C8A24C-0421-4920-A853-64082EA45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94760"/>
            <a:ext cx="5212080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73E9A21D-2AB2-4F01-ABA7-290CC2EE9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059936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6172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用户可用能力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1F252332-F9A9-49FD-AA12-27F22D056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4123944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374AB403-065D-4EB9-86FB-50064022C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986784"/>
            <a:ext cx="347472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命令、技能与规则进入任务上下文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D6580246-3F6C-446A-9807-93F50A7C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4517136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97CF5B0B-5D3C-4356-A68B-9BE22236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379976"/>
            <a:ext cx="347472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Agent 以专业命令工作流对用户呈现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0FE90188-B991-44B8-A9E3-CB6498F20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49103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2DDE6BFE-6281-4619-8818-1579CECC0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773168"/>
            <a:ext cx="347472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Hooks 保留能力定义，执行契约待 Runtime 支持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1E578235-5A52-46A1-AC6B-FE46AC293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3794760"/>
            <a:ext cx="5376672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885B421B-D53E-4691-91EF-8983FD58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4059936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当前状态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51A82688-8206-4EB4-86D1-21E9526A1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3950208"/>
            <a:ext cx="3584448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Commands · Skills：安装后可加载</a:t>
            </a:r>
          </a:p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Agents：命令化接入</a:t>
            </a:r>
          </a:p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Rules：Skill 化接入</a:t>
            </a:r>
          </a:p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Hooks：默认关闭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525E4250-83E6-4C2B-AAB8-6993C52E6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5797296"/>
            <a:ext cx="9966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这些能力就是 BAI Work 的产品能力；来源与安装只属于内部交付方式。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4A81D812-85D5-4A26-8E8D-F6C9207E6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实现证据：runtime instruction loader · component install tests · hook manifest guard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58D0CD19-6381-4D0B-8534-E32C73359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11 / 19</a:t>
            </a:r>
          </a:p>
        </p:txBody>
      </p:sp>
    </p:spTree>
    <p:extLst>
      <p:ext uri="{BB962C8B-B14F-4D97-AF65-F5344CB8AC3E}">
        <p14:creationId xmlns:p14="http://schemas.microsoft.com/office/powerpoint/2010/main" val="12486894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36595F7-2E09-447C-860C-8DAE1577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HOOK CAPABILITY BOUNDARY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BC01419-F203-481D-9101-A31743DEB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EBAI Hooks：能力已纳入产品体系，执行仍服从 Runtime 契约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BB43C63-BD46-4CB8-9A8B-67D73D889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60996AD-2C59-4FA9-A9FF-EEB2A79E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能力边界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5796ED6-DD10-4631-AEA2-BAB6125ED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A9E3C43-6972-4722-8810-E9CC52437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4983480" cy="4315968"/>
          </a:xfrm>
          <a:prstGeom xmlns:a="http://schemas.openxmlformats.org/drawingml/2006/main" prst="roundRect">
            <a:avLst>
              <a:gd name="adj" fmla="val 16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20E87B6-A60F-4E08-A873-86B64A8BA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74520"/>
            <a:ext cx="2011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Hook 能力模型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E19FA20-2743-4BB2-83CA-6CEF4961F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3957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消息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65398AAF-7FA2-42D7-9FC7-FCDAA21B3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25237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EDEDDE0-D2A0-4B6D-A2BE-5F01B307E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23957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message_submit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1AE2056-E6A6-46FA-8DAE-471041D69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529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会话开始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6D71B61B-8696-4622-9DF0-C4E90F346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29809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448A036-2D8A-49B4-A1A0-78E8E115A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28529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session_start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F112202-C79F-41CB-A5FF-08850EBFB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101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工具调用前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108A2BEF-000E-47E2-BCE7-F963875C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34381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8C65D93-FBC8-44F5-B199-E376EC95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33101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tool_call_before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E0B20C0-18E8-4021-B3A1-D000D2DF8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673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工具调用后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86E39ECB-9208-4CF8-AC08-DDF900F6E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38953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BF4F6AE-BFE4-438B-849F-1D120E0CD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37673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tool_call_after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B922490E-904D-4C86-8354-FC58C0749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245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轮次结束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7D8D76C7-961E-49BA-90E4-16A9C146D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43525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FF755E00-B58D-4E72-88BA-2A57EC079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42245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turn_end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2AF46A8-B10C-488D-9546-AA7F5D345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817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会话结束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B77927CF-994B-4F7C-9858-553B2D1A7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48097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D402B50-FB5D-451C-A3D5-99CC6E6B6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46817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session_end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7E19FC4C-7A71-4567-AF22-2509E513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1888" y="1627632"/>
            <a:ext cx="5559552" cy="4315968"/>
          </a:xfrm>
          <a:prstGeom xmlns:a="http://schemas.openxmlformats.org/drawingml/2006/main" prst="roundRect">
            <a:avLst>
              <a:gd name="adj" fmla="val 1695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2827A290-4608-42EE-9663-510C92102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874520"/>
            <a:ext cx="21031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F2BE73"/>
                </a:solidFill>
                <a:latin typeface="PingFang SC"/>
                <a:ea typeface="PingFang SC"/>
                <a:cs typeface="PingFang SC"/>
              </a:rPr>
              <a:t>当前交付状态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C997C1B5-B859-4503-B97F-B40029C5F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6243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9B02CF7C-236E-42D9-8E57-A7A50B7E8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48716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生成的全局 manifest 始终 enabled = false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DFB13E1A-9BD3-426E-9CC6-462B23CC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12724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500CD9C5-411A-428B-9B9D-95945F850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99008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当前设置页 Hook 开关保持禁用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D332FB84-A96C-48E5-A929-0C301BAE4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63016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588DD2B5-EAB9-42CC-9CC5-93ED64DA2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49300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BAI Code 0.9.1 尚无 Hook 执行契约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8D426218-84D7-4698-B929-6758D3E58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13308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3FAD4C1A-2811-466F-AC12-C0650D139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9592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只有显式工作区才允许生成项目配置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FEB9151C-030C-4481-B14D-6ECD395C5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6360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43DBB983-DE4C-463B-8057-B5C5593FB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49884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不安全路径与符号链接会被拒绝</a:t>
            </a:r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C203A81A-7491-440F-B53C-6634C2219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51389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3A1D9C3B-8A98-4554-8E1B-2B078762F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0176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未支持事件被记录，不伪装为已执行</a:t>
            </a:r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8BCBE16E-AA85-49FD-9B2E-A3657CF9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5468112"/>
            <a:ext cx="123444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A44747"/>
          </a:solidFill>
          <a:ln xmlns:a="http://schemas.openxmlformats.org/drawingml/2006/main" w="12700">
            <a:solidFill>
              <a:srgbClr val="A44747"/>
            </a:solidFill>
            <a:prstDash val="solid"/>
          </a:ln>
        </p:spPr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C374D4AA-5622-4C57-A608-6AE8520CB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77256"/>
            <a:ext cx="108813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能力已建模</a:t>
            </a:r>
          </a:p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B6AC69D4-E7EC-404C-BFB6-8902F3621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2" y="5468112"/>
            <a:ext cx="135331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AB22707C-A9C9-457C-9176-90005BECB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5477256"/>
            <a:ext cx="120700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执行未开放</a:t>
            </a:r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4D3D4E8E-B5D2-4447-AA16-5F61F8A2C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328" y="5468112"/>
            <a:ext cx="123444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CC286DB0-AEF5-45C0-AE16-B68448815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5477256"/>
            <a:ext cx="108813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边界可验证</a:t>
            </a:r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1D596C21-F824-4168-9D66-273553053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交付原则：产品能力与当前可执行状态分开陈述；未开放能力不冒充为已生效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7E24EE53-DEDC-4B29-AD50-F562427B4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12 / 19</a:t>
            </a:r>
          </a:p>
        </p:txBody>
      </p:sp>
    </p:spTree>
    <p:extLst>
      <p:ext uri="{BB962C8B-B14F-4D97-AF65-F5344CB8AC3E}">
        <p14:creationId xmlns:p14="http://schemas.microsoft.com/office/powerpoint/2010/main" val="4752729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8E0D5EC-F64F-4283-B78C-23FFBB183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AGENT EXECUTION LOOP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37AD1C4-2ECB-4F6C-8F76-24B63601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AI 深度：上下文、工具、产物与验证构成闭环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C373B7B-0ECA-4D7C-8E47-D2F800B18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4783DC4-E6B1-4EF6-BAE9-797F45A5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Agent 系统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A289F4B-733B-4A8F-B141-1FD6BCC96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9A9B220-D629-4B19-8FF5-C7917CB1F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00200"/>
            <a:ext cx="6748272" cy="4462272"/>
          </a:xfrm>
          <a:prstGeom xmlns:a="http://schemas.openxmlformats.org/drawingml/2006/main" prst="roundRect">
            <a:avLst>
              <a:gd name="adj" fmla="val 16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2025334-E3A9-48E3-BF7E-7A9E2656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199339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463CDF5-9C1D-4E21-AE38-4D15943AC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213969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上下文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60E79BC-FB92-44D5-B466-2878ABFA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251460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Workspace · 文件 · 版本 · 记忆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6B2FB3B-5061-40AC-9F63-A0B047CC3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99339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FCB2DD4-0F60-4AC4-AADA-FE365E855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213969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规划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42E0B4B-F59C-4DBD-8A17-CD3153FB1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251460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目标拆解与约束解析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38E9EE4F-35B0-45FE-A0AD-EF7019338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400507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853217D-D9B1-4741-A359-144F0E9CD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415137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工具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F3347BA-B35C-4057-9E52-B5AEF48AE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452628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命令 · 文件 · 检索 · 技能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504184B2-8160-423E-B1E5-9CE886056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00507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754F4EA-4612-40EA-8F7E-8119D4C5D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415137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产物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124B977D-57A0-46C6-8244-1F3D1C5C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452628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代码 · 文档 · 图表 · 差异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C1F8BE5E-AA36-444B-9D98-E289B6355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468880"/>
            <a:ext cx="8412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24877E7D-726C-46A9-ADBE-EAE1663C5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7568" y="2962656"/>
            <a:ext cx="0" cy="93268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EA53FE95-1389-4381-B55B-882EE617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3611880" y="4480560"/>
            <a:ext cx="8412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476E8425-A379-4C97-8A80-3045437D7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395728" y="3035808"/>
            <a:ext cx="0" cy="89611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F2E8C6B0-8329-45B0-871D-9F142EDD8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145536"/>
            <a:ext cx="2606040" cy="64008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819DC96-EFD8-4F36-9EB6-E0AAA20A9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216" y="3236976"/>
            <a:ext cx="23500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验证门：结果一致 · 文件存在 · 测试/运行证据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9EA5F593-0094-4B1F-B883-9A15A9885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1600200"/>
            <a:ext cx="3794760" cy="4462272"/>
          </a:xfrm>
          <a:prstGeom xmlns:a="http://schemas.openxmlformats.org/drawingml/2006/main" prst="roundRect">
            <a:avLst>
              <a:gd name="adj" fmla="val 1928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7447E664-C305-4C4A-AFEE-CB319C74C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920240"/>
            <a:ext cx="318211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系统级 AI 应用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3C396C08-D042-4932-9053-A8526DD4C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69748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8F040921-1EA8-4B11-A98D-CADF8918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56032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多轮上下文与自动压缩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E106C4BC-B9F7-42E2-8899-03B5B2310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20040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27382588-A26A-42FF-88CF-85D7E71B2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06324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基于事件流的工具执行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1F732167-1C2D-4FF9-8249-DA3CB4B2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0332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621136A2-1EF5-451B-9248-8E7559BC2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56616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项目级权限与工作区边界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3F6B9110-5887-44B6-9AF7-A66317F5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20624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286CC73B-438D-42C0-8CAF-D0AC45ECD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06908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产物生成后的验证与摘要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C0826EBC-0D25-4B73-A4BE-36BFE53FC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70916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E703ADBE-6124-4880-9F11-66283812D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57200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长期记忆与能力复用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7E92567B-9EEC-4624-B240-18BB85A18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521208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9949D8B7-2916-41C1-80BC-D9771A964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07492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可选的签名与发布溯源方向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D75DE2BC-F2CF-4D77-A12F-F8764D381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AI 的价值通过任务闭环证明；生态溯源作为未来方向，不包装为当前能力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80F5C95B-D3AC-4604-BD67-5D567733C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13 / 19</a:t>
            </a:r>
          </a:p>
        </p:txBody>
      </p:sp>
    </p:spTree>
    <p:extLst>
      <p:ext uri="{BB962C8B-B14F-4D97-AF65-F5344CB8AC3E}">
        <p14:creationId xmlns:p14="http://schemas.microsoft.com/office/powerpoint/2010/main" val="103748040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ED09F32-73FC-4C39-B8EA-6E6AA7B74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BAI WORK EVIDENCE CHAIN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ACBDE67-2681-48D5-AE20-B5CEFB383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交付闭环：从输入到验收，每一步都有工程证据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25086F5-ADDE-40AF-A750-100C2272A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38B608B-5AB4-4E98-9972-4B26E82D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综合证据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65C3F77-AB51-43A7-8ACB-B2D12E4C9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9ACCF80-19E2-465C-83FD-985768A7C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2029968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D0E4E23-82E1-4EB7-9E5C-4667529E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55648"/>
            <a:ext cx="184708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交付阶段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0042C4EB-90F0-472A-94ED-C0035CEFB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8336" y="1664208"/>
            <a:ext cx="2926080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F263507-CD84-4600-9CD4-5F7276BC1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9776" y="1755648"/>
            <a:ext cx="2743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用户价值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226241D2-A8A2-481E-BD3D-D4D7B7A4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664208"/>
            <a:ext cx="2743200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D6933FA-3410-4A00-9918-C5A1C36DC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755648"/>
            <a:ext cx="25603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系统机制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856077D2-2851-4F57-8910-5DD66A43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9056" y="1664208"/>
            <a:ext cx="3072384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860C1B5-CAAC-449E-9E53-0FD50F8C6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0496" y="1755648"/>
            <a:ext cx="288950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可验证证据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897F980A-B15D-4F87-97C6-BCF0299F6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304288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5B03C4D-6C8E-437D-AFDE-67A8BCF4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395728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配置进入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3E7A455-E7E9-4BB3-9368-0DAC6B20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2395728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完成服务与模型就绪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121C274-0FD9-4E3D-9CD9-AE9264285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2395728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凭据隔离 · 探测 · 能力发现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FC27F65-896D-4591-A226-C7F1C4467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2395728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连接与模型发现测试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AD4DB7C8-403B-404D-A495-326D8BB2E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889504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CE1D5793-C07F-4E92-B930-6A790AAD6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80944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任务执行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29EE8F8-9EA0-4D72-9454-5AE95C255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2980944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项目内发起并持续看见推进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3A6B5500-CDEB-4C41-BEC1-4D58B380E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2980944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Runtime Host · SSE 归一化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334155FA-3EE9-45F9-A68C-62322321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2980944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适配器与流式事件测试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FC84C00E-0C2F-4149-B401-B640EDCF8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474720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4EF35D2-AFEF-4CE5-9A84-F1FEDBD38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566160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上下文经济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E68DFCE6-7677-4E24-9525-5647E60A5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3566160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请求预算与摘要边界可配置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5C7245FF-761C-4445-A546-E4AC6602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3566160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历史卫生 · 压缩配置契约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A52D216C-4433-4C27-BC1E-65AFE53FD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3566160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默认值与输入边界测试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53830039-F9D6-46EE-A071-BDFC1B819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059936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1533199D-28D9-4231-96AD-EEF26F403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151376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能力体系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063D868E-ADA3-444E-91E5-BF5A4B09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4151376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五类能力归入 BAI Work 产品体验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657934B3-CCEB-4A5E-8F82-DD2EC624A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4151376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347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命令/技能加载 · Rule 指令 · Hook manifest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D0979BEC-850F-49C6-97E7-F5301D93F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4151376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加载与 manifest 安全测试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1EA77B60-C648-4C49-80C6-CBDC6F63A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645152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BCC8FA17-D069-4AEF-A611-F736065C4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736592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产物交付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54174A15-28A1-444E-B327-720C41E41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4736592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回答、文件、差异与摘要分区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A942986C-452B-4697-8E3A-3E7A9655E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4736592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结果区与项目文件联动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BF77F6AB-6BFC-464F-9F6E-69C1C49D0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4736592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文件存在性与差异证据</a:t>
            </a:r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766C457D-4C1B-44D1-8557-BD4A9F848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230368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E6AF4F5A-FFFA-43BF-8D96-8A993FD2C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321808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工程验收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48DE27C5-CD99-4B67-A03E-3D1CD14EE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5321808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从代码验证到桌面包体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1B9F8DAE-F691-4D94-B716-A57DA3B5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5321808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类型检查 · 测试 · 构建 · 打包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3D472D51-40ED-47C9-B9B0-34129129A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5321808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自动化测试与运行 smoke</a:t>
            </a:r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4FAEF741-9AF8-494A-8E59-7EEE94D9E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961888"/>
            <a:ext cx="10168128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8CD0400D-8E16-4AEE-8E27-848261770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6007608"/>
            <a:ext cx="9765792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上手、执行、上下文、安全、交付、验收——每个价值点都能回到实现与现场证据。</a:t>
            </a:r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60A10F16-8335-4086-A931-382B4F4C9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证据来源：BAI Work 当前代码 · 自动化测试 · 构建与运行结果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35629A7E-19C9-4727-98A9-C0E6BB70D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14 / 19</a:t>
            </a:r>
          </a:p>
        </p:txBody>
      </p:sp>
    </p:spTree>
    <p:extLst>
      <p:ext uri="{BB962C8B-B14F-4D97-AF65-F5344CB8AC3E}">
        <p14:creationId xmlns:p14="http://schemas.microsoft.com/office/powerpoint/2010/main" val="151820031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5ACA4DF-83DE-43F9-AAF0-80C3395E2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ENGINEERING PROOF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C6758EA-86C4-4EB1-868B-57F7C5922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工程证据：不是原型截图，而是可构建的软件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3CB7F61-BE54-4389-8D1F-1A8CF031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3E60A2B-0F88-4876-8D27-4718E5E1C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交付验证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07E249F-6ECC-4CB0-9165-F6503FA3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A81EB10-7A1F-4B45-BBCD-C64DE025F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C6000B9-2FFD-4A8A-8441-7C0F473C2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559C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8CEAFE6-AD85-456D-B135-C1F127A19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桌面平台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0CD9B32-E9CC-40C5-8091-C763905D0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Mac Intel / Apple Silicon / Windows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4BBBF6BD-EA80-4A18-81E3-3FA153C0F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58F2E1D-EADD-45C3-B23E-70F7AD86A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2B7A78"/>
                </a:solidFill>
                <a:latin typeface="Aptos Display"/>
                <a:ea typeface="Aptos Display"/>
                <a:cs typeface="Aptos Display"/>
              </a:rPr>
              <a:t>168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E1B417C-6515-4AE8-9134-75FBD3509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测试文件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A478217-96FD-4495-8B4E-7E79C9D3D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覆盖 main、runtime、renderer 与服务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80F7886C-3771-4796-B378-76222C806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B8BD112-0991-47CA-891E-4EC444594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9775C"/>
                </a:solidFill>
                <a:latin typeface="Aptos Display"/>
                <a:ea typeface="Aptos Display"/>
                <a:cs typeface="Aptos Display"/>
              </a:rPr>
              <a:t>1,144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2B699CD-66B8-429D-AB76-80D5E9756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自动化测试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3B5C7AC-10B9-4C4F-9C8C-69A655B6E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完整测试基线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53721670-ABF8-4E6A-BD3E-522D62A1D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9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B6932F9-5684-4AD6-9993-C426754F3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D8644D"/>
                </a:solidFill>
                <a:latin typeface="Aptos Display"/>
                <a:ea typeface="Aptos Display"/>
                <a:cs typeface="Aptos Display"/>
              </a:rPr>
              <a:t>0.9.1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B62B5E0-73B6-4F11-8C5F-81BB975B8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BAI Code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843B18F-12D6-472C-8124-6F6B19E19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Mac Intel packaged runtime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885120B5-8097-43B4-B0CC-2D4EA681C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675888"/>
            <a:ext cx="2331720" cy="512064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DA23B00-5192-439A-935C-2A45038E3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758184"/>
            <a:ext cx="199339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macOS Intel x64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8C0173B-8F44-4402-A743-CFE2B21F1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730752"/>
            <a:ext cx="50292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自包含 Python 3.11 + BAI Code runtime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C2971E29-FDB6-4336-A62B-8DC28EFA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3767328"/>
            <a:ext cx="26517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0F4805A-3583-4DF6-8E65-14CE24F1C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0224" y="3776472"/>
            <a:ext cx="25054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本机构建与运行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3108CB52-B5A8-4CB7-AFDC-CCC7822C0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370832"/>
            <a:ext cx="2331720" cy="512064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D9A3968-BE03-4F68-A918-0688740A0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453128"/>
            <a:ext cx="199339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macOS arm64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206613B5-E0A4-4A86-9B16-0DB5B06C9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425696"/>
            <a:ext cx="50292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官方运行时 wheelhouse + 用户目录环境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B2875348-47CC-4CE4-BE3E-8D9D63374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4462272"/>
            <a:ext cx="26517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30C34956-457F-4F97-965B-24B1DB854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0224" y="4471416"/>
            <a:ext cx="25054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原生构建与 smoke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5531EB6D-87D2-4F04-A0F0-9F28DFE30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065776"/>
            <a:ext cx="2331720" cy="512064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F33C691C-BB94-43A8-94A5-869DB57BE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48072"/>
            <a:ext cx="199339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Windows x64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FC20E7A3-E0A1-4166-A8A7-942E6A4CE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5120640"/>
            <a:ext cx="50292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官方 win_amd64 wheelhouse + 安装包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B23E8660-D02A-4A3E-BEA0-1638E1732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5157216"/>
            <a:ext cx="26517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58A80F6A-AED6-4348-99DB-A8352E5F3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0224" y="5166360"/>
            <a:ext cx="25054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原生构建与 smoke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243FE7FB-95BB-4370-AA9B-20B4DC18E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863072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322547DC-12BE-4A70-B476-A325ED083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943600"/>
            <a:ext cx="103784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验证链：typecheck → lint → unit tests → production build → desktop package → packaged runtime smoke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D1AA9193-25D9-443D-99E2-FF4F57F10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当前主版本：Mac Intel x86_64；其余平台保持同源实现与原生验证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3936DA71-5CF1-4333-B682-D1028141F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15 / 19</a:t>
            </a:r>
          </a:p>
        </p:txBody>
      </p:sp>
    </p:spTree>
    <p:extLst>
      <p:ext uri="{BB962C8B-B14F-4D97-AF65-F5344CB8AC3E}">
        <p14:creationId xmlns:p14="http://schemas.microsoft.com/office/powerpoint/2010/main" val="119829331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9BB1F91-DC85-4E0C-9964-167002CD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TARGET USERS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3372A9D-56B0-4CD8-85ED-4C02677F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目标用户：先占领高频、长链路的项目工作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D744AA7-DAE1-4EC2-AE0A-F772CF9FD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624463A-3C6E-4C15-8DFB-017EF6CC3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市场切入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B000874-692B-4EBA-9675-8B965DB61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E5378F8-0B29-48D0-9C59-22D39FF1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91640"/>
            <a:ext cx="3364992" cy="3584448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25A7A29-82A6-47FC-9CFA-7A9C186DD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1901952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8998B30-86A7-41AB-8C00-9FF1BF42E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2267712"/>
            <a:ext cx="2880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个人开发者 / 研究者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5F1DCCE-373C-485C-B958-C281BC38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035808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核心摩擦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F7BD9DF-0DA7-4D4A-9ABE-A68A48C69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364992"/>
            <a:ext cx="28712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本地项目任务长、文件多、上下文重复传递。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A3D56CF-88A5-4C3A-8B1B-510F8157F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4224528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BAI Work 价值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D522886-EED4-455D-9316-A1DF754F1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4553712"/>
            <a:ext cx="287121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从问题到代码、文档和图表的一站式交付。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DBACD16A-B908-4300-BCCF-B600FB868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91640"/>
            <a:ext cx="3364992" cy="3584448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E87C3C6-36D5-4A4F-AE41-3C27235F7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1901952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7471F178-CFA0-449F-A38F-E7C4AFF81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2267712"/>
            <a:ext cx="2880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小型研发团队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AAE43F9-6070-47E7-995D-09561CD2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3035808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核心摩擦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7DE165B-5DDA-4B7A-B4EB-3A90C07E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3364992"/>
            <a:ext cx="28712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流程难复用，Agent 行为和权限口径难统一。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9D5CEF8-3368-4F44-980A-7A6C3D9D9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4224528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BAI Work 价值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8B441E9-28B2-4652-89E9-EAB0C26A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4553712"/>
            <a:ext cx="287121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共享技能、规则、服务配置与审阅标准。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509415B7-E95A-4699-A283-14782D9AF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691640"/>
            <a:ext cx="3364992" cy="3584448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D5AA015B-0C11-4B40-B47A-4AA441247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1901952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31BE1885-E877-41B5-A573-67D26CC74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267712"/>
            <a:ext cx="2880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BAI 生态用户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145F2439-F717-4124-A43C-89EC14890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3035808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核心摩擦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8566522E-DC59-4501-A9C4-D602297B7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3364992"/>
            <a:ext cx="28712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底层执行能力缺少持续桌面入口与产物工作面。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3D082562-4D85-4A75-8E31-A294FB77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4224528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BAI Work 价值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ACEB0BBA-200A-4EF1-A77D-117A9094F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4553712"/>
            <a:ext cx="287121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模型、运行时与生态能力进入日常项目流程。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65D79CFB-ACE2-4F98-9030-3A8A6B42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05856"/>
            <a:ext cx="10332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首批验证不追求覆盖所有 AI 用户，而聚焦已有本地项目、愿意把完整任务交给 Agent 的用户。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CA89C8DC-8EC0-4967-91E6-D9BB7A81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市场判断基于 Jobs-to-be-Done；不使用未经验证的市场规模数字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CA4E9F97-D49C-4DA6-B79A-E3E24722C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16 / 19</a:t>
            </a:r>
          </a:p>
        </p:txBody>
      </p:sp>
    </p:spTree>
    <p:extLst>
      <p:ext uri="{BB962C8B-B14F-4D97-AF65-F5344CB8AC3E}">
        <p14:creationId xmlns:p14="http://schemas.microsoft.com/office/powerpoint/2010/main" val="11768425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AFFC8AF-7A1C-4F76-9FDB-078BA1AEC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CONTROLLED SUBSIDY ACQUISITION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821E6E2-C518-47D7-80B2-3AD7DBA0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商业推广：受控补贴驱动首批高质量激活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D84BEDC-F3AB-4348-AC7E-5F4B849C5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CEBACD7-7CA3-447E-B2C5-70B9C3AA9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商业增长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0CC8638-1CEE-4ABD-AB35-A33EA59E5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DA11244-0657-45B1-90C7-14FA6E98D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72768"/>
            <a:ext cx="1243584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8A9D9B1-9DEA-459B-9BC7-B6C4A43FF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81912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建议实验方案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08A0ABC1-5A92-4CE8-8E8F-9CC49FFF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35818801-C569-4812-B3CF-68DA40994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限量 Cohort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C0388A9-CBE3-4E42-B06B-6DBC592A4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首批限量名额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按批次开放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EA32E1E-2175-45A4-8A3A-600B1CCE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762B917-8C93-4AD0-901E-B05FD3086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半价折扣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AECB2D0-1E41-4B6D-98CD-47E1E0D0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模型使用费用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提供 50% 优惠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0221B595-CAE6-4EBA-864D-1E280E1A9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D360FCF-A2E9-42B7-A79E-450BEE0A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额度封顶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4F0F80D-C4CA-4DC2-BCB9-4345FCE4E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单账户月度上限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控制补贴敞口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43338497-98F6-4AA8-A92A-70DEA207C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105A999D-488D-4017-8747-0659C0236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限时验证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571B252-A1FE-4047-A878-C5E645EA5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持续 8–12 周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到期自动复核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2DB8FB7C-F554-48DE-ADD3-55EC943D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86200"/>
            <a:ext cx="6583680" cy="150876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38293AE-374A-450C-A43A-88689A5E1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133088"/>
            <a:ext cx="23317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Activation-Gated Subsidy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6FC79910-95C5-420A-8747-A195E5112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1788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D15F9816-0130-4D2E-AD74-C33A4C10D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41648"/>
            <a:ext cx="342900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绑定有效 API Key 并完成首个项目任务后激活优惠。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E996599F-B1C4-4AB5-9D83-4B9FB63B6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57200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C06BAEEF-26DF-45F9-AFE6-E1C371FB7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434840"/>
            <a:ext cx="342900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按账户、设备与异常使用信号控制重复领取。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ACE63136-7A94-4C45-9AF5-0EB4B1EA2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965192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15CEBF7A-9CC5-47E3-83C5-B13CBDAA9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828032"/>
            <a:ext cx="342900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补贴只覆盖真实使用量，未使用额度不沉淀、不转售。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3F5FA93A-E74C-422E-89D2-A8CE35DA4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86200"/>
            <a:ext cx="3977640" cy="150876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170B036A-5E35-41B6-BAEB-83EE89DC9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4133088"/>
            <a:ext cx="33832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单位经济门槛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5BFABB0C-2BA4-442E-B59D-75EAA244A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4572000"/>
            <a:ext cx="33832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Subsidy CAC ≤ Cohort LTV ×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目标回收系数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930D48C4-91C3-4408-9614-4811BB9E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A8F63D18-1F56-4AFF-B54B-F73B0B2E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API Key 绑定率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A4FC8A9D-7971-46B5-965E-9EF2A29E8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08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84CC0ABD-4DD4-4B29-BBC7-4B90E734A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首任务完成率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BD5DED4E-CD76-4224-BE67-EF3878A22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015951DB-E069-4BD8-8ADE-706429A94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D7 活跃项目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957FFA56-BD8D-4A87-ADE7-508D8F5D2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64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4027FFBF-F22D-4D8C-BBAA-638B1252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付费转化率</a:t>
            </a:r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A6BE7386-0822-48BC-B47D-ED38D8103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D964E12C-4919-41F9-A1E3-9F2C1122C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补贴效率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EB48A52F-55FD-4C46-8B3E-8BD3925EB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商业方案为待验证实验；额度、周期和风控阈值需按 Cohort 数据迭代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F3927710-7C73-4A10-94A4-33C13F0C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17 / 19</a:t>
            </a:r>
          </a:p>
        </p:txBody>
      </p:sp>
    </p:spTree>
    <p:extLst>
      <p:ext uri="{BB962C8B-B14F-4D97-AF65-F5344CB8AC3E}">
        <p14:creationId xmlns:p14="http://schemas.microsoft.com/office/powerpoint/2010/main" val="137521177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58B40F4-7DB8-464A-8674-38254B380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ROADMAP &amp; LIVE DEMO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436E317-8189-44E8-AF7A-0FD63D90B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12 周推进：先稳定发布，再验证增长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F945710-0A38-4F6B-A87E-FC636D68A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AB79C1A-B15F-47A0-BCAF-A19D40EB6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执行计划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EF5B6E5-0DAF-4496-A647-BA585943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7110719-777B-4A96-BE05-D6AD06C63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8E87879-19E4-4B81-8EF4-EF1999469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1666A3F-4EEE-4D00-895C-9B104DBD6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NOW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95DDCDDF-CC6A-4239-BC49-8643ED7B6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稳定基线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0DC5FD35-3362-4758-8CDF-CBA2D250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Mac Intel 主版本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Token Economy / EBAI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当前自动化验证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5D238CCD-7BF5-407F-898E-2F4BC6349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2889504"/>
            <a:ext cx="2194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A053884D-A69B-484C-A141-011353563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A49526B4-2582-4838-AE76-7556AEFE1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293BD46-1261-4765-B132-912259EBF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4176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W1–4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E7AC1D9-BC83-4080-96F2-16B3B0501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发布级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E1A9A91-6BCA-4436-B384-84936987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正式签名与公证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运行时契约对齐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崩溃与恢复遥测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8DCAEC0A-6A06-4ECE-BAD8-E916929CD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456" y="2889504"/>
            <a:ext cx="2194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2B3F1458-40ED-4235-8F59-7B211E792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04FE7847-BE3E-43AB-B71C-3A7155305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B9C29F0-0BD1-46A3-9D39-E24A2C5E1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W5–8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63BA8471-8D12-4779-8352-B09A37612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试点级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77FF11DC-C8A3-4049-89C1-5127BD32D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首批限量 Cohort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30 秒上手漏斗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真实任务回归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3FEECC39-B91B-47EF-B40A-B707CC7A0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5944" y="2889504"/>
            <a:ext cx="2194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609E087C-F96F-4505-8B16-E17A5BD17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90A27AEC-0D6F-4DED-A5C9-B2EB14BDB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DF66E516-3D83-42DC-9F52-F5A921F88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152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W9–12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BC551E7B-D855-46AE-B04E-0B178D9B2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规模化判断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E5E6C074-7F61-47B3-8C74-311E8B50F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留存与单位经济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团队策略复用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生态能力审核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955F8D07-FAF4-4639-9082-2AD0F7255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626864"/>
            <a:ext cx="13716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3 分钟现场证明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6BDD94E0-4F1C-48B1-BAEC-3C41DED90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084064"/>
            <a:ext cx="2450592" cy="749808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26E648B0-DE7C-4C33-B520-107CB50F4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212080"/>
            <a:ext cx="84124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00:00–00:30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A0A3D577-EC8B-4538-8719-143D26FE6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5175504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输入 API Key，拉取模型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E71337D6-EAB0-4A8B-AF28-1B812A7E2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3008" y="5084064"/>
            <a:ext cx="2450592" cy="749808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3DF5E9C5-3568-4C69-85A0-A48CB41E4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5212080"/>
            <a:ext cx="84124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00:30–01:30</a:t>
            </a:r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4E38FD0B-B3B1-43D5-B722-1AE1E26BA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7408" y="5175504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发送项目任务，展示实时步骤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9D7E3434-BA5E-40C4-A869-E86FE0DD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5084064"/>
            <a:ext cx="2450592" cy="749808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C3588F1C-7D93-45BD-843E-5B4353F31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5212080"/>
            <a:ext cx="84124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01:30–02:30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763E1E25-C3BC-4121-A9D8-8FA32B5BE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5175504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打开产物、差异和验证结果</a:t>
            </a:r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6B6462D2-B666-4903-A232-FABDED84B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5084064"/>
            <a:ext cx="2450592" cy="749808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C70B2DF6-2F27-4C55-9C16-B11B51A62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5212080"/>
            <a:ext cx="84124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02:30–03:00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D8333F93-6213-41AC-B768-138C0E5FF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3808" y="5175504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展示 EBAI 安全边界与构建证据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AD78F826-B78A-4549-87E9-543F079E2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6053328"/>
            <a:ext cx="9646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每个阶段按行为指标验收，不以“新增多少功能”验收。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AE29E33A-1516-43FC-9529-31B5EB90E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路线图优先级：稳定发布 → 真实激活 → 留存与单位经济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290249D9-6B15-49A4-A01B-4A1F0645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18 / 19</a:t>
            </a:r>
          </a:p>
        </p:txBody>
      </p:sp>
    </p:spTree>
    <p:extLst>
      <p:ext uri="{BB962C8B-B14F-4D97-AF65-F5344CB8AC3E}">
        <p14:creationId xmlns:p14="http://schemas.microsoft.com/office/powerpoint/2010/main" val="197727034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C0E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6c5f188d9a4b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8368" y="531545"/>
            <a:ext cx="3566160" cy="930303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F2311976-A499-4AEC-B3D8-09CDD89D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47088"/>
            <a:ext cx="47091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简单，不代表能力少。</a:t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2A83A57F-38A5-40C4-8E8A-7F52C20A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578608"/>
            <a:ext cx="49834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而是把复杂度留在系统里。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B48510D2-7080-49C4-B7CB-6738723D7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3566160"/>
            <a:ext cx="512064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CDD4DB"/>
                </a:solidFill>
                <a:latin typeface="PingFang SC"/>
                <a:ea typeface="PingFang SC"/>
                <a:cs typeface="PingFang SC"/>
              </a:rPr>
              <a:t>30 秒配置目标；过程可见；产物可验收。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FF71AF3-AA3B-4ED9-9F54-A1FA54C0E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713232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CF01EC35-2F47-4915-B361-59E4E254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713232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2271C0E1-A3B3-42C5-AC6D-DB19956B8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832104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轻量架构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FD4AA00-3E31-4EE8-B642-03F1B7860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813816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项目级 Runtime Host 与最短执行链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E47CEA80-98CA-434F-B454-3D8769291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45920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D93F10A8-CDAE-4189-A97B-A36BFFA56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45920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C57A42C3-D2BB-4BE1-93B6-D61703C6F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1764792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Token Economy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9B61A428-2D4A-4CF8-B7FA-26B5FFD6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1746504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请求预算与上下文治理契约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91AA1FFC-A2A0-4DA7-9BBF-1371FBBA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578608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6535DEC-203F-472D-B781-0E49AEF29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578608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58B73E5C-D6EC-4BC9-BBEB-C0C1A25E6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2697480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EBAI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A6F56057-A114-4D52-BE26-5086D8629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2679192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产品能力体系与清晰执行边界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462B198B-9D0C-4B7D-B648-85EA4152E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11296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98BE3FA2-9F2E-46AD-9354-1B03DD33F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11296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10403180-0177-4369-B2B6-E8C8B4EA3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3630168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产品交付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FB006128-BD60-49DB-8E5A-FDF02644D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3611880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三平台路径、自动化测试与运行证据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D1BEE0B3-FCB4-4277-826F-053504B9A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443984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DA18BF67-6141-4DF8-B880-72AC51138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443984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11BFF3A2-B918-4019-BD21-C40B7D2A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4562856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商业增长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EFB7DD3F-90AA-4AEB-B37F-5DD44A00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4544568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限量半价、额度封顶与 Cohort 验证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6AFADCC-A1C4-408A-B247-B80079500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5504688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36A8879-74E6-4662-A8A2-9D3673A0A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641848"/>
            <a:ext cx="55321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下一步：稳定签名发布 · 首批用户验证 · 项目级生态扩展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897B3A3F-E9E2-4B11-A8BC-FA8C902DF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144768"/>
            <a:ext cx="4160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8FD4CF"/>
                </a:solidFill>
                <a:latin typeface="Aptos"/>
                <a:ea typeface="Aptos"/>
                <a:cs typeface="Aptos"/>
              </a:rPr>
              <a:t>github.com/2830500285/BAI-Work</a:t>
            </a:r>
          </a:p>
        </p:txBody>
      </p:sp>
    </p:spTree>
    <p:extLst>
      <p:ext uri="{BB962C8B-B14F-4D97-AF65-F5344CB8AC3E}">
        <p14:creationId xmlns:p14="http://schemas.microsoft.com/office/powerpoint/2010/main" val="65193574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2026-07-22T06:19:25.8940000Z</dcterms:created>
  <dcterms:modified xsi:type="dcterms:W3CDTF">2026-07-22T06:19:25.8940000Z</dcterms:modified>
</coreProperties>
</file>