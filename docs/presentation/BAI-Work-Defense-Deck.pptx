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封面（建议 30 秒）
开场一句：BAI Work 不是一个新的聊天框，而是让 BAI Code 在真实桌面项目里持续完成任务的工作台。
先建立可信度：当前版本已经有三平台产物、可运行的 Mac Intel 应用和完整测试。
提示评委：接下来所有内容都按五项评分标准展开，并在最后逐项回收证据。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问题与一句话方案（建议 45 秒）
不要从功能清单开始，先说清开发者为什么需要它。
三个问题分别对应产品主流程、可观测性创新和生态安全设计。
强调差异：BAI Work 不是把网页套壳，而是把执行、交互、文件与发布组织成一个连续工作流。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现场演示路径（建议 50 秒 + 3 分钟演示）
先展示最新首页，说明这是当前打包后的 Mac Intel 应用。
现场只跑一条主流程，不在设置页来回跳转：选择项目、发送任务、展开步骤、打开产物。
若网络异常，使用已生成产物和 packaged runtime health 作为兜底证据，不在台上排查网络。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产品完成度（建议 45 秒）
从用户流程讲完成度，而不是从代码模块讲完成度。
六项能力都在同一应用里可操作；三平台和公开版本证明不是一次性 Demo。
强调目前最成熟的是 Mac Intel，其他平台已有同源产物和原生 CI smoke。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稳定桌面边界（建议 55 秒）
先从左到右讲五层，每层只说一句职责。
核心创新不是“用了 Electron”，而是把不稳定的上游协议封装在可替换 Host 内。
主动说明官方协议缺口能增强可信度，也解释为什么当前选择兼容桥而不是硬编码不存在的 service。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可观测状态机（建议 50 秒）
这页直接回应产品迭代中最痛的体验：长时间无反馈、工具过程堆到最终回复、错误堆栈污染聊天。
说明 BAI Work 不是展示模型思维链，而是展示可验证的状态、工具动作和产物。
用量原则同样保守：runtime 没有 cache telemetry 就显示不可用，不把零当成真实命中率。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应用深度（建议 55 秒）
围绕闭环讲 AI，不要只报模型名称。
强调工具执行、产物和验证是最难也最有价值的部分。
对 Web3 保持克制：评分标准允许 AI 或 Web3，当前项目用真实 AI 深度得分，不做概念包装。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开源生态内化（建议 45 秒）
重点不是“集成了很多项目”，而是说明它们如何进入 BAI 目录、如何被用户发现、如何受权限约束。
EBAI 将 commands、agents、rules、hooks 映射为 BAI 可用形态；Hermes-derived skills 直接进入技能发现层。
Agent-Reach 和外部 MCP 保持按需安装，避免为了功能数量默认打开额外网络或执行能力。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安全与可信边界（建议 45 秒）
按三层边界讲：用户可信区、BAI Work 本地边界、外部能力区。
最关键的安全设计是 hooks 默认关闭，启用必须限定到受信任 workspace。
强调所有安全默认值都在代码和测试中，不是答辩时补写的承诺。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工程验证证据（建议 45 秒）
先给四个大数字，再讲三平台分发策略。
Mac Intel 是当前最稳定版本，自包含 runtime；arm64 和 Windows 使用官方 wheelhouse，在用户目录创建 venv。
不要把 CI 通过等同于全部商业发布：当前 macOS 公证和 Windows 代码签名仍需正式凭据。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目标用户与真实需求（建议 50 秒）
用三类用户说明需求，但明确首批验证范围是个人开发者和小型研发团队。
需求判断来自产品实际使用场景：代码、调试、文档、研究和自动化，不编造用户量或收入。
BAI 生态协同点是桌面分发、API 使用和真实工作流反馈。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商业模式（建议 45 秒）
明确区分已实现与商业假设，避免把路线图说成收入事实。
开源核心降低采用门槛；个人 Pro 解决同步和高级自动化；Team 解决策略与审计。
生态收入必须建立在能力质量、签名、审核和真实交易需求之上。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生态飞轮（建议 40 秒）
从真实项目开始，而不是从空市场开始：使用产生需求，需求沉淀为能力，治理后才能复用。
BAI Work 的价值是提供统一工作面和安全边界，让开源资产可进入日常生产。
如未来使用 Web3，优先解决插件来源与版本溯源，不发无实际效用的资产。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周路线图（建议 45 秒）
先说明当前起点，再分发布级、试点级、团队级三个阶段。
第一优先级不是继续堆功能，而是 official service contract、签名、公证和真实团队回归。
用任务完成率、首个产物耗时和错误恢复率衡量产品价值。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现场演示脚本（建议 40 秒）
演示前准备一个小型、确定性高的项目任务，避免现场跑超长任务。
每一步都说“用户看到了什么”，不要讲后台代码细节。
发生网络问题时立即切换兜底证据，不把答辩时间消耗在调试。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收束与评审要点回收（建议 35 秒）
用一句话回收：可执行的 AI、可验证的工程、可扩展的生态。
沿五项评分标准各给一个证据，不请求评委记住全部功能。
最后给出具体下一步：试点团队、官方 service contract 对齐和可信签名发布。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pic>
        <p:nvPicPr>
          <p:cNvPr id="3" name="Image 0" descr="/Users/mac/Documents/MIMO Work/BAI-Work-macOS-Intel/docs/screenshots/bai-work-home-cur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415034"/>
            <a:ext cx="4828032" cy="31683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03720" y="5623560"/>
            <a:ext cx="5287975" cy="1234440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548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7EC5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GENESIS HACKATHON</a:t>
            </a:r>
            <a:endParaRPr lang="en-US" sz="1100" dirty="0"/>
          </a:p>
        </p:txBody>
      </p:sp>
      <p:pic>
        <p:nvPicPr>
          <p:cNvPr id="6" name="Image 1" descr="/Users/mac/Documents/MIMO Work/BAI-Work-macOS-Intel/src/asset/img/bai-work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098274"/>
            <a:ext cx="5074920" cy="13238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523744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 AI Agent 真正完成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桌面工程任务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39776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Code runtime · 项目上下文 · 工具执行 · 安全生态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58368" y="491947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EC5C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53035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491947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EC5C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53035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产品完成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907792" y="491947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EC5C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2907792" y="53035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商业生态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032504" y="491947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EC5C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4032504" y="53035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5157216" y="491947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EC5C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53035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展示表达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58368" y="6199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9939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项目答辩 · 2026.07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7296912" y="592531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可运行产品，不是概念原型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296912" y="628192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1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 Intel · Mac Apple Silicon · Windows x64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BAI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一句话：把可用 CLI 变成可交付桌面工作流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技术创新性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554480"/>
            <a:ext cx="10927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开发者真正缺的不是另一个模型入口，而是一个能保留上下文、展示过程、组织产物并安全扩展的 Agent 工作面。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87168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697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3127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上下文碎片化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3675888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项目、Git、文件、历史会话散落在终端和窗口之间。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16552" y="2487168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6008" y="2697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7B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3127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执行过程不可见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36008" y="3675888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长任务只看到等待或原始日志，无法判断进度与失败位置。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93024" y="2487168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2697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127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能力扩展不可信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675888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命令、skills、hooks 很强，但安装即执行会扩大本地风险。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70432" y="5074920"/>
            <a:ext cx="9857232" cy="841248"/>
          </a:xfrm>
          <a:prstGeom prst="roundRect">
            <a:avLst>
              <a:gd name="adj" fmla="val 869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5230368"/>
            <a:ext cx="9372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的解法：项目优先 + 可观测执行 + 可审阅产物 + 受信任生态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证据：README.md · runtime adapter · EBAI 安全策略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STORY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现场演示：从一句任务到可验收产物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展示表达能力 · 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1536192"/>
            <a:ext cx="653796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pic>
        <p:nvPicPr>
          <p:cNvPr id="8" name="Image 0" descr="/Users/mac/Documents/MIMO Work/BAI-Work-macOS-Intel/docs/screenshots/bai-work-home-cur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067" y="1719072"/>
            <a:ext cx="6130834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79792" y="1609344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52944" y="1618488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演示任务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479792" y="1993392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“检查当前项目，修复问题，展示推进过程，并交付可验证结果。”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479792" y="292608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7979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898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 workspace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31821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 / Git / 文件进入上下文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79792" y="36393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79792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6118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持续执行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89534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计划、工具步骤、等待与错误可见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79792" y="43525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79792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001000" y="43251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审阅结果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46085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文件、diff、文档和最终摘要分离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479792" y="506577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79792" y="5065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50383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复用能力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532180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记忆、skills、自动化沉淀到后续任务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479792" y="5806440"/>
            <a:ext cx="3977640" cy="411480"/>
          </a:xfrm>
          <a:prstGeom prst="roundRect">
            <a:avLst>
              <a:gd name="adj" fmla="val 17778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35240" y="5870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演示目标：3 分钟内证明“能做、看得见、可验收”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演示使用当前 Mac Intel x86_64 构建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COMPLETENESS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产品完成度：一条主流程，六个可演示能力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产品完成度 · 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64208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828800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81051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项目与会话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2860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Workspace、历史、Git 上下文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43984" y="1664208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1828800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81051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模型与 Provider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22860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默认 + OpenAI-compatible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47888" y="1664208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49056" y="1828800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06256" y="181051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实时进度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49056" y="22860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步骤、工具摘要、错误恢复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236976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3401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338328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文件与产物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58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引用、预览、diff、文档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443984" y="3236976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3401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102352" y="338328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长期记忆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645152" y="3858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 / 工作区 / 项目作用域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47888" y="3236976"/>
            <a:ext cx="3456432" cy="1261872"/>
          </a:xfrm>
          <a:prstGeom prst="roundRect">
            <a:avLst>
              <a:gd name="adj" fmla="val 579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49056" y="3401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906256" y="338328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插件与自动化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449056" y="3858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Skills、EBAI、MCP、任务调度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029200"/>
            <a:ext cx="109728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" y="51937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6875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桌面目标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5998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mac-x64 / mac-arm64 / win-x64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154680" y="51937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0.1.1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3154680" y="56875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公开版本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154680" y="5998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同源构建与 release assets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321808" y="51937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87B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5321808" y="56875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本地运行时路由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21808" y="5998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 /v1/* 桌面边界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488936" y="51937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78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7488936" y="56875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内置技能入口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488936" y="5998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其中 73 个 Hermes-derived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656064" y="51937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977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3000" dirty="0"/>
          </a:p>
        </p:txBody>
      </p:sp>
      <p:sp>
        <p:nvSpPr>
          <p:cNvPr id="45" name="Text 43"/>
          <p:cNvSpPr txBox="1"/>
          <p:nvPr/>
        </p:nvSpPr>
        <p:spPr>
          <a:xfrm>
            <a:off x="9656064" y="56875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连续工作流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656064" y="5998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从任务到产物再到复用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当前实现证据：README · release v0.1.1 · resources/skills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 1：稳定桌面边界隔离上游变化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技术创新性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993392"/>
            <a:ext cx="1810512" cy="1444752"/>
          </a:xfrm>
          <a:prstGeom prst="roundRect">
            <a:avLst>
              <a:gd name="adj" fmla="val 5063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2219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68833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工作台 UI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会话 / 设置 / 审阅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14600" y="2715768"/>
            <a:ext cx="347472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07792" y="1993392"/>
            <a:ext cx="1810512" cy="1444752"/>
          </a:xfrm>
          <a:prstGeom prst="roundRect">
            <a:avLst>
              <a:gd name="adj" fmla="val 5063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17520" y="22219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Preload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35808" y="268833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最小 IPC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受控桌面能力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64024" y="2715768"/>
            <a:ext cx="347472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57216" y="1993392"/>
            <a:ext cx="1810512" cy="1444752"/>
          </a:xfrm>
          <a:prstGeom prst="roundRect">
            <a:avLst>
              <a:gd name="adj" fmla="val 5063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66944" y="22219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Host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85232" y="268833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/ 文件 / Git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运行时生命周期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013448" y="2715768"/>
            <a:ext cx="347472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06640" y="1993392"/>
            <a:ext cx="1810512" cy="1444752"/>
          </a:xfrm>
          <a:prstGeom prst="roundRect">
            <a:avLst>
              <a:gd name="adj" fmla="val 5063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22219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/v1/* + SSE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534656" y="268833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稳定本地契约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进度与线程边界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262872" y="2715768"/>
            <a:ext cx="347472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56064" y="1993392"/>
            <a:ext cx="1810512" cy="1444752"/>
          </a:xfrm>
          <a:prstGeom prst="roundRect">
            <a:avLst>
              <a:gd name="adj" fmla="val 5063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65792" y="22219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Code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0" y="268833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CLI 0.9.1 today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future service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" y="4059936"/>
            <a:ext cx="6903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6112" y="42793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创新点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4224528"/>
            <a:ext cx="5468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把上游 CLI / service 的变化收敛在 Runtime Host 内部，Renderer 不需要随着协议反复重写。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4736592"/>
            <a:ext cx="6291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当前官方未公开 session / event / permission / question 桌面协议；BAI Work 明确暴露这一边界，不把兼容桥伪装成官方能力。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818120" y="4059936"/>
            <a:ext cx="3703320" cy="1280160"/>
          </a:xfrm>
          <a:prstGeom prst="roundRect">
            <a:avLst>
              <a:gd name="adj" fmla="val 5714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92440" y="42793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差异化结果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61772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可替换 runtime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不牺牲桌面连续性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证据：src/main/runtime/bai-work-adapter.ts · preload IPC · renderer client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OBSERVABILITY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 2：把长任务过程变成可观测状态机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技术创新性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目标与约束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221992" y="2386584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14600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24328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24328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流式 runtime 输出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4123944" y="2386584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16552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归一化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去重 / 分类 / 清洗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6025896" y="2386584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18504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28232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时间线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步骤 / 工具 / 等待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7927848" y="2386584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220456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0184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摘要与产物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9829800" y="2386584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122408" y="1847088"/>
            <a:ext cx="1581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32136" y="203911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用量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232136" y="24505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可得则展示，不臆造</a:t>
            </a:r>
            <a:endParaRPr lang="en-US" sz="97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4015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74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原始输出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" y="3730752"/>
            <a:ext cx="5212080" cy="1408176"/>
          </a:xfrm>
          <a:prstGeom prst="roundRect">
            <a:avLst>
              <a:gd name="adj" fmla="val 5195"/>
            </a:avLst>
          </a:prstGeom>
          <a:solidFill>
            <a:srgbClr val="F1DEDE"/>
          </a:solidFill>
          <a:ln w="12700">
            <a:solidFill>
              <a:srgbClr val="F1DE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3968496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447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bash(command=...)  read_file(...)  重复状态句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447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RemoteProtocolError / incomplete chunked read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447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长时间无反馈，最终整段堆积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27648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呈现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09360" y="3730752"/>
            <a:ext cx="5212080" cy="1408176"/>
          </a:xfrm>
          <a:prstGeom prst="roundRect">
            <a:avLst>
              <a:gd name="adj" fmla="val 5195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968496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正在检查工作区  →  已运行 6 条命令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连接中断：可重试，并保留有效上下文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完成后只留下清晰结论、产物与验证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121408" y="5513832"/>
            <a:ext cx="7936992" cy="502920"/>
          </a:xfrm>
          <a:prstGeom prst="roundRect">
            <a:avLst>
              <a:gd name="adj" fmla="val 14545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5596128"/>
            <a:ext cx="7516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价值：用户知道“现在在做什么、哪里卡住、最终交付了什么”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证据：runtime stream handling · progress timeline · failure sanitization tests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DEPTH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应用不是接口调用，而是完整 Agent 闭环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/ Web3 应用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572768"/>
            <a:ext cx="66751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29968" y="1901952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2048256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39696" y="2414016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 · Git · 文件 · 记忆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92040" y="1901952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56632" y="2048256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01768" y="2414016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拆解目标与约束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92040" y="384048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56632" y="398678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01768" y="435254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Shell · 文件 · MCP · Skills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029968" y="384048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94560" y="398678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9696" y="435254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 · 文档 · 图表 · diff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56432" y="2926080"/>
            <a:ext cx="1883664" cy="749808"/>
          </a:xfrm>
          <a:prstGeom prst="roundRect">
            <a:avLst>
              <a:gd name="adj" fmla="val 97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21024" y="29992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Code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005072" y="2816352"/>
            <a:ext cx="0" cy="-45720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40096" y="3300984"/>
            <a:ext cx="502920" cy="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005072" y="3675888"/>
            <a:ext cx="0" cy="41148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56432" y="3300984"/>
            <a:ext cx="-502920" cy="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48840" y="5193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验证通过后继续 / 失败则带上下文恢复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699248" y="17373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深度的四个证据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726680" y="2450592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09560" y="230428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多轮、多步骤任务，而非单次问答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726680" y="307238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09560" y="29260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真实本地工具执行与文件变更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726680" y="3694176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09560" y="3547872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产物、验证和错误恢复进入同一循环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726680" y="431596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09560" y="416966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记忆与技能让能力跨任务复用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699248" y="5074920"/>
            <a:ext cx="3657600" cy="822960"/>
          </a:xfrm>
          <a:prstGeom prst="roundRect">
            <a:avLst>
              <a:gd name="adj" fmla="val 8889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955280" y="521208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当前版本选择把 AI 做深，不用 Web3 贴标签。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若未来接入链上能力，只用于插件签名与发布溯源。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当前已实现 AI Agent 闭环；Web3 仅作为有需求时的可验证基础设施选项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ECOSYSTEM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生态能力：把开源资产变成可控、可安装的生产力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商业与生态潜力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27632"/>
            <a:ext cx="10863072" cy="868680"/>
          </a:xfrm>
          <a:prstGeom prst="roundRect">
            <a:avLst>
              <a:gd name="adj" fmla="val 8421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179222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EBAI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761488" y="177393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commands · agent commands · rules · hooks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76288" y="179222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映射到 ~/.bai；hooks 默认关闭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" y="2743200"/>
            <a:ext cx="10863072" cy="868680"/>
          </a:xfrm>
          <a:prstGeom prst="roundRect">
            <a:avLst>
              <a:gd name="adj" fmla="val 8421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29077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Hermes-derived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61488" y="288950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 个可审阅 SKILL.md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76288" y="2907792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研究、开发、生产力、MLOps 等类别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3858768"/>
            <a:ext cx="10863072" cy="868680"/>
          </a:xfrm>
          <a:prstGeom prst="roundRect">
            <a:avLst>
              <a:gd name="adj" fmla="val 8421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02336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Agent-Reach / MCP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761488" y="400507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外部搜索与工具连接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4023360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按需安装，不静默扩大权限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4974336"/>
            <a:ext cx="10863072" cy="868680"/>
          </a:xfrm>
          <a:prstGeom prst="roundRect">
            <a:avLst>
              <a:gd name="adj" fmla="val 8421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51389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Work Native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2761488" y="512064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Guardrails · Token Efficiency · Speckit · Memory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513892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形成产品默认能力与安全口径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" y="5486400"/>
            <a:ext cx="10863072" cy="566928"/>
          </a:xfrm>
          <a:prstGeom prst="roundRect">
            <a:avLst>
              <a:gd name="adj" fmla="val 12903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577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生态原则：能复用，但必须可追溯、可禁用、可限定作用域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仓库实测：resources/skills 下 78 个 SKILL.md，其中 73 个 Hermes-derived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安全不是限制功能，而是定义可信执行边界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/ Web3 应用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27632"/>
            <a:ext cx="2743200" cy="4315968"/>
          </a:xfrm>
          <a:prstGeom prst="roundRect">
            <a:avLst>
              <a:gd name="adj" fmla="val 2667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50976" y="1874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用户可信区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542032"/>
            <a:ext cx="1938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API key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项目文件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工作区选择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审批与问题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417320" y="5120640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90472" y="5129784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本地保存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84448" y="3749040"/>
            <a:ext cx="685800" cy="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15968" y="1627632"/>
            <a:ext cx="2761488" cy="4315968"/>
          </a:xfrm>
          <a:prstGeom prst="roundRect">
            <a:avLst>
              <a:gd name="adj" fmla="val 2649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90288" y="18745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边界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36592" y="267004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9472" y="2523744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127.0.0.1 默认绑定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36592" y="320040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9472" y="3054096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Renderer 最小 IPC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36592" y="3730752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19472" y="3584448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凭据不回显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36592" y="426110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19472" y="41148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外部错误清洗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36592" y="4791456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19472" y="464515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日志路径可定位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269480" y="3749040"/>
            <a:ext cx="685800" cy="0"/>
          </a:xfrm>
          <a:prstGeom prst="line">
            <a:avLst/>
          </a:prstGeom>
          <a:noFill/>
          <a:ln w="25400">
            <a:solidFill>
              <a:srgbClr val="B87B1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991856" y="1627632"/>
            <a:ext cx="3529584" cy="4315968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2752" y="18745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外部能力区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375904" y="267004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58784" y="252374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 hooks 安装后 disabled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375904" y="320040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58784" y="305409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启用必须指定 trusted workspace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375904" y="3730752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58784" y="358444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workspace/.bai/hooks.toml 作用域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375904" y="426110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58784" y="411480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 rules 时拒绝 symlink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75904" y="4791456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58784" y="46451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/ Agent-Reach 按需安装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26280" y="5257800"/>
            <a:ext cx="2340864" cy="420624"/>
          </a:xfrm>
          <a:prstGeom prst="roundRect">
            <a:avLst>
              <a:gd name="adj" fmla="val 17391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63440" y="5321808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默认安全，显式授权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证据：credential redaction · loopback service · trusted-workspace hooks tests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工程证据：不是原型截图，而是已构建的软件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产品完成度 · 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245059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874520"/>
            <a:ext cx="2048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459736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桌面平台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277063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/ Apple Silicon / Windows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401568" y="1664208"/>
            <a:ext cx="245059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02736" y="1874520"/>
            <a:ext cx="2048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168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459736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测试文件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77063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 main、runtime、renderer、服务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44768" y="1664208"/>
            <a:ext cx="245059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1874520"/>
            <a:ext cx="2048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977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1,144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459736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自动化测试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277063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本轮完整测试全部通过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887968" y="1664208"/>
            <a:ext cx="245059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74520"/>
            <a:ext cx="2048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0.9.1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459736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Code runtime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16568" y="277063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packaged smoke healthy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58368" y="3675888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7581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macOS Intel x64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7307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自包含 CPython 3.11 + BAI Code runtime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577072" y="3767328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50224" y="377647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已在本机重新构建并运行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70832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45312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macOS arm64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4256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 BAI Code wheelhouse + user-local venv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577072" y="4462272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50224" y="447141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原生 CI 构建与 smoke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58368" y="5065776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14807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x64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246120" y="51206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 win_amd64 wheelhouse + NSIS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77072" y="5157216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50224" y="5166360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原生 CI 构建与 smoke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8368" y="5888736"/>
            <a:ext cx="10863072" cy="384048"/>
          </a:xfrm>
          <a:prstGeom prst="roundRect">
            <a:avLst>
              <a:gd name="adj" fmla="val 19048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96112" y="5943600"/>
            <a:ext cx="10378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验证链：typecheck → lint → unit tests → production build → electron-builder → packaged runtime smoke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当前事实：Mac Intel binary 为 Mach-O 64-bit x86_64；CFBundleDisplayName = BAI Work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真实需求：先服务高频、长链路的知识工作者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商业与生态潜力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91640"/>
            <a:ext cx="3364992" cy="3566160"/>
          </a:xfrm>
          <a:prstGeom prst="roundRect">
            <a:avLst>
              <a:gd name="adj" fmla="val 2174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7824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28600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个人开发者 / 研究者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540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核心痛点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37413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本地项目任务长、文件多、需要持续上下文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4251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5720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从问题到代码 / 文档 / 图表的一站式交付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43400" y="1691640"/>
            <a:ext cx="3364992" cy="3566160"/>
          </a:xfrm>
          <a:prstGeom prst="roundRect">
            <a:avLst>
              <a:gd name="adj" fmla="val 2174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2856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62856" y="228600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小型研发团队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62856" y="30540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核心痛点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337413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重复流程难复用，Agent 行为和权限难统一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4251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45720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 skills、规则、Provider 与审阅口径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28432" y="1691640"/>
            <a:ext cx="3364992" cy="3566160"/>
          </a:xfrm>
          <a:prstGeom prst="roundRect">
            <a:avLst>
              <a:gd name="adj" fmla="val 2174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2286000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生态开发者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30540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核心痛点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247888" y="337413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CLI 能力缺少桌面入口、分发和用户反馈面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251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45720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runtime、模型和生态能力带到日常工作流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5687568"/>
            <a:ext cx="10149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首批验证不追求“所有 AI 用户”，而聚焦已有本地项目、愿意把任务交给 Agent 的用户。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商业判断基于 Jobs-to-be-done；不使用未经验证的市场规模数字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16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商业化：从个人工作台到团队 Agent 基础设施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商业与生态潜力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2084832"/>
            <a:ext cx="2578608" cy="3310128"/>
          </a:xfrm>
          <a:prstGeom prst="roundRect">
            <a:avLst>
              <a:gd name="adj" fmla="val 2837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267712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" y="22768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获客入口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43200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7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Source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9536" y="352958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2416" y="3383280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本地工作台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9536" y="408736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3941064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基础 runtime 与 skills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9536" y="4645152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2416" y="4498848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社区贡献与透明安全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56432" y="1847088"/>
            <a:ext cx="2578608" cy="3547872"/>
          </a:xfrm>
          <a:prstGeom prst="roundRect">
            <a:avLst>
              <a:gd name="adj" fmla="val 283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3931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12464" y="20391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个人增值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639312" y="2505456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3694176" y="329184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77056" y="3145536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多设备同步与备份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94176" y="384962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77056" y="3703320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高级自动化 / 更强模型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94176" y="440740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77056" y="4261104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云端任务与长期历史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91072" y="1609344"/>
            <a:ext cx="2578608" cy="3785616"/>
          </a:xfrm>
          <a:prstGeom prst="roundRect">
            <a:avLst>
              <a:gd name="adj" fmla="val 283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73952" y="1792224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47104" y="18013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团队协作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473952" y="2267712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528816" y="3054096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11696" y="2907792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 skills 与策略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28816" y="361188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11696" y="3465576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审计、配额与权限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28816" y="4169664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4023360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 Provider / SSO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125712" y="1371600"/>
            <a:ext cx="2578608" cy="4023360"/>
          </a:xfrm>
          <a:prstGeom prst="roundRect">
            <a:avLst>
              <a:gd name="adj" fmla="val 2837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08592" y="155448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1744" y="1563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平台收入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308592" y="2029968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Ecosystem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9363456" y="2816352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46336" y="2670048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精选能力市场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363456" y="3374136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546336" y="3227832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Provider 联合分发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9363456" y="393192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546336" y="3785616"/>
            <a:ext cx="19019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企业集成与服务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58368" y="5669280"/>
            <a:ext cx="10863072" cy="457200"/>
          </a:xfrm>
          <a:prstGeom prst="roundRect">
            <a:avLst>
              <a:gd name="adj" fmla="val 16000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96112" y="5742432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当前状态：开源核心已落地；Pro / Team / Ecosystem 为待试点验证的商业假设。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商业化顺序：先证明高频留存与任务完成率，再扩展团队和市场能力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16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ECOSYSTEM FLYWHEEL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生态飞轮：每次任务都能沉淀为下一次的能力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商业与生态潜力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42316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256946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使用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93522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真实项目产生需求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926080"/>
            <a:ext cx="210312" cy="-795528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56432" y="1627632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7739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沉淀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13969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命令 / skill / 规则 / 记忆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88152" y="2130552"/>
            <a:ext cx="612648" cy="0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0" y="1627632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7739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65392" y="213969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审阅 / 禁用 / 权限 / 签名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732520" y="2130552"/>
            <a:ext cx="210312" cy="795528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42832" y="242316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07424" y="256946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107424" y="293522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个人与团队工作流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42832" y="2926080"/>
            <a:ext cx="-210312" cy="1463040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0" y="38862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65392" y="40325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反馈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439826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模型、runtime 与产品改进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4389120"/>
            <a:ext cx="-612648" cy="0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456432" y="38862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21024" y="40325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621024" y="439826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更多用户与生态贡献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56432" y="4389120"/>
            <a:ext cx="-210312" cy="-1463040"/>
          </a:xfrm>
          <a:prstGeom prst="line">
            <a:avLst/>
          </a:prstGeom>
          <a:noFill/>
          <a:ln w="16510">
            <a:solidFill>
              <a:srgbClr val="D9DEE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745736" y="2761488"/>
            <a:ext cx="2697480" cy="1024128"/>
          </a:xfrm>
          <a:prstGeom prst="roundRect">
            <a:avLst>
              <a:gd name="adj" fmla="val 7143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2889504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生态工作面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786384" y="5559552"/>
            <a:ext cx="10625328" cy="566928"/>
          </a:xfrm>
          <a:prstGeom prst="roundRect">
            <a:avLst>
              <a:gd name="adj" fmla="val 12903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7552" y="5650992"/>
            <a:ext cx="10222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BAI 的协同：桌面分发扩大 runtime 使用 → API 与模型进入真实任务 → 用户反馈反哺协议和产品。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可选 Web3 方向仅限可验证插件签名与发布溯源，不作为当前功能陈述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16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&amp; METRICS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周路线图：从可发布到可规模化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商业与生态潜力 ·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19072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193852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1947672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487168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v0.1.1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3108960"/>
            <a:ext cx="20665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三平台产物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可运行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技能生态与安全边界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172968" y="3182112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38144" y="1719072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39312" y="193852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12464" y="1947672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W1—4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2487168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发布级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3639312" y="3108960"/>
            <a:ext cx="20665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对齐 official service contract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Developer ID / notarization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Windows code signing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52744" y="3182112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0" y="1719072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9088" y="193852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1947672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W5—8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487168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试点级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6419088" y="3108960"/>
            <a:ext cx="20665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3—5 个真实团队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首轮 onboarding 与遥测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插件审阅流程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732520" y="3182112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997696" y="1719072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98864" y="193852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1947672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W9—12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487168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团队级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108960"/>
            <a:ext cx="20665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 skills / policy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审计与权限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生态闭环小规模验证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148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验证指标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600200" y="5102352"/>
            <a:ext cx="1719072" cy="310896"/>
          </a:xfrm>
          <a:prstGeom prst="roundRect">
            <a:avLst>
              <a:gd name="adj" fmla="val 23529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673352" y="51114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首次任务完成率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38728" y="5102352"/>
            <a:ext cx="1719072" cy="310896"/>
          </a:xfrm>
          <a:prstGeom prst="roundRect">
            <a:avLst>
              <a:gd name="adj" fmla="val 23529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11880" y="51114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首个产物耗时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7256" y="5102352"/>
            <a:ext cx="1719072" cy="310896"/>
          </a:xfrm>
          <a:prstGeom prst="roundRect">
            <a:avLst>
              <a:gd name="adj" fmla="val 23529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50408" y="51114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错误恢复率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15784" y="5102352"/>
            <a:ext cx="1719072" cy="310896"/>
          </a:xfrm>
          <a:prstGeom prst="roundRect">
            <a:avLst>
              <a:gd name="adj" fmla="val 23529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88936" y="51114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周活跃项目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354312" y="5102352"/>
            <a:ext cx="1719072" cy="310896"/>
          </a:xfrm>
          <a:prstGeom prst="roundRect">
            <a:avLst>
              <a:gd name="adj" fmla="val 23529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27464" y="51114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 skill 复用率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207008" y="5879592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原则：每个阶段都以行为指标验收，不以“新增多少功能”验收。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下一关键里程碑：官方桌面 service contract 对齐 + 可信签名发布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16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 PLAYBOOK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答辩现场：3 分钟证明产品价值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12680" y="32004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85832" y="32918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展示表达能力 · 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3794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00:00—00:30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240280" y="2002536"/>
            <a:ext cx="475488" cy="0"/>
          </a:xfrm>
          <a:prstGeom prst="line">
            <a:avLst/>
          </a:prstGeom>
          <a:noFill/>
          <a:ln w="38100">
            <a:solidFill>
              <a:srgbClr val="3559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7792" y="17647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打开项目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6479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展示最新 B.AI Work 首页、workspace 与模型配置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79806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00:30—01:30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240280" y="2962656"/>
            <a:ext cx="475488" cy="0"/>
          </a:xfrm>
          <a:prstGeom prst="line">
            <a:avLst/>
          </a:prstGeom>
          <a:noFill/>
          <a:ln w="38100">
            <a:solidFill>
              <a:srgbClr val="2B7A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7792" y="27249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发送任务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7249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一句指令触发计划、工具步骤和实时状态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7581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01:30—02:30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40280" y="3922776"/>
            <a:ext cx="475488" cy="0"/>
          </a:xfrm>
          <a:prstGeom prst="line">
            <a:avLst/>
          </a:prstGeom>
          <a:noFill/>
          <a:ln w="38100">
            <a:solidFill>
              <a:srgbClr val="D864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07792" y="36850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审阅交付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368503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打开生成文件 / diff / 文档，说明验证结果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71830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02:30—03:00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240280" y="4882896"/>
            <a:ext cx="475488" cy="0"/>
          </a:xfrm>
          <a:prstGeom prst="line">
            <a:avLst/>
          </a:prstGeom>
          <a:noFill/>
          <a:ln w="38100">
            <a:solidFill>
              <a:srgbClr val="39775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07792" y="46451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证明边界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64515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 EBAI hooks 默认关闭与三平台 release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3232" y="5623560"/>
            <a:ext cx="5230368" cy="603504"/>
          </a:xfrm>
          <a:prstGeom prst="roundRect">
            <a:avLst>
              <a:gd name="adj" fmla="val 12121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" y="573328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成功标准：任务推进可见 + 产物可打开 + 验证可复述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72200" y="5623560"/>
            <a:ext cx="5230368" cy="603504"/>
          </a:xfrm>
          <a:prstGeom prst="roundRect">
            <a:avLst>
              <a:gd name="adj" fmla="val 12121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82512" y="573328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网络兜底：packaged health + 预生成产物 + 最新截图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" y="65471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演示时只跑一条主流程；不在台上临时安装依赖或修改 Provider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0808208" y="65288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16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Documents/MIMO Work/BAI-Work-macOS-Intel/src/asset/img/bai-work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180" y="530352"/>
            <a:ext cx="3435096" cy="8961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4944" y="17830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可执行的 AI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94944" y="24688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可验证的工程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1546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E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可扩展的生态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187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DD4D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 BAI Work。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0" y="713232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0" y="713232"/>
            <a:ext cx="73152" cy="71323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42432" y="832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技术创新性 · 20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88352" y="81381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Runtime Host + 稳定 /v1/* + 可观测状态机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0" y="1645920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0" y="1645920"/>
            <a:ext cx="73152" cy="713232"/>
          </a:xfrm>
          <a:prstGeom prst="rect">
            <a:avLst/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742432" y="17647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产品完成度 · 25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88352" y="1746504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三平台产物、可运行应用、1,144 项测试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0" y="2578608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0" y="2578608"/>
            <a:ext cx="73152" cy="713232"/>
          </a:xfrm>
          <a:prstGeom prst="rect">
            <a:avLst/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42432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商业生态 · 20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388352" y="267919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 → 团队 → 能力市场的递进路径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0" y="3511296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0" y="3511296"/>
            <a:ext cx="73152" cy="71323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742432" y="36301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应用 · 20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388352" y="36118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上下文、工具、产物、验证、记忆完整闭环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4443984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0" y="4443984"/>
            <a:ext cx="73152" cy="71323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42432" y="45628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展示表达 · 15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388352" y="4544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分钟主流程演示 + 网络兜底证据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0" y="5504688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15000" y="564184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下一步：3—5 个试点团队 · official service contract · 可信签名发布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694944" y="61447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FD4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github.com/2830500285/BAI-Work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BAI 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BAI Work 项目答辩</dc:title>
  <dc:subject>BAI Work Genesis Hackathon defense deck</dc:subject>
  <dc:creator>BAI Work</dc:creator>
  <cp:lastModifiedBy>BAI Work</cp:lastModifiedBy>
  <cp:revision>1</cp:revision>
  <dcterms:created xsi:type="dcterms:W3CDTF">2026-07-12T04:27:16Z</dcterms:created>
  <dcterms:modified xsi:type="dcterms:W3CDTF">2026-07-12T04:27:16Z</dcterms:modified>
</cp:coreProperties>
</file>