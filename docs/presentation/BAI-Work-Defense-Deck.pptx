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9e5ded3f5f4b7a" /><Relationship Type="http://schemas.openxmlformats.org/officeDocument/2006/relationships/extended-properties" Target="/docProps/app.xml" Id="R9141aa11b2cd416d" /><Relationship Type="http://schemas.openxmlformats.org/officeDocument/2006/relationships/officeDocument" Target="/ppt/presentation.xml" Id="Re7903f10f8cd43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ab43f5caa14b91"/>
  </p:sldMasterIdLst>
  <p:notesMasterIdLst>
    <p:notesMasterId xmlns:r="http://schemas.openxmlformats.org/officeDocument/2006/relationships" r:id="Rbb9fbd8b66d94dd2"/>
  </p:notesMasterIdLst>
  <p:sldIdLst>
    <p:sldId xmlns:r="http://schemas.openxmlformats.org/officeDocument/2006/relationships" id="256" r:id="R88a4528b3ab64885"/>
    <p:sldId xmlns:r="http://schemas.openxmlformats.org/officeDocument/2006/relationships" id="257" r:id="Rf38eb84d07c44586"/>
    <p:sldId xmlns:r="http://schemas.openxmlformats.org/officeDocument/2006/relationships" id="258" r:id="R05f665cd009a434b"/>
    <p:sldId xmlns:r="http://schemas.openxmlformats.org/officeDocument/2006/relationships" id="259" r:id="Re5a5ed117be24032"/>
    <p:sldId xmlns:r="http://schemas.openxmlformats.org/officeDocument/2006/relationships" id="260" r:id="Rf5cbb0b38fdf4f7c"/>
    <p:sldId xmlns:r="http://schemas.openxmlformats.org/officeDocument/2006/relationships" id="261" r:id="R6ccdc5e499e64adb"/>
    <p:sldId xmlns:r="http://schemas.openxmlformats.org/officeDocument/2006/relationships" id="262" r:id="R1bd9c53c4abd4f1d"/>
    <p:sldId xmlns:r="http://schemas.openxmlformats.org/officeDocument/2006/relationships" id="263" r:id="Ra056053b63344032"/>
    <p:sldId xmlns:r="http://schemas.openxmlformats.org/officeDocument/2006/relationships" id="264" r:id="R7d49ee1a5c814cfd"/>
    <p:sldId xmlns:r="http://schemas.openxmlformats.org/officeDocument/2006/relationships" id="265" r:id="Ra9b72f973fab4250"/>
    <p:sldId xmlns:r="http://schemas.openxmlformats.org/officeDocument/2006/relationships" id="266" r:id="R370d09b547a14b42"/>
    <p:sldId xmlns:r="http://schemas.openxmlformats.org/officeDocument/2006/relationships" id="267" r:id="R598492fbb91140dc"/>
    <p:sldId xmlns:r="http://schemas.openxmlformats.org/officeDocument/2006/relationships" id="268" r:id="R06af79e31ba9459e"/>
    <p:sldId xmlns:r="http://schemas.openxmlformats.org/officeDocument/2006/relationships" id="269" r:id="Ra563fd9a18754608"/>
    <p:sldId xmlns:r="http://schemas.openxmlformats.org/officeDocument/2006/relationships" id="270" r:id="R8fb042ac888e4866"/>
    <p:sldId xmlns:r="http://schemas.openxmlformats.org/officeDocument/2006/relationships" id="271" r:id="R3fdcc68542a748c0"/>
    <p:sldId xmlns:r="http://schemas.openxmlformats.org/officeDocument/2006/relationships" id="272" r:id="Ra0dc3f2c3ea144bd"/>
    <p:sldId xmlns:r="http://schemas.openxmlformats.org/officeDocument/2006/relationships" id="273" r:id="R5fdbc260b21544f0"/>
    <p:sldId xmlns:r="http://schemas.openxmlformats.org/officeDocument/2006/relationships" id="274" r:id="Ra7ccdd15ca2446b5"/>
  </p:sldIdLst>
  <p:sldSz cx="12191695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fa2c0e3548434b" /><Relationship Type="http://schemas.openxmlformats.org/officeDocument/2006/relationships/slideMaster" Target="/ppt/slideMasters/slideMaster1.xml" Id="R7fab43f5caa14b91" /><Relationship Type="http://schemas.openxmlformats.org/officeDocument/2006/relationships/notesMaster" Target="/ppt/notesMasters/notesMaster1.xml" Id="Rbb9fbd8b66d94dd2" /><Relationship Type="http://schemas.openxmlformats.org/officeDocument/2006/relationships/presProps" Target="/ppt/presProps.xml" Id="Re2f416c239e94434" /><Relationship Type="http://schemas.openxmlformats.org/officeDocument/2006/relationships/viewProps" Target="/ppt/viewProps.xml" Id="R1587b268cf9346f0" /><Relationship Type="http://schemas.openxmlformats.org/officeDocument/2006/relationships/tableStyles" Target="/ppt/tableStyles.xml" Id="R0bf5e587add14663" /><Relationship Type="http://schemas.openxmlformats.org/officeDocument/2006/relationships/slide" Target="/ppt/slides/slide1.xml" Id="R88a4528b3ab64885" /><Relationship Type="http://schemas.openxmlformats.org/officeDocument/2006/relationships/slide" Target="/ppt/slides/slide2.xml" Id="Rf38eb84d07c44586" /><Relationship Type="http://schemas.openxmlformats.org/officeDocument/2006/relationships/slide" Target="/ppt/slides/slide3.xml" Id="R05f665cd009a434b" /><Relationship Type="http://schemas.openxmlformats.org/officeDocument/2006/relationships/slide" Target="/ppt/slides/slide4.xml" Id="Re5a5ed117be24032" /><Relationship Type="http://schemas.openxmlformats.org/officeDocument/2006/relationships/slide" Target="/ppt/slides/slide5.xml" Id="Rf5cbb0b38fdf4f7c" /><Relationship Type="http://schemas.openxmlformats.org/officeDocument/2006/relationships/slide" Target="/ppt/slides/slide6.xml" Id="R6ccdc5e499e64adb" /><Relationship Type="http://schemas.openxmlformats.org/officeDocument/2006/relationships/slide" Target="/ppt/slides/slide7.xml" Id="R1bd9c53c4abd4f1d" /><Relationship Type="http://schemas.openxmlformats.org/officeDocument/2006/relationships/slide" Target="/ppt/slides/slide8.xml" Id="Ra056053b63344032" /><Relationship Type="http://schemas.openxmlformats.org/officeDocument/2006/relationships/slide" Target="/ppt/slides/slide9.xml" Id="R7d49ee1a5c814cfd" /><Relationship Type="http://schemas.openxmlformats.org/officeDocument/2006/relationships/slide" Target="/ppt/slides/slide10.xml" Id="Ra9b72f973fab4250" /><Relationship Type="http://schemas.openxmlformats.org/officeDocument/2006/relationships/slide" Target="/ppt/slides/slide11.xml" Id="R370d09b547a14b42" /><Relationship Type="http://schemas.openxmlformats.org/officeDocument/2006/relationships/slide" Target="/ppt/slides/slide12.xml" Id="R598492fbb91140dc" /><Relationship Type="http://schemas.openxmlformats.org/officeDocument/2006/relationships/slide" Target="/ppt/slides/slide13.xml" Id="R06af79e31ba9459e" /><Relationship Type="http://schemas.openxmlformats.org/officeDocument/2006/relationships/slide" Target="/ppt/slides/slide14.xml" Id="Ra563fd9a18754608" /><Relationship Type="http://schemas.openxmlformats.org/officeDocument/2006/relationships/slide" Target="/ppt/slides/slide15.xml" Id="R8fb042ac888e4866" /><Relationship Type="http://schemas.openxmlformats.org/officeDocument/2006/relationships/slide" Target="/ppt/slides/slide16.xml" Id="R3fdcc68542a748c0" /><Relationship Type="http://schemas.openxmlformats.org/officeDocument/2006/relationships/slide" Target="/ppt/slides/slide17.xml" Id="Ra0dc3f2c3ea144bd" /><Relationship Type="http://schemas.openxmlformats.org/officeDocument/2006/relationships/slide" Target="/ppt/slides/slide18.xml" Id="R5fdbc260b21544f0" /><Relationship Type="http://schemas.openxmlformats.org/officeDocument/2006/relationships/slide" Target="/ppt/slides/slide19.xml" Id="Ra7ccdd15ca2446b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233019258041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b7b8da333c648de" /><Relationship Type="http://schemas.openxmlformats.org/officeDocument/2006/relationships/notesMaster" Target="/ppt/notesMasters/notesMaster1.xml" Id="Re8819324b50541b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6ca88f9fe3542a0" /><Relationship Type="http://schemas.openxmlformats.org/officeDocument/2006/relationships/notesMaster" Target="/ppt/notesMasters/notesMaster1.xml" Id="Rb0872eefcbe64b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58830c79ad4bc2" /><Relationship Type="http://schemas.openxmlformats.org/officeDocument/2006/relationships/notesMaster" Target="/ppt/notesMasters/notesMaster1.xml" Id="Rde03ac06f11c4b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44cd6ee09e9418b" /><Relationship Type="http://schemas.openxmlformats.org/officeDocument/2006/relationships/notesMaster" Target="/ppt/notesMasters/notesMaster1.xml" Id="Rc6c35e1d7ce448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9c89db5fbc42bd" /><Relationship Type="http://schemas.openxmlformats.org/officeDocument/2006/relationships/notesMaster" Target="/ppt/notesMasters/notesMaster1.xml" Id="Re490559f9da248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20b24b7317145cf" /><Relationship Type="http://schemas.openxmlformats.org/officeDocument/2006/relationships/notesMaster" Target="/ppt/notesMasters/notesMaster1.xml" Id="R5c928c4999c04a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9dbcaaa7d5474a" /><Relationship Type="http://schemas.openxmlformats.org/officeDocument/2006/relationships/notesMaster" Target="/ppt/notesMasters/notesMaster1.xml" Id="R228417b620604a2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284d69075274018" /><Relationship Type="http://schemas.openxmlformats.org/officeDocument/2006/relationships/notesMaster" Target="/ppt/notesMasters/notesMaster1.xml" Id="R49d3ba9a62074a5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2964f09ed3b4fb4" /><Relationship Type="http://schemas.openxmlformats.org/officeDocument/2006/relationships/notesMaster" Target="/ppt/notesMasters/notesMaster1.xml" Id="R80e15425028f4a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d5964b609ec40a9" /><Relationship Type="http://schemas.openxmlformats.org/officeDocument/2006/relationships/notesMaster" Target="/ppt/notesMasters/notesMaster1.xml" Id="R7c0f28396a3746f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4a5e84c6b5d446e" /><Relationship Type="http://schemas.openxmlformats.org/officeDocument/2006/relationships/notesMaster" Target="/ppt/notesMasters/notesMaster1.xml" Id="R1dd7ae4a7d19478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d15706322ff4597" /><Relationship Type="http://schemas.openxmlformats.org/officeDocument/2006/relationships/notesMaster" Target="/ppt/notesMasters/notesMaster1.xml" Id="Rd35661c59297457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dd12ce3dff4421a" /><Relationship Type="http://schemas.openxmlformats.org/officeDocument/2006/relationships/notesMaster" Target="/ppt/notesMasters/notesMaster1.xml" Id="R44ae65b5612b452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e83fe69a5d8434b" /><Relationship Type="http://schemas.openxmlformats.org/officeDocument/2006/relationships/notesMaster" Target="/ppt/notesMasters/notesMaster1.xml" Id="R73434877a46e49c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cd33f583eb3487f" /><Relationship Type="http://schemas.openxmlformats.org/officeDocument/2006/relationships/notesMaster" Target="/ppt/notesMasters/notesMaster1.xml" Id="Rc9f325f5bd5f459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72b78a8b70a4f7f" /><Relationship Type="http://schemas.openxmlformats.org/officeDocument/2006/relationships/notesMaster" Target="/ppt/notesMasters/notesMaster1.xml" Id="R53ee39659568485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1efa5dafbe64578" /><Relationship Type="http://schemas.openxmlformats.org/officeDocument/2006/relationships/notesMaster" Target="/ppt/notesMasters/notesMaster1.xml" Id="R1dc3f3d48406446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d8601916adf4acd" /><Relationship Type="http://schemas.openxmlformats.org/officeDocument/2006/relationships/notesMaster" Target="/ppt/notesMasters/notesMaster1.xml" Id="R6c897687c6e94c0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be8ea5eae7c4203" /><Relationship Type="http://schemas.openxmlformats.org/officeDocument/2006/relationships/notesMaster" Target="/ppt/notesMasters/notesMaster1.xml" Id="R546e3e343c734ee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封面（建议 25 秒）
开场一句：BAI Work 不是另一个聊天入口，而是面向真实项目交付的轻量桌面工作台。
核心差异是把执行链收敛到本地项目：配置更短、过程可见、产物可验收。
当前已有可运行应用、三平台构建路径和完整自动化验证。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产品问题与定义（建议 35 秒）
不要从功能数量开始，先说明真实项目任务为什么需要连续交付。
BAI Work 的目标函数是缩短任务到产物的闭环，而不是覆盖所有通信场景。
这条目标函数决定了后续的轻量架构、过程可观测和 Token Economy。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秒演示目标（建议 45 秒）</a:t>
            </a:r>
          </a:p>
          <a:p xmlns:a="http://schemas.openxmlformats.org/drawingml/2006/main">
            <a:r>
              <a:t>用户只需提供 API Key，主进程完成服务探测、模型拉取、能力分类和保存。</a:t>
            </a:r>
          </a:p>
          <a:p xmlns:a="http://schemas.openxmlformats.org/drawingml/2006/main">
            <a:r>
              <a:t>技术上使用凭据隔离、端点规范化、能力感知发现与幂等集合合并。</a:t>
            </a:r>
          </a:p>
          <a:p xmlns:a="http://schemas.openxmlformats.org/drawingml/2006/main">
            <a:r>
              <a:t>30 秒是顺畅网络下的现场演示目标，不作为固定网络 SLA。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现场演示路径（建议 35 秒 + 3 分钟演示）
演示只跑一条主流程：选项目、发任务、展开步骤、打开产物。
每一步都说用户获得了什么信息，不在现场展开内部实现。
网络异常时切换到打包运行时健康检查、预生成产物与最新界面证据。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产品完成度（建议 40 秒）</a:t>
            </a:r>
          </a:p>
          <a:p xmlns:a="http://schemas.openxmlformats.org/drawingml/2006/main">
            <a:r>
              <a:t>完成度从用户生命周期衡量：配置、执行、观察、审阅、沉淀都在一个工作面完成。</a:t>
            </a:r>
          </a:p>
          <a:p xmlns:a="http://schemas.openxmlformats.org/drawingml/2006/main">
            <a:r>
              <a:t>三平台目标和稳定本地服务边界证明它不是一次性原型。</a:t>
            </a:r>
          </a:p>
          <a:p xmlns:a="http://schemas.openxmlformats.org/drawingml/2006/main">
            <a:r>
              <a:t>EBAI 的 Commands、Agents、Skills、Rules 和 Hooks 是 BAI Work 面向用户的产品能力；来源与安装不定义它的产品身份。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轻量 Runtime Host 架构（建议 50 秒）
核心创新不是桌面框架本身，而是单一 Runtime Host 对协议、凭据、文件和生命周期的收敛。
Renderer 只消费稳定事件模型，因此上游变化不会扩散到整个界面。
项目级状态和本机回环服务共同缩短了任务到产物的执行路径。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项目级 Runtime Host 数据链（建议 55 秒）</a:t>
            </a:r>
          </a:p>
          <a:p xmlns:a="http://schemas.openxmlformats.org/drawingml/2006/main">
            <a:r>
              <a:t>这一页只解释 BAI Work 自身的架构选择：把桌面复杂度集中在 Runtime Host。</a:t>
            </a:r>
          </a:p>
          <a:p xmlns:a="http://schemas.openxmlformats.org/drawingml/2006/main">
            <a:r>
              <a:t>工作台只消费稳定事件，项目上下文、状态、权限和产物则始终围绕 workspace 收敛。</a:t>
            </a:r>
          </a:p>
          <a:p xmlns:a="http://schemas.openxmlformats.org/drawingml/2006/main">
            <a:r>
              <a:t>从输入到验收的每一段都有明确边界，因此长任务可以被观察、恢复和验证。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可观测状态机（建议 45 秒）
事件流先去重、分类和清洗，再进入时间线和最终交付区。
过程区展示工具动作和可验证状态，不展示模型内部思维链。
错误与用量采用保守策略：不让堆栈污染界面，也不把缺失遥测当成零。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Token Economy 控制面（建议 50 秒）</a:t>
            </a:r>
          </a:p>
          <a:p xmlns:a="http://schemas.openxmlformats.org/drawingml/2006/main">
            <a:r>
              <a:t>这里展示的是当前代码中可复现的请求预算配置，不使用仓库里不存在的估算公式。</a:t>
            </a:r>
          </a:p>
          <a:p xmlns:a="http://schemas.openxmlformats.org/drawingml/2006/main">
            <a:r>
              <a:t>历史保护限制发送请求时的超长工具结果和参数，原始聊天记录保持不变。</a:t>
            </a:r>
          </a:p>
          <a:p xmlns:a="http://schemas.openxmlformats.org/drawingml/2006/main">
            <a:r>
              <a:t>当前适配层没有可用的节省遥测，因此界面明确显示不可用，不宣称节省百分比。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上下文治理契约（建议 55 秒）</a:t>
            </a:r>
          </a:p>
          <a:p xmlns:a="http://schemas.openxmlformats.org/drawingml/2006/main">
            <a:r>
              <a:t>第一层约束工具结果，第二层约束工具参数，第三层定义摘要阈值与资源预算。</a:t>
            </a:r>
          </a:p>
          <a:p xmlns:a="http://schemas.openxmlformats.org/drawingml/2006/main">
            <a:r>
              <a:t>这些默认值和输入上限都能从共享设置、IPC schema 与 normalizer 中复现。</a:t>
            </a:r>
          </a:p>
          <a:p xmlns:a="http://schemas.openxmlformats.org/drawingml/2006/main">
            <a:r>
              <a:t>我们把控制面和实际运行效果分开陈述；只有可用遥测才进入节省展示。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EBAI 产品能力体系（建议 60 秒）</a:t>
            </a:r>
          </a:p>
          <a:p xmlns:a="http://schemas.openxmlformats.org/drawingml/2006/main">
            <a:r>
              <a:t>EBAI 的产品定义是 BAI Work 面向用户的能力体系；来源与安装只属于内部交付方式。</a:t>
            </a:r>
          </a:p>
          <a:p xmlns:a="http://schemas.openxmlformats.org/drawingml/2006/main">
            <a:r>
              <a:t>当前 Commands 和 Skills 可被运行时加载，Agents 以命令工作流接入，Rules 以 Skill 指令接入。</a:t>
            </a:r>
          </a:p>
          <a:p xmlns:a="http://schemas.openxmlformats.org/drawingml/2006/main">
            <a:r>
              <a:t>Hooks 当前仅生成默认关闭的 manifest；来源与安装是内部交付方式，不定义 EBAI 的产品身份。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EBAI Hook 安全（建议 50 秒）</a:t>
            </a:r>
          </a:p>
          <a:p xmlns:a="http://schemas.openxmlformats.org/drawingml/2006/main">
            <a:r>
              <a:t>Hook 已作为 EBAI 产品能力之一被建模，覆盖消息、会话和工具调用生命周期。</a:t>
            </a:r>
          </a:p>
          <a:p xmlns:a="http://schemas.openxmlformats.org/drawingml/2006/main">
            <a:r>
              <a:t>当前交付范围是生成默认关闭的 manifest，设置页开关禁用，BAI Code 0.9.1 也没有 Hook 执行契约。</a:t>
            </a:r>
          </a:p>
          <a:p xmlns:a="http://schemas.openxmlformats.org/drawingml/2006/main">
            <a:r>
              <a:t>因此答辩只宣称能力定义、配置边界与安全策略已实现，不把 Hook 冒充为已执行。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执行闭环（建议 45 秒）
BAI Work 的 AI 应用不是单次接口调用，而是上下文、规划、工具、产物和验证的闭环。
验证门将“模型说完成了”转换为文件、差异、测试与运行证据。
可选的签名和发布溯源是后续生态方向，不作为当前完成度陈述。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端到端工程证据链（建议 55 秒）</a:t>
            </a:r>
          </a:p>
          <a:p xmlns:a="http://schemas.openxmlformats.org/drawingml/2006/main">
            <a:r>
              <a:t>这一页把前半段技术点收束为评委可以直接判断的证据链。</a:t>
            </a:r>
          </a:p>
          <a:p xmlns:a="http://schemas.openxmlformats.org/drawingml/2006/main">
            <a:r>
              <a:t>从配置到工程验收，每个用户价值都对应明确的系统机制和验证入口。</a:t>
            </a:r>
          </a:p>
          <a:p xmlns:a="http://schemas.openxmlformats.org/drawingml/2006/main">
            <a:r>
              <a:t>BAI Work 的优势来自完整闭环，不需要依赖外部产品比较。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上游贡献与 BAI Work 可靠性（建议 50 秒）</a:t>
            </a:r>
          </a:p>
          <a:p xmlns:a="http://schemas.openxmlformats.org/drawingml/2006/main">
            <a:r>
              <a:t>我以 @2830500285 身份向 OpenAI Agents SDK 贡献 PR #3642，并随 v0.17.7 正式发布，官方 release 将我列为首次贡献者。</a:t>
            </a:r>
          </a:p>
          <a:p xmlns:a="http://schemas.openxmlformats.org/drawingml/2006/main">
            <a:r>
              <a:t>这项贡献解决长时 Agent 沙箱中的缓冲增长、重复写入和网络超时落盘问题。</a:t>
            </a:r>
          </a:p>
          <a:p xmlns:a="http://schemas.openxmlformats.org/drawingml/2006/main">
            <a:r>
              <a:t>BAI Work 没有移植该段 Python 代码，而是在 Runtime Host 中独立落实同一工程原则：pending 有界、事件游标去重、SSE 断点续传、指数退避与熔断。</a:t>
            </a:r>
          </a:p>
          <a:p xmlns:a="http://schemas.openxmlformats.org/drawingml/2006/main">
            <a:r>
              <a:t>GPT-5.6 ChatGPT Codex 用于本次贡献流程的协作与复核；公开仓库只证明 PR 合并与版本发布，因此不宣称 Codex 产品直接集成这段代码。</a:t>
            </a:r>
          </a:p>
          <a:p xmlns:a="http://schemas.openxmlformats.org/drawingml/2006/main">
            <a:r>
              <a:t>公开来源：https://github.com/openai/openai-agents-python/pull/3642 · https://github.com/openai/openai-agents-python/releases/tag/v0.17.7 · https://help.openai.com/en/articles/20001354-gpt-56-in-chatgpt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本地化用户价值（建议 40 秒）</a:t>
            </a:r>
          </a:p>
          <a:p xmlns:a="http://schemas.openxmlformats.org/drawingml/2006/main">
            <a:r>
              <a:t>不做未经验证的比例判断；重点是许多普通用户从问答进入任务交付时，仍面对持续推进与产物验收的门槛。</a:t>
            </a:r>
          </a:p>
          <a:p xmlns:a="http://schemas.openxmlformats.org/drawingml/2006/main">
            <a:r>
              <a:t>BAI Work 把上下文、工具、进度、产物和验证收进同一工作面，让用户获得可直接使用的成果。</a:t>
            </a:r>
          </a:p>
          <a:p xmlns:a="http://schemas.openxmlformats.org/drawingml/2006/main">
            <a:r>
              <a:t>当前 BAI provider preset 包含 Claude 与 GPT 系列模型；用户通过已获授权的 API Key 使用，具体能力以实际可用性和相关条款为准。</a:t>
            </a:r>
          </a:p>
          <a:p xmlns:a="http://schemas.openxmlformats.org/drawingml/2006/main">
            <a:r>
              <a:t>强调这是通过 BAI 统一入口使用模型能力，不代表 OpenAI 或 Anthropic 的官方合作或背书，也不改变相关服务限制。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首批商业推广（建议 50 秒）
建议采用限量、半价、封顶、限时的受控补贴方案，而不是无上限降价。
优惠在用户绑定有效 API Key 并完成首个项目任务后激活，确保补贴对应真实使用。
用首任务完成率、七日活跃项目和付费转化率决定是否扩大 Cohort。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十二周路线图（建议 45 秒）</a:t>
            </a:r>
          </a:p>
          <a:p xmlns:a="http://schemas.openxmlformats.org/drawingml/2006/main">
            <a:r>
              <a:t>前四周解决发布级稳定性，第二阶段验证首批 Cohort，第三阶段再决定规模化。</a:t>
            </a:r>
          </a:p>
          <a:p xmlns:a="http://schemas.openxmlformats.org/drawingml/2006/main">
            <a:r>
              <a:t>每个阶段用发布质量、真实激活、留存和单位经济验收，而不是继续堆叠功能数量。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收束（建议 30 秒）</a:t>
            </a:r>
          </a:p>
          <a:p xmlns:a="http://schemas.openxmlformats.org/drawingml/2006/main">
            <a:r>
              <a:t>最后一句：简单不是删掉能力，而是把架构、配置和安全复杂度留在系统内部。</a:t>
            </a:r>
          </a:p>
          <a:p xmlns:a="http://schemas.openxmlformats.org/drawingml/2006/main">
            <a:r>
              <a:t>BAI Work 通过轻量架构、Token Economy、EBAI 和工程验证形成完整交付闭环。</a:t>
            </a:r>
          </a:p>
          <a:p xmlns:a="http://schemas.openxmlformats.org/drawingml/2006/main">
            <a:r>
              <a:t>下一步是稳定签名发布并用首批真实用户数据验证留存与单位经济。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403327ae504e1c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4dcb282d9e4330" /><Relationship Type="http://schemas.openxmlformats.org/officeDocument/2006/relationships/slideLayout" Target="/ppt/slideLayouts/slideLayout1.xml" Id="Rfbb19dc3d0384c4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b19dc3d0384c4f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9b0352472a4292" /><Relationship Type="http://schemas.openxmlformats.org/officeDocument/2006/relationships/image" Target="/ppt/media/image.png" Id="R561b9b6cbdea4018" /><Relationship Type="http://schemas.openxmlformats.org/officeDocument/2006/relationships/image" Target="/ppt/media/image2.png" Id="Rf56da05e1564486a" /><Relationship Type="http://schemas.openxmlformats.org/officeDocument/2006/relationships/notesSlide" Target="/ppt/notesSlides/notesSlide1.xml" Id="R71898e484e8c4b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547524cc1427c" /><Relationship Type="http://schemas.openxmlformats.org/officeDocument/2006/relationships/notesSlide" Target="/ppt/notesSlides/notesSlide2.xml" Id="R5713655470594c1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264ee587564cde" /><Relationship Type="http://schemas.openxmlformats.org/officeDocument/2006/relationships/notesSlide" Target="/ppt/notesSlides/notesSlide3.xml" Id="R81c7148b100b4d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8b27564cba49c7" /><Relationship Type="http://schemas.openxmlformats.org/officeDocument/2006/relationships/image" Target="/ppt/media/image3.png" Id="R299c25cc417a4bc6" /><Relationship Type="http://schemas.openxmlformats.org/officeDocument/2006/relationships/notesSlide" Target="/ppt/notesSlides/notesSlide4.xml" Id="R65aa15b900ae449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dfc9692bea41a7" /><Relationship Type="http://schemas.openxmlformats.org/officeDocument/2006/relationships/notesSlide" Target="/ppt/notesSlides/notesSlide5.xml" Id="R21853706f21140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4859c5c30d4a5b" /><Relationship Type="http://schemas.openxmlformats.org/officeDocument/2006/relationships/notesSlide" Target="/ppt/notesSlides/notesSlide6.xml" Id="Re9706223d0c0461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9a293b234d4450" /><Relationship Type="http://schemas.openxmlformats.org/officeDocument/2006/relationships/notesSlide" Target="/ppt/notesSlides/notesSlide7.xml" Id="R91408b58c02846c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9e0a35a9904366" /><Relationship Type="http://schemas.openxmlformats.org/officeDocument/2006/relationships/notesSlide" Target="/ppt/notesSlides/notesSlide8.xml" Id="R1fe4e4ebce73411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f80d8e16794b0d" /><Relationship Type="http://schemas.openxmlformats.org/officeDocument/2006/relationships/notesSlide" Target="/ppt/notesSlides/notesSlide9.xml" Id="Re55136cb56a8455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f9c893495749e3" /><Relationship Type="http://schemas.openxmlformats.org/officeDocument/2006/relationships/notesSlide" Target="/ppt/notesSlides/notesSlide10.xml" Id="R6347faa744704bf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e49bd4cf14fd7" /><Relationship Type="http://schemas.openxmlformats.org/officeDocument/2006/relationships/notesSlide" Target="/ppt/notesSlides/notesSlide11.xml" Id="R9604e04665b74ce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7a24bf9f364096" /><Relationship Type="http://schemas.openxmlformats.org/officeDocument/2006/relationships/notesSlide" Target="/ppt/notesSlides/notesSlide12.xml" Id="R243b6a1530e841f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f0575349746f5" /><Relationship Type="http://schemas.openxmlformats.org/officeDocument/2006/relationships/notesSlide" Target="/ppt/notesSlides/notesSlide13.xml" Id="R1effa81e639345c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23795259134f69" /><Relationship Type="http://schemas.openxmlformats.org/officeDocument/2006/relationships/notesSlide" Target="/ppt/notesSlides/notesSlide14.xml" Id="Re52ede26e39a49c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922a6a0b3f47f3" /><Relationship Type="http://schemas.openxmlformats.org/officeDocument/2006/relationships/notesSlide" Target="/ppt/notesSlides/notesSlide15.xml" Id="Ra802d158f330430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a5208e37bf4d07" /><Relationship Type="http://schemas.openxmlformats.org/officeDocument/2006/relationships/notesSlide" Target="/ppt/notesSlides/notesSlide16.xml" Id="R5a24470f689f429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d2c7db3c6a4a1b" /><Relationship Type="http://schemas.openxmlformats.org/officeDocument/2006/relationships/notesSlide" Target="/ppt/notesSlides/notesSlide17.xml" Id="R8edb2f4eb2e8457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e05d532b1645c3" /><Relationship Type="http://schemas.openxmlformats.org/officeDocument/2006/relationships/notesSlide" Target="/ppt/notesSlides/notesSlide18.xml" Id="Rbe1ab646e7be42f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c5c928081441cb" /><Relationship Type="http://schemas.openxmlformats.org/officeDocument/2006/relationships/image" Target="/ppt/media/image4.png" Id="R56a0ceabe7044684" /><Relationship Type="http://schemas.openxmlformats.org/officeDocument/2006/relationships/notesSlide" Target="/ppt/notesSlides/notesSlide19.xml" Id="R3bc6a76837ae453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0E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C4468A6-0129-43D1-925B-4C0BBFED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0"/>
            <a:ext cx="52879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3C4FAE4-483B-4F3F-826D-B7E9069BA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475488"/>
            <a:ext cx="4754880" cy="507492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1b9b6cbdea40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68896" y="1500759"/>
            <a:ext cx="4608576" cy="3024378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4BA56327-F691-44DF-A6D0-E243B350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8896" y="3678311"/>
            <a:ext cx="4608576" cy="84682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DF3E910-5DED-4212-B2A1-92CFA6CF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1776" y="3973708"/>
            <a:ext cx="42428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BAI Work · 项目级桌面工作台</a:t>
            </a:r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E077EBAE-D9F1-41E6-AA07-E72310AFC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650992"/>
            <a:ext cx="5287975" cy="1207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2B37A77-577B-4EBC-9906-1818B6CC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32918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7EC5C1"/>
                </a:solidFill>
                <a:latin typeface="Aptos"/>
                <a:ea typeface="Aptos"/>
                <a:cs typeface="Aptos"/>
              </a:rPr>
              <a:t>GENESIS HACKATHON</a:t>
            </a:r>
          </a:p>
        </p:txBody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6da05e156448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1084955"/>
            <a:ext cx="5212080" cy="1359673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ED5AAF5-6848-4305-B825-73F52804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651760"/>
            <a:ext cx="5715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项目级轻量 Agent 工作台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C67D328A-7286-4410-A369-E53C4267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364992"/>
            <a:ext cx="5623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C5CDD4"/>
                </a:solidFill>
                <a:latin typeface="PingFang SC"/>
                <a:ea typeface="PingFang SC"/>
                <a:cs typeface="PingFang SC"/>
              </a:rPr>
              <a:t>更短执行链 · 更小故障域 · 更清晰产物闭环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8EA6B0C6-31EE-46BF-90DF-F6A5A106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0680DB7-FDA6-48F6-A91D-A3FD2BFE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30 秒路径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97A8DE6-2FE5-41F0-9C48-F6B8DB7D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D88627D-5C26-4FC9-A655-F101267C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单项目执行</a:t>
            </a:r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A1E80FFC-7E97-4814-9FE8-580455AD0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22B022CD-2CEF-4B52-A63C-2318C73C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Token Economy</a:t>
            </a:r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799C750C-58A4-4BE7-BB2D-3495FFA8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2744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C33D64A7-0AEA-4858-B5C5-D30B3B13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3659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EBAI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5DDEB0DF-5EF8-4518-A51A-EB4DACF0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472744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8B07200E-6A65-43F6-9DFE-94E7CC61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73659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三平台交付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27AE483-2D86-4DAD-9AE3-9A03E15F2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199632"/>
            <a:ext cx="2834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89939D"/>
                </a:solidFill>
                <a:latin typeface="PingFang SC"/>
                <a:ea typeface="PingFang SC"/>
                <a:cs typeface="PingFang SC"/>
              </a:rPr>
              <a:t>项目答辩 · 2026.07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79DB47E-7456-4205-AD74-BB724B823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912" y="5925312"/>
            <a:ext cx="42519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 API Key 到可验收产物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4962B14D-C02F-49BE-A62C-302E5214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912" y="6291072"/>
            <a:ext cx="4251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C8D1D8"/>
                </a:solidFill>
                <a:latin typeface="Aptos"/>
                <a:ea typeface="Aptos"/>
                <a:cs typeface="Aptos"/>
              </a:rPr>
              <a:t>Mac Intel · Mac Apple Silicon · Windows x64</a:t>
            </a:r>
          </a:p>
        </p:txBody>
      </p:sp>
    </p:spTree>
    <p:extLst>
      <p:ext uri="{BB962C8B-B14F-4D97-AF65-F5344CB8AC3E}">
        <p14:creationId xmlns:p14="http://schemas.microsoft.com/office/powerpoint/2010/main" val="6634429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2C813C3-5483-4523-ADCB-6D10DF5C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WHY BAI WORK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495012E-9317-4BAA-B5F9-390FA539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为什么需要 BAI Work：项目任务要求“连续交付”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AC45A3E-2A7E-4168-814B-3C3339CC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8B9A4B9-99E4-4ADF-9C83-5CCD9065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产品定义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D841FB4-0D07-4E2A-A808-C70CAD2A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F9B3CFC-BF23-42B3-8DD9-F0C59428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36192"/>
            <a:ext cx="10561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真实知识工作不是一次问答，而是上下文进入、工具执行、过程反馈、产物审阅与后续复用的连续系统。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20CA6A9-E033-4C58-8404-A5A238CA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0B29BE7-D7D2-4D50-9460-50655CCB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5249094-61E2-4677-9C3B-2297F5A5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上下文割裂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4FB6A00-E9BD-4DE1-81B9-9D27F07F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项目、文件、版本状态与会话历史分散，重复传递成本高。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91CBBA9-4A0D-46EC-ABEA-AD047379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CAF2613-1674-448E-9A1A-3EEC0605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B87B1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EE2B2D3-EA6B-41BD-B8C5-8DE136F0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过程不可观测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9FB9D3D-532A-407B-A2C5-CB4BD646D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长任务只有等待或原始日志，难以判断当前状态和失败位置。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359DA74-D31A-4BDB-BE8B-459E463B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DCB3D55-EC4B-428A-B7D8-733EE562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69B7454-2453-4E9E-BD6F-D6C88C6D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交付不可验收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7BC756A-08AC-422B-AEF8-8A7D35FF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回答与工具过程混在一起，产物、差异和验证证据缺少结构。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44F6DBB-4D29-4E7E-B66D-095E454F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074920"/>
            <a:ext cx="10076688" cy="841248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B965751-9377-4929-A42B-0437278A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230368"/>
            <a:ext cx="9582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BAI Work = 项目上下文 + 本地执行 + 可观测状态机 + 可审阅产物 + 受信任能力层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D82535E-23C9-4817-97F4-74BBC004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02 / 19</a:t>
            </a:r>
          </a:p>
        </p:txBody>
      </p:sp>
    </p:spTree>
    <p:extLst>
      <p:ext uri="{BB962C8B-B14F-4D97-AF65-F5344CB8AC3E}">
        <p14:creationId xmlns:p14="http://schemas.microsoft.com/office/powerpoint/2010/main" val="19903510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8573841-F31A-4A52-BB11-A2BFA5E11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THIRTY-SECOND ONBOARDING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1DEE1BB-AD23-4AD0-92EA-556208A7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30 秒演示目标：API Key 进入，模型能力自动就绪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A99781E-18B8-4260-BE71-504EF1AF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871A98B-BE8C-4512-AC62-437AFCCF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极简上手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3239BC7-4E32-4C9A-A393-AD83ECA9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BA49921-C006-47E9-9DAF-EC885C30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54480"/>
            <a:ext cx="98755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7004493-8E7E-468A-8410-D8F07745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63624"/>
            <a:ext cx="8412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现场路径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762B42C-1B04-4C25-AB5E-67A798A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6CC95DB-3E35-4B54-9FFE-F09E7065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B05F0B8-CC1F-41AA-B51A-2651EC1C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输入 API Key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43F6438-D09C-4011-B060-61E6E96F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Main-Process Credential Isolation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C44BB1B-ACC3-4D0F-8F35-5831A5F3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9B37C37-C594-41FF-B904-959E2697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01F468E-8351-44EE-87F4-835F3A94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1C40199-3B57-4700-A5A9-EA17531C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探测服务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585BEA7-D65D-42E8-86F3-2A1AAE77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Endpoint Canonicalization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884CE66-E0E9-4BBB-854D-E50F08C0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265A3CC-A242-4298-84DC-3C59C786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80D9C9F-707D-46F8-8871-47B77FA5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86B613B-F53B-4482-A491-CF515D2C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拉取模型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E47A739-4319-4D65-936A-32E5796F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GET /v1/models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1E3A7867-2B2F-4855-B984-1B329AAF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468C796D-321F-47BC-9C19-5575A2C8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F15CC39-617D-4388-82F8-E1C3DC5C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E5E1B4A-DF9A-4149-9AC3-4FE9D645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能力分类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C00BD56-26DB-4009-AC86-B10B0F40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Capability-Aware Discovery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0B0DEC9A-1BEC-46A6-8FFD-AF5F0BDA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71E0FE8A-687F-4A87-9CE8-459DCDE3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9028931-80CF-4147-B341-BE5DE906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2AC827A-D63D-42CA-AAA3-AFF86DA5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保存并使用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627E45F2-6357-4B70-BC10-035AEBEF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Idempotent Set Merge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462BCE67-402C-4E2D-95A8-EA8AF26E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977640"/>
            <a:ext cx="6720840" cy="16002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42BD8BE1-4294-42B1-B6D4-896EA2C6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224528"/>
            <a:ext cx="960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实现机制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869B3A7A-6F7D-49B7-BA81-4C8ADABE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2976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BABD9F56-B1FE-4785-A64D-368FE334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160520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凭据只在主进程中参与请求，避免渲染层暴露与跨域约束。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C8C3DFE4-FFA2-4174-BDF4-D030E5F8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7274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DC359B94-E5D6-4B72-8BA4-E7AD9D1D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590288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统一规范化 Base URL，8 秒模型列表超时与 10 秒连通性探测。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182FD910-FAD7-45B4-9F9B-BC70D49D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5157216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56EBF631-D971-491B-9AA6-D7BE91C7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5020056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去重模型 ID，按文本对话能力过滤，并与已有配置幂等合并。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DCB10147-9F3B-4C91-919A-AA39AFB0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977640"/>
            <a:ext cx="3886200" cy="16002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5E488A43-D05B-4502-84FE-4EB63D71F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4224528"/>
            <a:ext cx="32735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用户感知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F024E687-2A78-4C0B-ACAC-0492820B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4617720"/>
            <a:ext cx="327355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无需编辑配置文件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无需手工录入模型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无需理解运行时参数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6F6368F6-74C0-4112-BD99-B49CB842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925312"/>
            <a:ext cx="102870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实际完成时间取决于网络与 API 可用性；30 秒是典型配置目标，不是网络 SLA。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0AB6B718-3555-4BCA-8824-E54F57CF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03 / 19</a:t>
            </a:r>
          </a:p>
        </p:txBody>
      </p:sp>
    </p:spTree>
    <p:extLst>
      <p:ext uri="{BB962C8B-B14F-4D97-AF65-F5344CB8AC3E}">
        <p14:creationId xmlns:p14="http://schemas.microsoft.com/office/powerpoint/2010/main" val="2463669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71078DD-4990-47B6-91A5-E158F51A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DEMO STORY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B2B5A15-5C3C-4BA7-9664-11121D13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现场演示：从一句任务到可验收产物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7185BE5-3F0A-4E8F-BA3C-1C681609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A8AFEF4-76F7-4224-A2F5-2530D58B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用户流程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A18362A-7596-421E-BD17-C29D04E5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6D079D9-2EC5-4CC0-96AD-B33CD484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1536192"/>
            <a:ext cx="6537960" cy="4462272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pic>
        <p:nvPicPr>
          <p:cNvPr id="3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9c25cc417a4b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656" y="1670066"/>
            <a:ext cx="6391656" cy="4194524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80C921EE-4400-4970-8A85-A88050795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4813030"/>
            <a:ext cx="6391656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DC539A4-A39A-4122-B225-293DF739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10794"/>
            <a:ext cx="6025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BAI Work · 项目级桌面工作台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CD6B047-E1ED-41C6-AC51-60F8789A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1627632"/>
            <a:ext cx="96012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AA12D2E9-663E-4A57-9173-D992E3ED6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1636776"/>
            <a:ext cx="8138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演示任务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903D7290-6370-45E3-AAF9-7C079933F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011680"/>
            <a:ext cx="39776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“检查当前项目，持续展示推进过程，并交付可验证结果。”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7601136D-FDBC-4CD0-9648-00E99A3F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907792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AD8E982-5EDE-492C-925E-C6DACDF8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907792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D1AC4D4-1B0C-4AA1-A497-17CF2062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880360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选择项目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946451E-DBF6-4051-855F-02B8067D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163824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项目、文件与版本状态进入上下文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7BC785F7-72BC-4C11-85A3-4B60C60EF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630168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3D31BD6-0CC9-4E7A-84A5-EF9B139E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63016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73E1CAC-1359-401E-BDF7-9C3B0070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602736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启动执行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44A3B37-6A79-4B3D-8712-4DC43452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886200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规划、工具动作与等待状态持续可见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5B7D481C-C6BF-4D5B-BEDA-8DB5C476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4352544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91A13CD8-59C9-4929-8F64-8D6C3CF06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4352544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7BBD0F3-B0E0-4656-A09A-44FF09EB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325112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审阅结果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AECFAA27-3594-49C1-8FBB-BBF2235FB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608576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回答、产物、差异与验证证据分离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0B7A0C61-A37D-433E-BEE0-0EE66FA8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074920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EA2140F-E1EC-4EBD-9B5A-A7A886B5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074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18451B6-B8F7-453D-AEE3-A4F884BA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5047488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沉淀能力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34ADA49-F434-4E05-A689-032EBA31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5330952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规则、技能与记忆进入后续任务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C6846DA2-C43A-4A53-996A-D0444033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04 / 19</a:t>
            </a:r>
          </a:p>
        </p:txBody>
      </p:sp>
    </p:spTree>
    <p:extLst>
      <p:ext uri="{BB962C8B-B14F-4D97-AF65-F5344CB8AC3E}">
        <p14:creationId xmlns:p14="http://schemas.microsoft.com/office/powerpoint/2010/main" val="4281770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43CD613-F19A-4F24-BA23-2BDD0BA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PRODUCT COMPLETENESS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6587FE9-BA20-48F2-8EDE-E76E6E19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产品完成度：一个工作面覆盖完整任务生命周期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F17B5C5-A010-473A-A34A-DE1DEB10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6009B7F-8F28-4E0C-99A1-30EFBA1D2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6436C1B-8B65-4EEB-9899-A8597A76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76A4A70-1957-464B-9A6F-653965C2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F568E13-4041-411D-BA1B-C3C024DD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363436E-10F2-4551-AF4E-03B50DD9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项目与会话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048F7EE-3284-412F-9E1D-526FD47A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Workspace、历史与版本上下文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CB93F6E-709A-46DB-8E53-FE4313F7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B50458D-BB10-48C2-AE27-B42FCF0E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AD6665A-934B-4E87-8AB3-917C065C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模型与服务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4048706-2D0C-4111-9449-5D3B8DF17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BAI 默认与标准兼容协议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F99E4380-1F9A-4358-8907-89A19E2F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1AAFABB-8BA8-46E3-9785-F3AE821E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D3793C3-72AD-4E2A-8A8D-85D0F50E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实时进度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5513482-58A7-4457-9184-1EF4DEBC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步骤、工具摘要与错误恢复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05EB7CA-EBF4-4653-A1DC-CCD5132E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1583149-8EEF-422F-B15B-7A484ED5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7F594B1-B3DD-4F3E-B57E-71439934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文件与产物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D173F62-CF89-4DD2-A45B-56090728B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引用、预览、差异与文档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C2C743E-43A7-4E2C-AB5C-641DF4018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A999CCB-9BA8-4840-9AC0-ACEE3709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54EDE8C-BF4A-4F3F-BF58-D12289E3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长期记忆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4A71E12-5F59-4012-8B4E-5C2B2B78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用户、工作区与项目作用域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9B2BB390-C9CA-41BF-A0E7-A48EC42F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6CBF85A-1800-40D1-842C-77C5A753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427BA5E-9CE3-490C-B169-71867D7E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产品能力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F7F676A4-9B3E-4BD0-9BAF-4AF71DC1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EBAI 命令、技能、规则与自动化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2EEBDB6-40AE-420F-9B34-4DD8F74D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17720"/>
            <a:ext cx="10863072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28E6985-2EEF-43C5-8D1C-E3E47ADD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CF6988AF-9B50-4061-9B1C-BF365CCB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桌面目标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60EC4DF-4354-4122-AAA9-AE1C9A59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mac-x64 / mac-arm64 / win-x64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67111F7-8612-42E3-8739-88B98678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168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33E629F4-1D95-42AC-8BBD-EC03FA25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测试文件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F67D69AF-2752-4627-93D7-1FBC83AD1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main / runtime / renderer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0D414B4C-7B93-46DF-9F08-DB6A38DD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B87B16"/>
                </a:solidFill>
                <a:latin typeface="Aptos Display"/>
                <a:ea typeface="Aptos Display"/>
                <a:cs typeface="Aptos Display"/>
              </a:rPr>
              <a:t>/v1/*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61423DE3-A6E1-4526-8AAF-4E0E7123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本地服务边界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D6A49685-1AC3-43DE-9D70-D1D7DFAE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稳定桌面接口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5339B957-ADED-4977-8489-3DC4F9B8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7520A382-D278-4E40-B196-8081139A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 能力形态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3A1600F1-5F67-4814-B81F-FF8A847E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Command · Agent · Skill · Rule · Hook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E8C255A2-DB9C-4F08-9AA3-0BFEBBD8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9775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D70A0CF3-5D80-4F6B-A7E6-76F3E62D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连续工作流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68CD3C72-502C-4FF5-B480-0CD199E6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任务到产物再到复用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E39C0624-6E6E-43DD-BAFF-76AB4C50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05 / 19</a:t>
            </a:r>
          </a:p>
        </p:txBody>
      </p:sp>
    </p:spTree>
    <p:extLst>
      <p:ext uri="{BB962C8B-B14F-4D97-AF65-F5344CB8AC3E}">
        <p14:creationId xmlns:p14="http://schemas.microsoft.com/office/powerpoint/2010/main" val="14011593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48A23D8-A837-42DF-B261-71763C92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LIGHTWEIGHT RUNTIME ARCHITECTURE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FDD1A6C-0EA0-4DFB-ACD8-46DC01FC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技术实现：单一 Runtime Host 收敛桌面复杂度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F9714E2-9B11-4E7F-8D85-BBDC4129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6B805AF-2176-4C70-9663-5F31DAAC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系统架构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6D80DA2-2ABF-42BB-B141-9DBC6273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ECB318F-C52B-43E2-BF89-37B2B96A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DF717AB-65C4-4E3B-89C6-3421EC2D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Renderer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D2C2BE8-80AC-4373-B9EB-8435597AA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工作台 UI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会话 / 设置 / 审阅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E9791D2-1AF3-4CA6-825B-98991CDC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99B9813-560D-4B0E-95AE-82FC9F17F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9B0009B-C9B1-4734-BD5D-607D2FCC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6664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Preload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5EC4CD7-FA7B-4995-8FAB-09DAEFB4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最小 IPC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受控桌面能力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F4A74F2-60EF-4CD2-ADA7-35D0AEA1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456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BE72771-C654-401E-96C5-84C9A9B63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CE75CAA-9ADC-4D5B-8411-852BD5FD5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Main Host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4A6B48-B1C9-4033-A3A8-6E881AEC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 / 文件 / 生命周期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单一运行时入口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E524433-0323-46FC-98E4-896428BF4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C1D547F-ACED-4611-B101-69013B35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0B24D5A-B0C2-4744-8F2B-E68B1556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Loopback API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3692084-E736-4354-9854-16B8ABE5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稳定 /v1/*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SSE 事件边界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273C0C28-E919-44CC-A0EA-EF1F8191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E091CEF4-3683-471F-B8B8-BFF55663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85CC153-518D-4F2A-ABA4-6FF15EDE4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BAI Code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2485513-AB04-4E00-BEAA-55197961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656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模型调用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工具执行 / 上下文压缩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409742D8-91E2-4263-8022-2D6C2C74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78224"/>
            <a:ext cx="6903720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54E0FF8-938E-4825-9F7C-7CDE4158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315968"/>
            <a:ext cx="9326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协议隔离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D963738-E42D-49EC-8E0E-2505F233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251960"/>
            <a:ext cx="5330952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上游 CLI 与服务契约的变化只进入 Runtime Host；Renderer 始终面对稳定的本地事件模型。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B24881E-B0B3-45FC-BA65-B7017F5D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28032"/>
            <a:ext cx="6263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结果：运行时可替换、桌面流程连续、错误可清洗、测试边界清晰。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E21AC221-8943-4588-A46E-A5DDB6B4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4078224"/>
            <a:ext cx="3703320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9A758573-C797-4CC1-A789-59AB967B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315968"/>
            <a:ext cx="30906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轻量拓扑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D1D01FC-7391-4E70-B4B0-F53F4BB45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645152"/>
            <a:ext cx="309067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单进程主机 · 本机回环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项目级状态 · 最短交付路径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4ACEFAF-ED8A-4F61-A92A-5F2D8A1B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06 / 19</a:t>
            </a:r>
          </a:p>
        </p:txBody>
      </p:sp>
    </p:spTree>
    <p:extLst>
      <p:ext uri="{BB962C8B-B14F-4D97-AF65-F5344CB8AC3E}">
        <p14:creationId xmlns:p14="http://schemas.microsoft.com/office/powerpoint/2010/main" val="17715907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1A29E8C-45C9-456E-8B3F-F8C10A7A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RUNTIME DESIGN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769374A-BF9C-4053-AFA7-5BDFEA730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架构选择：把复杂度收敛到项目级 Runtime Host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3148666-8BFA-4AB5-8073-21A387FA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B88E61A-E761-46D7-91C0-7413F74B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架构优势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8D05EE0-784B-4EBF-8277-B79D09CA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6E56572-3A29-4C6E-B995-E77BAC02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517904"/>
            <a:ext cx="10149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系统复杂度集中处理，交付证据持续回到当前项目。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2B09100-9050-4B7A-9BDC-037A56B1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29968"/>
            <a:ext cx="5230368" cy="3493008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B224ADF-A100-49B0-A784-1CFB1614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18288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27313A"/>
                </a:solidFill>
                <a:latin typeface="Aptos Display"/>
                <a:ea typeface="Aptos Display"/>
                <a:cs typeface="Aptos Display"/>
              </a:rPr>
              <a:t>控制边界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B77CFCF-B9BD-4169-87F0-BB6459C6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72" y="2313432"/>
            <a:ext cx="14813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1DDC86C-8F01-4DEA-B458-B53A511A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8224" y="2322576"/>
            <a:ext cx="13350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Runtime Host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6F402AB-0B18-4398-A7C0-0F238CD5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A6C2908-C00D-4EE3-89D2-84158741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85292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凭据、协议、文件访问和生命周期集中在主进程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B9158F8-B85D-4314-BE18-BF748E78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387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2727CDD-ED1D-4AA3-B0EC-8CDF18AF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0156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上游变化只进入适配层，不扩散到工作台界面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6739D347-FB28-4F3E-840A-45E48E74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873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2974149-E661-48F7-9206-635B7803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5020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本机回环服务与稳定 /v1/* 构成清晰边界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57BFB4B-96CC-4264-9F0F-F2330498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C96707A2-DB4C-4281-A82C-19925610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49884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错误清洗、重试和事件归一化共享同一入口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9AF4A157-F67F-4B1C-99D7-0737184C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029968"/>
            <a:ext cx="5230368" cy="3493008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A42B35D-B08B-411E-B578-1B82D56D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286000"/>
            <a:ext cx="1920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交付数据面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97D276B-06B6-43CF-91EC-E0A4D2AD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13432"/>
            <a:ext cx="14813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9F0A9CD-87F6-42EF-B27C-1F1438B5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2322576"/>
            <a:ext cx="13350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Workspace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B3E3F400-0FEB-45A9-99C3-53F842EE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990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99730C3-0CA7-4BB3-A71B-1B8DFDB5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85292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上下文、任务状态、权限与记忆围绕项目收敛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773A87FD-ED08-4259-9042-1E31F1019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35387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02DADB5-E2DE-4DCC-9768-C0BC15F7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40156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工具动作、等待、错误与完成进入统一时间线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5D9E844C-02AB-48F7-AD28-32C3F328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0873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D43F4B8-27C4-4E45-B239-666E1CCB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95020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回答、文件、差异、截图与报告分区呈现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61078A1-2C75-4CF3-9F11-55B36A40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C0C7EF0-2E86-49F8-B0A1-0415F900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449884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文件、测试、构建和运行证据共同完成验收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31DA3474-3BC5-473A-8722-BB8003B0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9008"/>
            <a:ext cx="9902952" cy="475488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D0B9D85-62C4-4243-8AC0-8511D067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852160"/>
            <a:ext cx="9482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Workspace Context → Runtime Host → Event Stream → Deliverables → Verification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5C429CE-9185-48CA-9AD0-81C69780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07 / 19</a:t>
            </a:r>
          </a:p>
        </p:txBody>
      </p:sp>
    </p:spTree>
    <p:extLst>
      <p:ext uri="{BB962C8B-B14F-4D97-AF65-F5344CB8AC3E}">
        <p14:creationId xmlns:p14="http://schemas.microsoft.com/office/powerpoint/2010/main" val="3783033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D656325-1CAA-43F1-B14B-2DB4A797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RUNTIME OBSERVABILITY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2FE2D00-E993-40CA-9A81-8A6ECC14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可观测执行：把长任务转换为确定性状态机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DB53C09-6A79-4045-9B9C-B4E63F26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4E50BE3-D513-4BDD-A0D5-76623B3D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过程体验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3BE1CF6-A64F-4F0F-B421-F193EB98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51623DF-757E-4082-9C9E-28B56546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DC87553-C1E6-4728-A4DC-687B53D6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输入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1EB349D-0291-4966-A7F5-1277B434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目标与约束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7ACA5E9-42FC-4D98-A311-4DA92796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1992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A359F8D-5959-42F6-B323-64E0400F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4116EC4-6A89-4F93-8F8A-E892540B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4328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事件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68830D-5E4E-43AB-A260-D43B6AA1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4328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流式运行时输出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50F8A18-90A8-44F9-AC11-94E9B795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3944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BA632DC-BB3D-43BF-B118-8D705EA2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0B8FFFC-BD2E-4BC0-B722-8439ED4F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归一化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AC66E02-FFD7-4259-98F8-8A3960EA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去重 / 分类 / 清洗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A4B21DCB-7091-4AD2-A113-8AB9DD45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5896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292CAD7-895E-4519-9018-5975DA9C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9D04C2C-415A-4357-968D-578193C81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时间线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BB15E95-A4A4-4CDA-8825-6422016D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步骤 / 工具 / 等待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1DABCEB8-7428-4CCC-AFF6-D8DCF027A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4EA413F-4B2E-4DB5-AB47-880A82ED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9C5A616E-6B65-499D-90A2-69F6E428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EDD1BBC-CBBF-4A46-AB15-6F8CD75F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摘要 / 产物 / 验证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CB1080D2-6468-4DC4-863B-D6C961D4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45E781AD-7482-49B0-AEA4-AC3F5F27B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2408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886910F2-5DF5-4582-A6D4-3676D742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用量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E8E322D-B9B5-42A2-98C5-F32D014C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可得则展示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536812A-788F-4804-AE7A-1AD3973D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0128"/>
            <a:ext cx="1325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原始输出问题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6E939D59-7781-4A6D-B230-AE48E4F4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39312"/>
            <a:ext cx="52120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1DEDE"/>
          </a:solidFill>
          <a:ln xmlns:a="http://schemas.openxmlformats.org/drawingml/2006/main" w="12700">
            <a:solidFill>
              <a:srgbClr val="F1DEDE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BC0E056-90D8-4A35-B6A9-E868D306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13632"/>
            <a:ext cx="466344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工具语法与状态句混排</a:t>
            </a:r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连接错误堆栈污染聊天</a:t>
            </a:r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长时间无反馈，最终整段堆积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07778C6-E996-450B-A3F5-DA437F4C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310128"/>
            <a:ext cx="1417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BAI Work 呈现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49427F47-B14E-4E11-B6F2-F7D3404A7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9312"/>
            <a:ext cx="52120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E81FDDCB-4414-4AB5-B7D6-92E45C8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913632"/>
            <a:ext cx="466344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正在检查工作区 → 已运行 6 条命令</a:t>
            </a:r>
          </a:p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连接中断：可重试并保留有效上下文</a:t>
            </a:r>
          </a:p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完成后只留下结论、产物与验证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08D040DF-AEFD-4593-9786-6A5997FB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5532120"/>
            <a:ext cx="8119872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9A611675-49B7-4396-B4F5-C9D20CFE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424" y="5614416"/>
            <a:ext cx="7680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只展示可验证状态，不暴露模型内部推理；Telemetry 缺失时显示不可用，不伪造零值。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72EE169-1DEE-474C-9483-8926D261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08 / 19</a:t>
            </a:r>
          </a:p>
        </p:txBody>
      </p:sp>
    </p:spTree>
    <p:extLst>
      <p:ext uri="{BB962C8B-B14F-4D97-AF65-F5344CB8AC3E}">
        <p14:creationId xmlns:p14="http://schemas.microsoft.com/office/powerpoint/2010/main" val="20284577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0E58B08-8818-4021-81A7-8E7560A7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CONTEXT BUDGET CONTROL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2259BF7-E40A-431B-9D84-10A7FD1C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Token Economy：先建立可配置预算，再谈节省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7C21B4A-7AE2-4844-8548-CFF583DA1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3F96F02-8B96-4B69-8CBF-CFF7C4536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上下文控制面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94948CD-360D-4DC7-B794-37C81FD1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C6A79D1-0BCA-4B4E-8C47-D694F03C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3977640" cy="2084832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7B2D495-A96D-46F8-AB9A-F6D3CF5B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938528"/>
            <a:ext cx="3429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2BE73"/>
                </a:solidFill>
                <a:latin typeface="PingFang SC"/>
                <a:ea typeface="PingFang SC"/>
                <a:cs typeface="PingFang SC"/>
              </a:rPr>
              <a:t>请求预算 ≠ 删除聊天记录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0A66959-EC72-47D3-BF54-DA7F1B89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05456"/>
            <a:ext cx="342900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本次请求受限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D01D7D9-4615-4949-A211-6FAF42B79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3429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C8D1D8"/>
                </a:solidFill>
                <a:latin typeface="Aptos"/>
                <a:ea typeface="Aptos"/>
                <a:cs typeface="Aptos"/>
              </a:rPr>
              <a:t>原始历史保留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C39A02A-0DAB-4A86-B313-BE04B99B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1664208"/>
            <a:ext cx="6565392" cy="2084832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FA3D7AB-7AD6-4ABA-B620-3C5D4D7D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1938528"/>
            <a:ext cx="60167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History Hygiene 默认预算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8742470-E02A-410B-888A-BBB720DF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6ADADDD-73AA-4C60-B451-C4FCC2AF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320 行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ABF05FE-534E-4289-A3B6-385E5BE6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单次工具结果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03D9C00-390C-4D1B-BF8E-DF61B263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797ECA7-BD19-4517-8226-C6D74706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32 KiB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CF67019-7B42-4804-B30F-C76B4034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结果字节预算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5AB4A5D-A21A-47D9-B910-1791F970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2998868-022A-4A33-AB00-9E609985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8K tokens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B02D0EC-9BD9-4C27-B280-D7FAD7A3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结果 Token 预算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76EEDCAC-297F-4456-8E3A-D4B9A80F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60520"/>
            <a:ext cx="10863072" cy="1353312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4CEC1DD-D56E-4107-9B00-AD9185EB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425696"/>
            <a:ext cx="10515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控制契约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A9ECB2A9-9EE4-479C-A543-80BDE2A4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489704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ECC2A3B-B43A-4D22-B58A-2D33C034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352544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工具参数字符串默认 8 KiB / 2K tokens，数组默认最多 80 项。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AECB43E6-4A43-4179-9325-D1E44154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873752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CACA118-9E30-444C-BF89-6912C25E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736592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共享类型、IPC schema 与 normalizer 共同限制非法或失控配置。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B7826B4A-4368-4001-BD2B-5932A815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2578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9A4C075-07CA-4DC9-8ACD-A4B4E637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5120640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设置层保留压缩工具描述、工具结果和简洁回答的独立开关。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2A8D7E22-AC39-4576-B809-01E7DDB33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852160"/>
            <a:ext cx="9601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遥测不可用时明确显示 unavailable，不把缺失数据包装成“节省 0%”。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2800C635-5A1C-4CEC-8FD0-235735EF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09 / 19</a:t>
            </a:r>
          </a:p>
        </p:txBody>
      </p:sp>
    </p:spTree>
    <p:extLst>
      <p:ext uri="{BB962C8B-B14F-4D97-AF65-F5344CB8AC3E}">
        <p14:creationId xmlns:p14="http://schemas.microsoft.com/office/powerpoint/2010/main" val="1647571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4BE4DCD-4CA7-446A-8740-F61B5EF6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CONTEXT GOVERNANCE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8A4CE8D-7C3B-4535-8697-0F4C150A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双层上下文治理：历史卫生 + 压缩配置契约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74450AF-0A1B-441A-9CF3-CD1C6550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CB8523C-9B00-4828-A23C-005E1FBF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控制参数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DA8244D-D23D-42F7-BB99-DFAC8427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9FAB054-E333-4F55-BA90-066BB909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88F5684-6F7C-4E31-BEB0-A95EB250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810512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D128BB5-C991-4D95-8AD9-BF96C319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1819656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E5015B8-F01A-41D4-BA97-2E6D0A4C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1792224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History Hygiene / 工具结果预算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B3D781E-729D-40FC-AE84-68E921C1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2221992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默认：320 行 · 32 KiB · 8K tokens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384E120-C317-4D63-91C5-58B5B4DB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1792224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定义工具结果上限；原始聊天记录保持不变。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26C7B39-2ECF-4A72-B1B8-D04769BB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56232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控制输入放大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81E8C59-B579-4DED-9F9E-905C4627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17520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E80C12F-926D-4A64-A95F-C166EFBF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200400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EBAACF4-DF27-4514-82EC-EBFCE563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209544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L2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13C4266-89A3-45A2-8B5F-6ACE1430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182112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Tool Argument Guard / 工具参数预算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811209F-F59E-463A-8555-DFA131E89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611880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默认：8 KiB · 2K tokens · 80 项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0F26D95-E4EE-4EDD-9897-10B0D230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3182112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约束长字符串与数组展开；输入边界由 schema 和 normalizer 校验。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35013FB-0346-42E3-97C3-A9234519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4612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降低结构冗余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A7183E2-F214-42D1-93CC-218000A1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407408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B72F879-312B-45E6-8D95-E6451EEB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590288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A4B3659-1054-4706-BB9A-F47B9EB1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599432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L3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CC4819D-9C37-4AAB-BC03-7F618C16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4572000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Context Compaction / 摘要配置契约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4783B0F-A620-4B02-8924-FB2F1F2E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5001768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默认：软阈值 16K · 硬阈值 24K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28509EE-2EC5-4F42-ADC0-2EAB97AD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4572000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启发式摘要；15 秒超时；摘要上限 1,200 tokens；输入 96 KiB。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2E3CE0AC-E135-4198-927D-35E06007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36008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为运行时留出空间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DDF00C2F-5A5F-4E68-A135-47D0CF90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70448"/>
            <a:ext cx="10863072" cy="36576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4327F809-567D-4A3B-9E26-74DC691D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925312"/>
            <a:ext cx="10378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证据边界：这是可配置控制面与压缩配置契约；实际节省量只在后端提供遥测时展示。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DB68288-AEF7-46ED-9616-9A1F3A62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10 / 19</a:t>
            </a:r>
          </a:p>
        </p:txBody>
      </p:sp>
    </p:spTree>
    <p:extLst>
      <p:ext uri="{BB962C8B-B14F-4D97-AF65-F5344CB8AC3E}">
        <p14:creationId xmlns:p14="http://schemas.microsoft.com/office/powerpoint/2010/main" val="4581874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2748B2-0B86-48E8-8061-332BD60A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EBAI PRODUCT CAPABILITY SYSTEM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E28D619-2C29-4FF7-B4E2-FE70BD8A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EBAI：BAI Work 面向用户的能力体系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A80EEB8-488A-42EC-AEE7-F5DBD2BBC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99750E8-E2CA-43BA-A1C2-0D519BD9D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产品能力层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F2E4C68-337D-4019-973D-71EF00D03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CB6BF03-39F0-4265-B2EC-BEB3E37E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10863072" cy="640080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2126806-E8C8-49FF-AFBA-389CA8BB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737360"/>
            <a:ext cx="1097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EBAI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D4DC251-C882-4123-A7DA-1D9C56B7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645920"/>
            <a:ext cx="90708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能力随应用呈现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统一产品身份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B20F78D-E2BE-4C05-8824-BE2CD966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14016"/>
            <a:ext cx="1997050" cy="1261872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1DEDE"/>
          </a:solidFill>
          <a:ln xmlns:a="http://schemas.openxmlformats.org/drawingml/2006/main" w="12700">
            <a:solidFill>
              <a:srgbClr val="F1DED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DCD8144-F090-4E26-B1B5-4857139B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624328"/>
            <a:ext cx="177759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A44747"/>
                </a:solidFill>
                <a:latin typeface="Aptos"/>
                <a:ea typeface="Aptos"/>
                <a:cs typeface="Aptos"/>
              </a:rPr>
              <a:t>Commands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9BFC83E-2A52-49E5-AC6A-BF92D28B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026664"/>
            <a:ext cx="170444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项目命令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运行时可加载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511FE580-E778-4DA4-8E45-E7FECC38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4874" y="2414016"/>
            <a:ext cx="1997050" cy="1261872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EC618DC-5BF2-4139-8000-2869C6396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4602" y="2624328"/>
            <a:ext cx="177759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Agents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D7341DB-B15B-4CF3-9AD1-9050DD30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1178" y="3026664"/>
            <a:ext cx="170444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专业角色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以命令工作流接入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58311CD-DCA7-497C-A71E-217B13AC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1379" y="2414016"/>
            <a:ext cx="1997050" cy="1261872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E1B35B7-6BC7-4B32-9A0E-D5BE1023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1107" y="2624328"/>
            <a:ext cx="177759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Skills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169683D-E9EA-482C-9C67-844D37BF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7683" y="3026664"/>
            <a:ext cx="170444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任务方法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运行时可加载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DAE21C1-ABBD-4B1E-9401-56F46D77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885" y="2414016"/>
            <a:ext cx="1997050" cy="1261872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D7A54FB-3A57-4A71-AD4F-D846AFC2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7613" y="2624328"/>
            <a:ext cx="177759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5213C02-CB05-4EC1-A571-85263DDA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189" y="3026664"/>
            <a:ext cx="170444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行为约束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以 Skill 指令接入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F205571-D647-44D1-8CB1-70E7FD72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390" y="2414016"/>
            <a:ext cx="1997050" cy="1261872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CCE94DF3-A6A4-40A5-AEF6-DA12405E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4118" y="2624328"/>
            <a:ext cx="177759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Hooks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B77D5838-F52F-43F6-AE66-C148F213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0694" y="3026664"/>
            <a:ext cx="170444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自动化契约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Manifest 已生成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E2A25837-59FF-4334-96A1-29F5196E3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95344"/>
            <a:ext cx="5212080" cy="1499616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254DDC0-5F7B-4AE9-9E89-BEE942F0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069080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用户可用能力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819FFD1E-B3F1-4581-8D73-6D149889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5262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F48D1EA-5284-403E-92F1-D03A45D8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389120"/>
            <a:ext cx="44348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命令、技能与规则进入任务上下文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60ABFEE4-DC26-4D98-9F63-AA569DAE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855464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04B19068-F055-4E89-8DF1-E2A86C4E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718304"/>
            <a:ext cx="44348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Agent 以专业命令工作流对用户呈现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4CA80D9B-FA1E-4ED3-83E8-23A082FE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1846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362812C3-5771-42DA-A7A6-E740BF1D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047488"/>
            <a:ext cx="44348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Hooks 保留能力定义，执行契约待 Runtime 支持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85439EF4-824A-4ECF-9731-91F53E98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3895344"/>
            <a:ext cx="5376672" cy="1499616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0E41EE75-51FC-4B03-90F0-D85F73EB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4069080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当前状态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3F56C931-4B5C-4D35-AF41-FD98E33E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4407408"/>
            <a:ext cx="47091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Commands · Skills：安装后可加载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Agents：命令化接入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Rules：Skill 化接入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Hooks：默认关闭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BBFB5BC9-E53A-4155-B0AD-C2A43C99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715000"/>
            <a:ext cx="9966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这些能力就是 BAI Work 的产品能力；来源与安装只属于内部交付方式。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E592054A-FDF0-4E1A-8157-A136E120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11 / 19</a:t>
            </a:r>
          </a:p>
        </p:txBody>
      </p:sp>
    </p:spTree>
    <p:extLst>
      <p:ext uri="{BB962C8B-B14F-4D97-AF65-F5344CB8AC3E}">
        <p14:creationId xmlns:p14="http://schemas.microsoft.com/office/powerpoint/2010/main" val="12519556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AF85615-7D25-433B-B3DA-67711F09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HOOK CAPABILITY BOUNDARY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3B7ABAE-93C3-4E40-8B50-0E838F7D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 Hooks：能力已纳入产品体系，执行仍服从 Runtime 契约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993689A-E7F3-4EF1-93A2-B4BB5D6C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B0A9DCB-8D3C-40C7-AE51-4ED23274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能力边界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B7DFCC7-3D59-4D90-BF75-1C0EA28E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A16EB50-E72D-426F-8383-00D50F1C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4983480" cy="4315968"/>
          </a:xfrm>
          <a:prstGeom xmlns:a="http://schemas.openxmlformats.org/drawingml/2006/main" prst="roundRect">
            <a:avLst>
              <a:gd name="adj" fmla="val 16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A9ACD38-8572-4951-A473-04CF9BB4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74520"/>
            <a:ext cx="2011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Hook 能力模型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3DA95E6-26EE-4A13-A4A8-FD73B116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3957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消息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B1932B4-8697-4046-9279-D0B8F50A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5237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74CD8B9-D61C-48F2-9FD3-C4C8014F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23957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message_submit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658A712-4FD8-4B6C-9F6D-394F2D2DC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529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会话开始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20EF7D5-9B69-4448-A484-92CA23C7F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9809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34C9D53-51C3-4BDD-856A-E7BA33A5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28529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session_start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DAF56CB-8530-46C3-8C1B-D6B9E657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101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工具调用前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D86786D9-9A09-4FA7-A159-D4333997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4381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71A5504-5CE4-47E1-B1FB-2C5E01DCA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33101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tool_call_before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9AFCB48-9C9A-40F4-A564-618B85A3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673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工具调用后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9E1FE2C1-29D1-4E42-A8D1-94E71E85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8953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087B335-13C0-4C8E-B3CE-B5B71E9F8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37673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tool_call_after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75DEB73-587D-44E3-89BE-234DF39C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245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轮次结束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515F0E59-A986-438C-AEC7-CF219EBCC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3525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6389462-5B40-4E19-B1FB-4604F136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42245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turn_end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4830EFB-3400-45AA-8F4C-A62DB4C1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817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会话结束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10CAEBAB-B016-4DDE-B786-6389C965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8097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DA7BB2D-7B61-4FBA-BC4F-C2EC95CF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46817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session_end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6243575F-3EFE-4EC3-9CA4-B9879CB6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888" y="1627632"/>
            <a:ext cx="5559552" cy="4315968"/>
          </a:xfrm>
          <a:prstGeom xmlns:a="http://schemas.openxmlformats.org/drawingml/2006/main" prst="roundRect">
            <a:avLst>
              <a:gd name="adj" fmla="val 169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CB31E6F-32A0-45E0-83FE-912CC516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874520"/>
            <a:ext cx="21031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F2BE73"/>
                </a:solidFill>
                <a:latin typeface="PingFang SC"/>
                <a:ea typeface="PingFang SC"/>
                <a:cs typeface="PingFang SC"/>
              </a:rPr>
              <a:t>当前交付状态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072DE4AA-8E80-44AA-9712-A8F4EE38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6243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DC04006-0836-453A-8CA9-2F9DAA22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48716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生成的全局 manifest 始终 enabled = false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D64B3071-19AC-4C7B-9C4C-9EBDE7316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1272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6BB05558-0A8C-42E7-9145-BDC536C2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99008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当前设置页 Hook 开关保持禁用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C66D5803-F30A-40F8-8529-049317D1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01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B6ECEE2-561E-4CF5-970F-235846F25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49300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BAI Code 0.9.1 尚无 Hook 执行契约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2D90CB4A-E25B-4DFC-8966-14838F2C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133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9B876175-9724-410E-961A-D71925CE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9592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只有显式工作区才允许生成项目配置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D5F2D127-A876-4AEE-8F97-02C0311E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AF6ACDE-77FC-44DE-A58A-D02CC6E5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49884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不安全路径与符号链接会被拒绝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6F8D2CB2-74B1-48E9-8F6A-8D515A9E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1389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9528A6D1-53FE-4421-B4BC-47E8524A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0176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未支持事件被记录，不伪装为已执行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1D414447-2368-41B1-970F-B3F144C8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5468112"/>
            <a:ext cx="123444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A44747"/>
          </a:solidFill>
          <a:ln xmlns:a="http://schemas.openxmlformats.org/drawingml/2006/main" w="12700">
            <a:solidFill>
              <a:srgbClr val="A44747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1C6D81FA-4E87-4105-9924-D588903C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77256"/>
            <a:ext cx="108813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能力已建模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BBFB53E7-9D16-4F1E-B1A9-1730A431A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2" y="5468112"/>
            <a:ext cx="135331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E63EBFB8-2758-4B96-8A55-A6F1BC0B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5477256"/>
            <a:ext cx="120700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执行未开放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E92A2545-39F0-4A6A-AB7E-26E94094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328" y="5468112"/>
            <a:ext cx="123444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B2044DAE-220E-4CED-BB4B-FE6FA1E8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5477256"/>
            <a:ext cx="108813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边界可验证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2CC2EF3A-2F75-487F-A719-ACAE7E08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12 / 19</a:t>
            </a:r>
          </a:p>
        </p:txBody>
      </p:sp>
    </p:spTree>
    <p:extLst>
      <p:ext uri="{BB962C8B-B14F-4D97-AF65-F5344CB8AC3E}">
        <p14:creationId xmlns:p14="http://schemas.microsoft.com/office/powerpoint/2010/main" val="149657832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4AFDED7-C8B6-490E-9AD7-D6EA6ADA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AGENT EXECUTION LOOP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7763BC8-CF0A-42B4-81D0-F133171C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AI 深度：上下文、工具、产物与验证构成闭环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66A9421-EE4C-405D-BFB6-73DCFC51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64E1CB5-EAFA-49CE-B388-75F7592B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Agent 系统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D0F6B62-10BA-4728-8751-437ABAAD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967AE05-876E-410B-BC21-9E2E1B38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00200"/>
            <a:ext cx="6748272" cy="4462272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B2B2311-5E31-4457-B735-22A34D41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99339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6C98250-42E9-4895-A959-2CE10F0C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13969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上下文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2D7BF46-1662-4285-92BB-75172290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51460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Workspace · 文件 · 版本 · 记忆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8C15FFC-522B-4413-844F-7B2D3AFE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9339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0C5D558-455E-484F-84A2-900720BA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13969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规划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F33E378-C76D-444E-A508-6B791309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51460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目标拆解与约束解析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88267CF-8AAE-434D-A664-F5CDBF17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00507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1D3E513-6619-44DC-A654-84B06444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415137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工具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D71D7-1AB1-423D-8670-C50182CF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452628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命令 · 文件 · 检索 · 技能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6619F7C-3448-423F-98D2-521F7F6B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00507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FB4CFE3-CF1E-4828-BC35-6A9EC709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415137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产物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7DE24A0-16B8-4933-AFDC-4FF11CC5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452628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代码 · 文档 · 图表 · 差异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2054C82-8057-4394-9AA1-C2F2D67D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468880"/>
            <a:ext cx="8412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9C2FD71-D5AB-4391-A2BD-BDCA34EC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568" y="2962656"/>
            <a:ext cx="0" cy="9326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D0D3271A-EF7B-45D0-A403-AF25926C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3611880" y="4480560"/>
            <a:ext cx="8412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5021185-E731-4551-AC66-58020774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95728" y="3035808"/>
            <a:ext cx="0" cy="8961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583AB6D-BF25-4B2F-8682-E7390D34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145536"/>
            <a:ext cx="2606040" cy="64008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011B9E2-362F-4DCF-8485-B79E356F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216" y="3236976"/>
            <a:ext cx="23500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验证门：结果一致 · 文件存在 · 测试/运行证据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D95B9839-ABFC-4116-9E5F-8C72BC0E1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1600200"/>
            <a:ext cx="3794760" cy="4462272"/>
          </a:xfrm>
          <a:prstGeom xmlns:a="http://schemas.openxmlformats.org/drawingml/2006/main" prst="roundRect">
            <a:avLst>
              <a:gd name="adj" fmla="val 1928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3A54482-6C7B-446E-9B8B-7D14108A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920240"/>
            <a:ext cx="318211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系统级 AI 应用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E1F1990-794A-43A2-94A7-BCED7FB7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974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0818FA0-3675-46BE-950F-5923BD86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56032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多轮上下文与自动压缩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468C8EA0-17CB-4A77-8495-3A5696A5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2004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E950970A-C972-4E49-8914-6970EC3F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06324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基于事件流的工具执行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EC0689B4-77F6-46DA-819F-8ED39536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0332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B1BAEE7-504A-49DE-A12F-0333FCD0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56616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项目级权限与工作区边界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0489B316-0682-4451-B63F-86D995CF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20624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4EFD1164-DC99-4793-AB22-FF0FD229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06908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产物生成后的验证与摘要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882C9F53-888D-46B5-BC96-D34D76A0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70916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B96827BC-7D6D-49DE-9655-E886CA54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57200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长期记忆与能力复用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201ADE29-FEFD-4AFD-A66E-A5B932F8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52120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22A47701-7042-4562-887E-FBEABA3B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07492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可选的签名与发布溯源方向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CC27CC33-9777-47E0-9BEF-77EB6F23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13 / 19</a:t>
            </a:r>
          </a:p>
        </p:txBody>
      </p:sp>
    </p:spTree>
    <p:extLst>
      <p:ext uri="{BB962C8B-B14F-4D97-AF65-F5344CB8AC3E}">
        <p14:creationId xmlns:p14="http://schemas.microsoft.com/office/powerpoint/2010/main" val="10693269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B14D86A-86AC-4DD3-8D32-92574AF6B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BAI WORK EVIDENCE CHAIN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9808602-F96B-48E7-B86A-EC9F89FC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交付闭环：从输入到验收，每一步都有工程证据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54CBB7B-B762-4D09-A4C4-A39670B5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2EFA300-8F1D-4F4E-ADFB-EAF6F471A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综合证据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B595D1A-0E37-483D-A645-B2FD4CDE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9421C7B-6A60-4EF1-A799-14344140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029968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48ED64E-DEEA-48F7-819A-624A2304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55648"/>
            <a:ext cx="18470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交付阶段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4C9E6C2-7D23-4B4F-866F-AC8A9A54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8336" y="1664208"/>
            <a:ext cx="2926080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0B0F1A0-F82C-404E-9AA9-A6ADF731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776" y="1755648"/>
            <a:ext cx="2743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用户价值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B0ACB9E-6AC6-4AB8-9F5D-8C75F570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664208"/>
            <a:ext cx="2743200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9774A18-1F5B-404E-8D2C-AB58DD05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755648"/>
            <a:ext cx="25603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系统机制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49DBD84-EAF8-45A0-8E25-DE6C6E42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9056" y="1664208"/>
            <a:ext cx="3072384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6B56595-2446-4992-86FB-DED2593C5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496" y="1755648"/>
            <a:ext cx="288950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可验证证据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248449DE-3B43-4E33-ADA3-FE2C621A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04288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4C66379-25C0-473F-A647-36682639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95728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配置进入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AA627F1-A152-48A9-AA69-1C877E4F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395728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完成服务与模型就绪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F9DA4F1-F9F2-44B7-9DDA-CB6FF607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395728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凭据隔离 · 探测 · 能力发现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DB6B573-9DB6-4675-A6A8-47D29710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395728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连接与模型发现测试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51F487D-B272-4F1E-913A-D11BB295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889504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F349F4F-BA06-4538-8D25-5AF51DED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80944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任务执行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32461D9-4CFD-4092-9FC5-316589C6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980944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项目内发起并持续看见推进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27978CD5-A81B-49F4-A337-856392D6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980944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Runtime Host · SSE 归一化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0AC72DEC-CDCD-45E9-A618-DDCEA4FD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980944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适配器与流式事件测试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0ED952C-54A1-4994-ABBE-0600F4376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474720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7B6FFC1-E48A-403D-8CFA-4A5C3D7D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66160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上下文经济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CB10AD3-407E-4097-B7F4-8C07A6B7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3566160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请求预算与摘要边界可配置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AA648362-62C3-4991-8BB0-999B2573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3566160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历史卫生 · 压缩配置契约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A6A3E13-CF98-4318-A00F-26CBD6B92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3566160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默认值与输入边界测试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DF9FB087-658A-4ADB-860B-03469938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59936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F86AD1C-CFA8-4E18-B815-1C6E767C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51376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能力体系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F93FB6A2-D962-4447-A99F-9F892F41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4151376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五类能力归入 BAI Work 产品体验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D173086-38CF-479C-AB70-12D7CDE3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4151376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347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命令/技能加载 · Rule 指令 · Hook manifest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18D289DE-B3A2-4381-9A65-14AC97CC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151376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加载与 manifest 安全测试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E9C9C899-3B90-4AF2-A273-440A67F0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45152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15F0AB96-AEA8-4443-9757-45DB2EC6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36592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产物交付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DECEFCEB-721D-433D-AD37-2A5583A7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4736592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回答、文件、差异与摘要分区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66623AA5-C28F-473D-8330-2CB3FCD3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4736592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结果区与项目文件联动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A1A10E55-1506-42D9-AA4E-717844C5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736592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文件存在性与差异证据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CFAA08F6-CD0F-4AE2-9053-CB441FCA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230368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FD306E08-3CBC-475A-9798-1D9800D8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21808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工程验收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63587FCF-6133-4A77-A41E-25446A4F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5321808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从代码验证到桌面包体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C008221C-17D3-4DC6-95DD-BE6BB066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5321808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类型检查 · 测试 · 构建 · 打包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40A17145-C8ED-4E53-862E-902D0DD3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5321808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自动化测试与运行 smoke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03679B80-8947-435C-B459-0743066E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961888"/>
            <a:ext cx="10168128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3D19B670-1D1D-46D8-9EB4-A8A3A169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6007608"/>
            <a:ext cx="9765792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上手、执行、上下文、安全、交付、验收——每个价值点都能回到实现与现场证据。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819BF639-24D9-4B57-92F4-5A7CE041C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14 / 19</a:t>
            </a:r>
          </a:p>
        </p:txBody>
      </p:sp>
    </p:spTree>
    <p:extLst>
      <p:ext uri="{BB962C8B-B14F-4D97-AF65-F5344CB8AC3E}">
        <p14:creationId xmlns:p14="http://schemas.microsoft.com/office/powerpoint/2010/main" val="79667137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752B58-1035-411D-B0B9-DB55FA2E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UPSTREAM CONTRIBUTION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4FB6D7D-8A53-4962-B46E-376E71FE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把 Agent 可靠性写进上游，也写进 BAI Work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ACF82DD-E6A2-4580-A04F-6EC5772F0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1F6D987-3C55-45AF-AF86-F53A7528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技术背书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CAE3517-910A-4D8E-B817-3B0F969C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543A83F-DA29-4A2C-A568-7C1F2CB05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891095D-7BE2-4A7A-B87B-57935C710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OPENAI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F8626C9-5B06-41C3-8240-975F70B4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Contributor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E4D341D-4100-4F48-AF74-1FFD5BEE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@2830500285 · 首次贡献者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03C533F-3831-4D1A-9E81-1735FDA8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B12BFE8-8ABD-4922-9E22-A3962C07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#3642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E3B6A2C-EA3C-46BE-9FE2-7CBC6589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Merged PR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A4206E1-ABBF-45B0-8B38-B616F91E4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OpenAI Agents SDK main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7FD5DB0-D33C-4DFA-96BB-79EE5A31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CB28689-9BD1-4DA6-B1E7-E94FD5BD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9775C"/>
                </a:solidFill>
                <a:latin typeface="Aptos Display"/>
                <a:ea typeface="Aptos Display"/>
                <a:cs typeface="Aptos Display"/>
              </a:rPr>
              <a:t>v0.17.7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E2B270D-72D3-440C-B594-A4A1316A9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正式发布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79CC81C-29BE-44A0-9456-817616E8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官方 release 收录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B1FCDC9-BE2A-4F78-A308-FF9BB659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5E45784-7D96-44D8-B073-C057367A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GPT-5.6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A231071-E644-479A-B7BD-E8CE04B6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ChatGPT Codex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BBA8ECE-E2F4-4C5E-82D8-E81FE2FA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贡献流程采用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EF85DCA-8DAB-497C-8906-C08DD814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75888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8734FB66-61B5-47A5-AA56-5DE4B3AB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58184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有界状态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A2B861A-8402-45FE-8EB5-E32E545E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730752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上游释放缓冲；BAI Work：pending 上限 50，消费即删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0E0CB2F-D70D-4FC6-A502-3EC2A82E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3767328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12C0F98-7F9B-4A2F-A17E-109B2FC4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3776472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长跑不涨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E30D4722-F988-402D-AEF1-52DA8A2A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370832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C0CF2DC-DF72-4B4F-A6B0-5D44E02B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53128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无重复续传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98817BB-B377-4B3B-B0C1-B1EDD840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425696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上游不重复写入；BAI Work：单调 seq + 跨批去重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0973772-2A4C-4515-B375-38C4779C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4462272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96CA1E69-7179-4C7A-BD72-835292FB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4471416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重连不重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B63596CA-F013-4B1C-B143-1418A925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65776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30137E2-5C40-47D0-821D-C72213A1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48072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超时恢复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A03DCD5-FFDC-46C0-BF34-F1E9A68FC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120640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上游超时落盘；BAI Work：SSE 续传 + 退避熔断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50357FB7-F234-4A81-947E-28E76F05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5157216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551872CE-D5F6-432B-9F91-B0B27883F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5166360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失败可恢复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36AB3C04-B7D6-4626-8082-37B6926E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863072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2D8CEBCC-A4F3-4ADE-8FAA-7AFEB320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943600"/>
            <a:ext cx="10378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原则复用，非代码移植：把经 OpenAI 主线验证的可靠性不变量，产品化为 BAI Work Runtime Host 的默认行为。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5CFD3703-17F8-4DDD-BFD5-B9E1928B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15 / 19</a:t>
            </a:r>
          </a:p>
        </p:txBody>
      </p:sp>
    </p:spTree>
    <p:extLst>
      <p:ext uri="{BB962C8B-B14F-4D97-AF65-F5344CB8AC3E}">
        <p14:creationId xmlns:p14="http://schemas.microsoft.com/office/powerpoint/2010/main" val="117916791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4BC37DA-E425-4B4D-85A5-044CA803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LOCAL USER VALUE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E6C170F-C140-47F6-AF4B-861ABD994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本地化优势：普通用户也能用优质模型完成真实任务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C7FC371-AE08-472D-A2B0-D03D2EC4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794AD23-934C-4005-A3D4-93A17485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用户价值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F8290BC-1080-4E99-B444-E373E1883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5971177-1455-4478-9D65-696D1A00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30EF8C3-F212-4F98-9081-3B1D0665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B669933-97A9-4D7D-B2FC-F8BBB977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从聊天到交付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F53E6A9-E122-4223-B861-14E9FE85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E7A87F4-EA0B-4E13-8037-5F3361F6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不少 AI 使用仍停在问答，长任务难以持续推进。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37B92E-B3D1-4DDF-8C89-210B19377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29E71B1-82CD-47B3-9E42-B1E4FACC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任务过程进入同一工作面，直接交付可用成果。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1B41AC3-2CFC-44B9-9D45-DA1A81D1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6BEC087-765F-4618-8934-D63F4879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0C464B7-EA5F-4077-AFEC-A9401ABE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统一模型入口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E6CC589-14AC-47DB-96B1-A42B84F3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38CC954-C773-4CE3-9348-1CEBAE60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配置、探测和选模型门槛高，普通用户难以稳定使用。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4EEC3C7-58C9-4E54-8A1A-4F1C4A1B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19BA631-DAC3-4AD5-8B59-C1E9B42F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BAI 统一入口：Claude、GPT 等模型即配即用。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230C920D-2B5F-4622-9A68-0FF0E4BE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F5C9A4E-F703-4399-A101-3D48B9C2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A1368A9-1515-47CF-B7FC-359A5728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普通用户也能完成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8CA8726-CC31-45B1-AA20-FDF0758C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0A45114-1037-47F4-9177-239A1E14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非开发者更依赖默认可用、过程清晰的产品路径。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9B564D2-4B8D-4D17-93B8-D93742F9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872F136-B947-4878-8CD0-0113C03B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配置极简、过程可见，最终获得可验证产物。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36D5044-8A4D-4377-B030-D1C70107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05856"/>
            <a:ext cx="10332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不是把聊天窗口搬到桌面，而是把优质模型变成普通用户能完成任务的工作台。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5C56117-0EE2-4938-BF10-3CAB22114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16 / 19</a:t>
            </a:r>
          </a:p>
        </p:txBody>
      </p:sp>
    </p:spTree>
    <p:extLst>
      <p:ext uri="{BB962C8B-B14F-4D97-AF65-F5344CB8AC3E}">
        <p14:creationId xmlns:p14="http://schemas.microsoft.com/office/powerpoint/2010/main" val="17743456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33B7FE6-028C-4281-82AA-C705D007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CONTROLLED SUBSIDY ACQUISITION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CAB8FC0-DBFE-4DF6-A365-4D061E5F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商业推广：受控补贴驱动首批高质量激活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7D222E4-F25E-4D8E-A6C0-7E55660B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C58C8D3-80B3-4F91-BAB9-E695EC79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商业增长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A0329D2-C121-4296-A927-B0B89A19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CDA59C3-A096-4C88-AB31-27F27E6A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1243584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4C62A2C-AC91-4B72-8506-D8C53BA5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8191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建议实验方案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EBE79CF-D575-4D5C-AC87-10E7973D1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E14DBD5-94F6-4475-A2C9-9419FF05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限量 Cohort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F6DB061-A98E-4086-8EC3-2DC6E7D2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首批限量名额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按批次开放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4E6F194-8C67-4689-A661-06A4A41C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511535C-5386-49BC-9072-3FE2D2DD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半价折扣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0BA6CFD-715B-4110-B35E-058D5233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模型使用费用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提供 50% 优惠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C1F1977-FAE1-4D92-8593-5CF4D23A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7149D6A-D105-4F67-BD32-4EFCEB69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额度封顶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AF9AEF9-065A-4960-8551-21F40743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单账户月度上限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控制补贴敞口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0996D41-FED3-4CF1-BD4C-0EC9C6DE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86622E4-9CA5-4755-905C-8A49025F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限时验证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53B328C-0FDF-483F-990C-52EC06F2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持续 8–12 周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到期自动复核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723FB16-CA9C-475C-998F-0BFB9E43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86200"/>
            <a:ext cx="658368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26EFE37-4D55-4532-98F5-42F680EA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133088"/>
            <a:ext cx="23317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Activation-Gated Subsidy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169A39F-F7FF-4A07-96B5-6D0DBF7D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1788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D315903C-1200-4B47-8037-B6FAECA3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41648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绑定有效 API Key 并完成首个项目任务后激活优惠。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1C67F85C-7EE9-4275-BD7B-F101F34E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5720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DDFF818-889C-4C0F-A6CA-B5281B88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34840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按账户、设备与异常使用信号控制重复领取。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B38FA93-B4F2-4DE5-9845-1D0DC470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965192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67ADB2C-4E62-4EF1-9690-C7A0B7C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28032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补贴只覆盖真实使用量，未使用额度不沉淀、不转售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7E173AA-FE31-43FF-9CE7-DBF3D2C1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86200"/>
            <a:ext cx="397764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D379E2A-599F-4A21-B757-07F477BF3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4133088"/>
            <a:ext cx="3383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单位经济门槛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3966415E-6215-4349-83A0-93BE7246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4572000"/>
            <a:ext cx="33832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Subsidy CAC ≤ Cohort LTV ×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目标回收系数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2BCCFF32-BF74-4525-A38B-BD944940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B622F014-9A58-4E51-9F40-11249029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API Key 绑定率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C5B17715-5882-496B-A45F-B211EC56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08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6154D75B-94E3-45D7-9F05-33B79D4D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首任务完成率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D1CE89E5-BB6C-4EC8-91E1-854A37EB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434059D5-4159-4AB7-9EC7-D7215DB0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D7 活跃项目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A411C98D-B5A1-4C55-B4EE-BF24729D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64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695EAFFC-C04E-4179-9B37-5E7DE5C3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付费转化率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DC38510A-6026-484B-A75C-B00FDB35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A3D330BC-90A3-47D4-8FB8-3521AA7C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补贴效率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7E6F4CA3-4557-4F04-9208-A0A8968C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17 / 19</a:t>
            </a:r>
          </a:p>
        </p:txBody>
      </p:sp>
    </p:spTree>
    <p:extLst>
      <p:ext uri="{BB962C8B-B14F-4D97-AF65-F5344CB8AC3E}">
        <p14:creationId xmlns:p14="http://schemas.microsoft.com/office/powerpoint/2010/main" val="127595976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099ADD7-C33D-4512-B891-F610727B1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12-WEEK ROADMAP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563293D-B9E1-43C6-B17C-9C60E919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12 周推进：先稳定发布，再验证增长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6845508-86A8-42C1-AFBD-EA7DB948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6772764-62A8-4078-BB73-D0A99682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执行计划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9F8E5B3-C864-4CAB-AC9C-2EB4D0A0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AE77C7E-0BBC-496A-B855-30367932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3F095DC-967B-4BB2-8CD0-7E3EE4A3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9C78E07-331E-4D61-B2EA-4C1A92E7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NOW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CF13A74-E7A4-4173-900C-F7E7107A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稳定基线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66375B6-A85E-42A6-B195-AA9C7CF0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Mac Intel 主版本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Token Economy / EBAI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当前自动化验证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0427A29-0150-4B17-97B6-18B72193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5496B46B-A2DC-4939-BE33-00B49BD2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A478954-FCE9-4066-A574-D106AFDA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BC135F9-C2AF-4599-82B1-5EFED9ED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176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W1–4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BB2C8D5-3317-4B9B-A126-C1A27828A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发布级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2AAE78A-3A31-4E56-933A-C2F5040F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正式签名与公证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运行时契约对齐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崩溃与恢复遥测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B2613D3-D7EE-4A02-AB33-BBE1F759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456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6EFDDC6-5FA9-46D7-9473-8B1611D3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A9A0D1B-2CF7-43D7-9D7A-CAF35706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19B94E9-F377-47B9-A552-FCBDC4F7F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W5–8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6F0EC40-39BE-4A56-9B42-C49D8943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试点级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2811D5E-3B5B-47B5-85F4-EE90BDA7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首批限量 Cohort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30 秒上手漏斗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真实任务回归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ACBF0F03-9727-40CC-A713-85DAACB4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5944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DB5D955-C7B0-4296-9969-58F6C3261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86B14B0-AE87-4FB9-8BEC-F354D949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58FD3EE-4634-4CCA-8BC0-18EAF3F3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W9–12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FE87F39-BA87-4A36-87B7-1D21D789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规模化判断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3BFCC39-460D-43AE-9916-D2563151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留存与单位经济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团队策略复用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生态能力审核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B761DF8D-58BA-4DE5-87F8-DB38AE3B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983480"/>
            <a:ext cx="96469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12 周内只验证三件事：稳定发布、真实激活、单位经济成立。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636C73FF-8F40-4FDE-97A5-E56DB161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18 / 19</a:t>
            </a:r>
          </a:p>
        </p:txBody>
      </p:sp>
    </p:spTree>
    <p:extLst>
      <p:ext uri="{BB962C8B-B14F-4D97-AF65-F5344CB8AC3E}">
        <p14:creationId xmlns:p14="http://schemas.microsoft.com/office/powerpoint/2010/main" val="87364605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C0E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a0ceabe70446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531545"/>
            <a:ext cx="3566160" cy="930303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EB990E29-503A-476C-BA2A-52BC1E61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47088"/>
            <a:ext cx="47091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简单，不代表能力少。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21E2C7FE-0448-42C8-AE0D-D24EB664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578608"/>
            <a:ext cx="49834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而是把复杂度留在系统里。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79920F-BDE6-4364-BF79-D4971BD8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3566160"/>
            <a:ext cx="512064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CDD4DB"/>
                </a:solidFill>
                <a:latin typeface="PingFang SC"/>
                <a:ea typeface="PingFang SC"/>
                <a:cs typeface="PingFang SC"/>
              </a:rPr>
              <a:t>30 秒配置目标；过程可见；产物可验收。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7A72BF0-8BD8-4EAD-9EBD-BFAB7057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713232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DF181360-3B2C-4386-B02B-FE948E57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713232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2F7AC60-FFFC-46A7-BF2B-5BFBCDE6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832104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轻量架构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BAF6D04-F404-43AE-9416-F44257B2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813816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 Runtime Host 与最短执行链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6DFFED3E-4B44-4C83-9B3C-673F92E5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45920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56E8900-0140-4568-9713-135DA0321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45920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544136E-2776-4FD6-B9D0-6876A8EC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1764792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Token Economy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E526A3CC-30C1-435A-802E-5906F0FC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1746504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请求预算与上下文治理契约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46B24505-967A-415A-A3EA-8E3B196B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78608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D0816B0-63BC-4315-8C95-9CA7B381B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78608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DC54500F-B3A7-406C-827C-EB440078E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2697480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EBAI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F7B4782-A0B7-4ED4-96E7-45AB3EBE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679192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产品能力体系与清晰执行边界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4F217E03-F318-4BDE-9A86-68E191DE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11296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A8A9DEF-76C0-44BB-9F2A-F6D4F121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11296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53F5E4A-2405-4B6A-8142-DC634A1F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3630168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产品交付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AB21447C-CCF7-4BE8-935C-40FA8BC8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3611880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三平台路径、自动化测试与运行证据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5D873502-6381-40DC-83E1-8E63A0AF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43984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B3D67B1-15BC-4FFF-9580-58280E2D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43984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DDDD4EC-341C-42AB-B518-A47DA9B0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4562856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商业增长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0A7C9265-DA3D-4CAC-B8B3-DFD26295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4544568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限量半价、额度封顶与 Cohort 验证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30ECB22-423F-405E-94EE-CE71CE4E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504688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07A7F95C-F5B2-4295-A595-3806AF94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641848"/>
            <a:ext cx="55321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下一步：稳定签名发布 · 首批用户验证 · 项目级生态扩展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15CEF610-7CCE-471F-B85D-CB680B34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144768"/>
            <a:ext cx="4160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8FD4CF"/>
                </a:solidFill>
                <a:latin typeface="Aptos"/>
                <a:ea typeface="Aptos"/>
                <a:cs typeface="Aptos"/>
              </a:rPr>
              <a:t>github.com/2830500285/BAI-Work</a:t>
            </a:r>
          </a:p>
        </p:txBody>
      </p:sp>
    </p:spTree>
    <p:extLst>
      <p:ext uri="{BB962C8B-B14F-4D97-AF65-F5344CB8AC3E}">
        <p14:creationId xmlns:p14="http://schemas.microsoft.com/office/powerpoint/2010/main" val="76692215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2026-07-22T08:42:28.1020000Z</dcterms:created>
  <dcterms:modified xsi:type="dcterms:W3CDTF">2026-07-22T08:42:28.1020000Z</dcterms:modified>
</coreProperties>
</file>