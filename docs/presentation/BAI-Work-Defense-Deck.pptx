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c08f6871f1422b" /><Relationship Type="http://schemas.openxmlformats.org/officeDocument/2006/relationships/extended-properties" Target="/docProps/app.xml" Id="R8ec49ce567ed4536" /><Relationship Type="http://schemas.openxmlformats.org/officeDocument/2006/relationships/officeDocument" Target="/ppt/presentation.xml" Id="R8ce2762491b744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ab5cb130ac4c45"/>
  </p:sldMasterIdLst>
  <p:notesMasterIdLst>
    <p:notesMasterId xmlns:r="http://schemas.openxmlformats.org/officeDocument/2006/relationships" r:id="R39ca3d3b4d104d8d"/>
  </p:notesMasterIdLst>
  <p:sldIdLst>
    <p:sldId xmlns:r="http://schemas.openxmlformats.org/officeDocument/2006/relationships" id="256" r:id="Rb91416d79fe94bb6"/>
    <p:sldId xmlns:r="http://schemas.openxmlformats.org/officeDocument/2006/relationships" id="257" r:id="R8fe131d2e9154014"/>
    <p:sldId xmlns:r="http://schemas.openxmlformats.org/officeDocument/2006/relationships" id="258" r:id="R6ccc3f3a6cdc4fde"/>
    <p:sldId xmlns:r="http://schemas.openxmlformats.org/officeDocument/2006/relationships" id="259" r:id="R518dc36f24714d21"/>
    <p:sldId xmlns:r="http://schemas.openxmlformats.org/officeDocument/2006/relationships" id="260" r:id="Rd7e1b00d45c84298"/>
    <p:sldId xmlns:r="http://schemas.openxmlformats.org/officeDocument/2006/relationships" id="261" r:id="R4603ebbaa0e947e1"/>
    <p:sldId xmlns:r="http://schemas.openxmlformats.org/officeDocument/2006/relationships" id="262" r:id="Rba2f574fe6024782"/>
    <p:sldId xmlns:r="http://schemas.openxmlformats.org/officeDocument/2006/relationships" id="263" r:id="Rc927d9fa045141b5"/>
    <p:sldId xmlns:r="http://schemas.openxmlformats.org/officeDocument/2006/relationships" id="264" r:id="R634be6c1ca674f70"/>
    <p:sldId xmlns:r="http://schemas.openxmlformats.org/officeDocument/2006/relationships" id="265" r:id="R3a8be0c26be14cbe"/>
    <p:sldId xmlns:r="http://schemas.openxmlformats.org/officeDocument/2006/relationships" id="266" r:id="Rec574bfc163b4512"/>
    <p:sldId xmlns:r="http://schemas.openxmlformats.org/officeDocument/2006/relationships" id="267" r:id="R52f58f2c9b914913"/>
    <p:sldId xmlns:r="http://schemas.openxmlformats.org/officeDocument/2006/relationships" id="268" r:id="R378cb4198ef740b2"/>
    <p:sldId xmlns:r="http://schemas.openxmlformats.org/officeDocument/2006/relationships" id="269" r:id="R79e2ea5a27954717"/>
    <p:sldId xmlns:r="http://schemas.openxmlformats.org/officeDocument/2006/relationships" id="270" r:id="R10a6688b7628414c"/>
    <p:sldId xmlns:r="http://schemas.openxmlformats.org/officeDocument/2006/relationships" id="271" r:id="R4d2e87171dd342e0"/>
    <p:sldId xmlns:r="http://schemas.openxmlformats.org/officeDocument/2006/relationships" id="272" r:id="R2d76e89663074583"/>
    <p:sldId xmlns:r="http://schemas.openxmlformats.org/officeDocument/2006/relationships" id="273" r:id="R3a640f3e1eba4390"/>
    <p:sldId xmlns:r="http://schemas.openxmlformats.org/officeDocument/2006/relationships" id="274" r:id="R9bf1b9346696427c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24afc492a240e4" /><Relationship Type="http://schemas.openxmlformats.org/officeDocument/2006/relationships/slideMaster" Target="/ppt/slideMasters/slideMaster1.xml" Id="R03ab5cb130ac4c45" /><Relationship Type="http://schemas.openxmlformats.org/officeDocument/2006/relationships/notesMaster" Target="/ppt/notesMasters/notesMaster1.xml" Id="R39ca3d3b4d104d8d" /><Relationship Type="http://schemas.openxmlformats.org/officeDocument/2006/relationships/presProps" Target="/ppt/presProps.xml" Id="R00cadb72e1e545fd" /><Relationship Type="http://schemas.openxmlformats.org/officeDocument/2006/relationships/viewProps" Target="/ppt/viewProps.xml" Id="Rff85d1cdc6a644c2" /><Relationship Type="http://schemas.openxmlformats.org/officeDocument/2006/relationships/tableStyles" Target="/ppt/tableStyles.xml" Id="Rab2dde40508b4c5a" /><Relationship Type="http://schemas.openxmlformats.org/officeDocument/2006/relationships/slide" Target="/ppt/slides/slide1.xml" Id="Rb91416d79fe94bb6" /><Relationship Type="http://schemas.openxmlformats.org/officeDocument/2006/relationships/slide" Target="/ppt/slides/slide2.xml" Id="R8fe131d2e9154014" /><Relationship Type="http://schemas.openxmlformats.org/officeDocument/2006/relationships/slide" Target="/ppt/slides/slide3.xml" Id="R6ccc3f3a6cdc4fde" /><Relationship Type="http://schemas.openxmlformats.org/officeDocument/2006/relationships/slide" Target="/ppt/slides/slide4.xml" Id="R518dc36f24714d21" /><Relationship Type="http://schemas.openxmlformats.org/officeDocument/2006/relationships/slide" Target="/ppt/slides/slide5.xml" Id="Rd7e1b00d45c84298" /><Relationship Type="http://schemas.openxmlformats.org/officeDocument/2006/relationships/slide" Target="/ppt/slides/slide6.xml" Id="R4603ebbaa0e947e1" /><Relationship Type="http://schemas.openxmlformats.org/officeDocument/2006/relationships/slide" Target="/ppt/slides/slide7.xml" Id="Rba2f574fe6024782" /><Relationship Type="http://schemas.openxmlformats.org/officeDocument/2006/relationships/slide" Target="/ppt/slides/slide8.xml" Id="Rc927d9fa045141b5" /><Relationship Type="http://schemas.openxmlformats.org/officeDocument/2006/relationships/slide" Target="/ppt/slides/slide9.xml" Id="R634be6c1ca674f70" /><Relationship Type="http://schemas.openxmlformats.org/officeDocument/2006/relationships/slide" Target="/ppt/slides/slide10.xml" Id="R3a8be0c26be14cbe" /><Relationship Type="http://schemas.openxmlformats.org/officeDocument/2006/relationships/slide" Target="/ppt/slides/slide11.xml" Id="Rec574bfc163b4512" /><Relationship Type="http://schemas.openxmlformats.org/officeDocument/2006/relationships/slide" Target="/ppt/slides/slide12.xml" Id="R52f58f2c9b914913" /><Relationship Type="http://schemas.openxmlformats.org/officeDocument/2006/relationships/slide" Target="/ppt/slides/slide13.xml" Id="R378cb4198ef740b2" /><Relationship Type="http://schemas.openxmlformats.org/officeDocument/2006/relationships/slide" Target="/ppt/slides/slide14.xml" Id="R79e2ea5a27954717" /><Relationship Type="http://schemas.openxmlformats.org/officeDocument/2006/relationships/slide" Target="/ppt/slides/slide15.xml" Id="R10a6688b7628414c" /><Relationship Type="http://schemas.openxmlformats.org/officeDocument/2006/relationships/slide" Target="/ppt/slides/slide16.xml" Id="R4d2e87171dd342e0" /><Relationship Type="http://schemas.openxmlformats.org/officeDocument/2006/relationships/slide" Target="/ppt/slides/slide17.xml" Id="R2d76e89663074583" /><Relationship Type="http://schemas.openxmlformats.org/officeDocument/2006/relationships/slide" Target="/ppt/slides/slide18.xml" Id="R3a640f3e1eba4390" /><Relationship Type="http://schemas.openxmlformats.org/officeDocument/2006/relationships/slide" Target="/ppt/slides/slide19.xml" Id="R9bf1b934669642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86f9a3d86047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805c86c90348b1" /><Relationship Type="http://schemas.openxmlformats.org/officeDocument/2006/relationships/notesMaster" Target="/ppt/notesMasters/notesMaster1.xml" Id="R779c7c46ec4247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e5bd4a245f4895" /><Relationship Type="http://schemas.openxmlformats.org/officeDocument/2006/relationships/notesMaster" Target="/ppt/notesMasters/notesMaster1.xml" Id="Rcf7946474d1849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f54af712f94a35" /><Relationship Type="http://schemas.openxmlformats.org/officeDocument/2006/relationships/notesMaster" Target="/ppt/notesMasters/notesMaster1.xml" Id="R4602e395db7b4f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f812e2e43d4d98" /><Relationship Type="http://schemas.openxmlformats.org/officeDocument/2006/relationships/notesMaster" Target="/ppt/notesMasters/notesMaster1.xml" Id="R638f4e74bbc34e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08a783fcc84be2" /><Relationship Type="http://schemas.openxmlformats.org/officeDocument/2006/relationships/notesMaster" Target="/ppt/notesMasters/notesMaster1.xml" Id="Rc4c7a689347645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f0a4bd813a447a" /><Relationship Type="http://schemas.openxmlformats.org/officeDocument/2006/relationships/notesMaster" Target="/ppt/notesMasters/notesMaster1.xml" Id="R4d26a794c8f243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6fde5b004f4262" /><Relationship Type="http://schemas.openxmlformats.org/officeDocument/2006/relationships/notesMaster" Target="/ppt/notesMasters/notesMaster1.xml" Id="Rcf80281e7fd047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ef008150844c5b" /><Relationship Type="http://schemas.openxmlformats.org/officeDocument/2006/relationships/notesMaster" Target="/ppt/notesMasters/notesMaster1.xml" Id="R667f639c01bb46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1887f243d54676" /><Relationship Type="http://schemas.openxmlformats.org/officeDocument/2006/relationships/notesMaster" Target="/ppt/notesMasters/notesMaster1.xml" Id="R6517490cea13492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73596919dd4fc5" /><Relationship Type="http://schemas.openxmlformats.org/officeDocument/2006/relationships/notesMaster" Target="/ppt/notesMasters/notesMaster1.xml" Id="R49ef8d464d5c4f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60f6edabf34c67" /><Relationship Type="http://schemas.openxmlformats.org/officeDocument/2006/relationships/notesMaster" Target="/ppt/notesMasters/notesMaster1.xml" Id="R1b08248db71843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012238a5cf54468" /><Relationship Type="http://schemas.openxmlformats.org/officeDocument/2006/relationships/notesMaster" Target="/ppt/notesMasters/notesMaster1.xml" Id="R18052b7616234b2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93987827fca4f4f" /><Relationship Type="http://schemas.openxmlformats.org/officeDocument/2006/relationships/notesMaster" Target="/ppt/notesMasters/notesMaster1.xml" Id="R2fbeaf2ad8144a4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3333d454e734588" /><Relationship Type="http://schemas.openxmlformats.org/officeDocument/2006/relationships/notesMaster" Target="/ppt/notesMasters/notesMaster1.xml" Id="R56b41a5206b44a5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c3638cc577b49fc" /><Relationship Type="http://schemas.openxmlformats.org/officeDocument/2006/relationships/notesMaster" Target="/ppt/notesMasters/notesMaster1.xml" Id="Rdd18955d972a4b0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e5c1ff2a86f4492" /><Relationship Type="http://schemas.openxmlformats.org/officeDocument/2006/relationships/notesMaster" Target="/ppt/notesMasters/notesMaster1.xml" Id="R09471493a5674e6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cb81be372f34841" /><Relationship Type="http://schemas.openxmlformats.org/officeDocument/2006/relationships/notesMaster" Target="/ppt/notesMasters/notesMaster1.xml" Id="Rce160d14e6584d6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07e88d7380f44b0" /><Relationship Type="http://schemas.openxmlformats.org/officeDocument/2006/relationships/notesMaster" Target="/ppt/notesMasters/notesMaster1.xml" Id="R70ef97fc6eab409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82968efcd5c4549" /><Relationship Type="http://schemas.openxmlformats.org/officeDocument/2006/relationships/notesMaster" Target="/ppt/notesMasters/notesMaster1.xml" Id="Reeae0d8f381349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秒演示目标（建议 45 秒）</a:t>
            </a:r>
          </a:p>
          <a:p xmlns:a="http://schemas.openxmlformats.org/drawingml/2006/main">
            <a:r>
              <a:t>用户只需提供 API Key，主进程完成服务探测、模型拉取、能力分类和保存。</a:t>
            </a:r>
          </a:p>
          <a:p xmlns:a="http://schemas.openxmlformats.org/drawingml/2006/main">
            <a:r>
              <a:t>技术上使用凭据隔离、端点规范化、能力感知发现与幂等集合合并。</a:t>
            </a:r>
          </a:p>
          <a:p xmlns:a="http://schemas.openxmlformats.org/drawingml/2006/main">
            <a:r>
              <a:t>30 秒是顺畅网络下的现场演示目标，不作为固定网络 SLA。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产品完成度（建议 40 秒）</a:t>
            </a:r>
          </a:p>
          <a:p xmlns:a="http://schemas.openxmlformats.org/drawingml/2006/main">
            <a:r>
              <a:t>完成度从用户生命周期衡量：配置、执行、观察、审阅、沉淀都在一个工作面完成。</a:t>
            </a:r>
          </a:p>
          <a:p xmlns:a="http://schemas.openxmlformats.org/drawingml/2006/main">
            <a:r>
              <a:t>三平台目标和稳定本地服务边界证明它不是一次性原型。</a:t>
            </a:r>
          </a:p>
          <a:p xmlns:a="http://schemas.openxmlformats.org/drawingml/2006/main">
            <a:r>
              <a:t>EBAI 强调安装、映射与启用的安全边界，不用无法离线复现的资源数量包装完成度。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项目级 Runtime Host 数据链（建议 55 秒）</a:t>
            </a:r>
          </a:p>
          <a:p xmlns:a="http://schemas.openxmlformats.org/drawingml/2006/main">
            <a:r>
              <a:t>这一页只解释 BAI Work 自身的架构选择：把桌面复杂度集中在 Runtime Host。</a:t>
            </a:r>
          </a:p>
          <a:p xmlns:a="http://schemas.openxmlformats.org/drawingml/2006/main">
            <a:r>
              <a:t>工作台只消费稳定事件，项目上下文、状态、权限和产物则始终围绕 workspace 收敛。</a:t>
            </a:r>
          </a:p>
          <a:p xmlns:a="http://schemas.openxmlformats.org/drawingml/2006/main">
            <a:r>
              <a:t>从输入到验收的每一段都有明确边界，因此长任务可以被观察、恢复和验证。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Economy 控制面（建议 50 秒）</a:t>
            </a:r>
          </a:p>
          <a:p xmlns:a="http://schemas.openxmlformats.org/drawingml/2006/main">
            <a:r>
              <a:t>这里展示的是当前代码中可复现的请求预算配置，不使用仓库里不存在的估算公式。</a:t>
            </a:r>
          </a:p>
          <a:p xmlns:a="http://schemas.openxmlformats.org/drawingml/2006/main">
            <a:r>
              <a:t>历史保护限制发送请求时的超长工具结果和参数，原始聊天记录保持不变。</a:t>
            </a:r>
          </a:p>
          <a:p xmlns:a="http://schemas.openxmlformats.org/drawingml/2006/main">
            <a:r>
              <a:t>当前适配层没有可用的节省遥测，因此界面明确显示不可用，不宣称节省百分比。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上下文治理契约（建议 55 秒）</a:t>
            </a:r>
          </a:p>
          <a:p xmlns:a="http://schemas.openxmlformats.org/drawingml/2006/main">
            <a:r>
              <a:t>第一层约束工具结果，第二层约束工具参数，第三层定义摘要阈值与资源预算。</a:t>
            </a:r>
          </a:p>
          <a:p xmlns:a="http://schemas.openxmlformats.org/drawingml/2006/main">
            <a:r>
              <a:t>这些默认值和输入上限都能从共享设置、IPC schema 与 normalizer 中复现。</a:t>
            </a:r>
          </a:p>
          <a:p xmlns:a="http://schemas.openxmlformats.org/drawingml/2006/main">
            <a:r>
              <a:t>我们把控制面和实际运行效果分开陈述；只有可用遥测才进入节省展示。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技术实现（建议 60 秒）
EBAI 从远程索引开始，经过安全门、暂存缓存、原子替换和语义映射后进入 BAI 用户目录。
资源限制、路径校验和来源标记保证安装过程可控、可追溯、不会留下半安装状态。
命令、Agent、规则、技能和 Hook 使用不同映射规则，不是简单文本替换。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Hook 安全（建议 50 秒）
Hook 转换为 BAI 项目级 TOML，但全局 manifest 默认始终关闭。
只有用户明确选择受信任工作区后，才会写入项目级 hooks.toml。
这种设计把高价值自动化能力与执行信任分开，避免安装即执行。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端到端工程证据链（建议 55 秒）</a:t>
            </a:r>
          </a:p>
          <a:p xmlns:a="http://schemas.openxmlformats.org/drawingml/2006/main">
            <a:r>
              <a:t>这一页把前半段技术点收束为评委可以直接判断的证据链。</a:t>
            </a:r>
          </a:p>
          <a:p xmlns:a="http://schemas.openxmlformats.org/drawingml/2006/main">
            <a:r>
              <a:t>从配置到工程验收，每个用户价值都对应明确的系统机制和验证入口。</a:t>
            </a:r>
          </a:p>
          <a:p xmlns:a="http://schemas.openxmlformats.org/drawingml/2006/main">
            <a:r>
              <a:t>BAI Work 的优势来自完整闭环，不需要依赖外部产品比较。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工程验证证据（建议 40 秒）
四个数字证明项目已有真实工程规模和自动化验证。
Mac Intel 是当前迭代主版本，其他平台保持同源构建和原生 smoke。
商业发布仍需正式签名和公证凭据，这一风险在路线图中明确。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目标用户（建议 35 秒）
首批用户是有真实本地项目、长任务和产物验收需求的个人与小团队。
BAI 生态用户获得的是持续桌面入口和项目交付工作面。
切入策略先验证高频留存与任务完成率，再扩展更广泛场景。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路线图与现场演示（建议 45 秒）
前四周解决发布级稳定性，第二阶段验证首批 Cohort，第三阶段再决定规模化。
现场演示严格控制三分钟，覆盖配置、过程、产物和安全边界。
每个阶段都用行为指标验收，而不是继续堆叠功能数量。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收束（建议 30 秒）</a:t>
            </a:r>
          </a:p>
          <a:p xmlns:a="http://schemas.openxmlformats.org/drawingml/2006/main">
            <a:r>
              <a:t>最后一句：简单不是删掉能力，而是把架构、配置和安全复杂度留在系统内部。</a:t>
            </a:r>
          </a:p>
          <a:p xmlns:a="http://schemas.openxmlformats.org/drawingml/2006/main">
            <a:r>
              <a:t>BAI Work 通过轻量架构、Token Economy、EBAI 和工程验证形成完整交付闭环。</a:t>
            </a:r>
          </a:p>
          <a:p xmlns:a="http://schemas.openxmlformats.org/drawingml/2006/main">
            <a:r>
              <a:t>下一步是稳定签名发布并用首批真实用户数据验证留存与单位经济。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a0b3844bdc48b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d6907660a94fc8" /><Relationship Type="http://schemas.openxmlformats.org/officeDocument/2006/relationships/slideLayout" Target="/ppt/slideLayouts/slideLayout1.xml" Id="R1a2d11c59ce04c0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2d11c59ce04c0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51dbfd870499b" /><Relationship Type="http://schemas.openxmlformats.org/officeDocument/2006/relationships/image" Target="/ppt/media/image.png" Id="R410f288ba26240b9" /><Relationship Type="http://schemas.openxmlformats.org/officeDocument/2006/relationships/image" Target="/ppt/media/image2.png" Id="R5c9c27543df246e8" /><Relationship Type="http://schemas.openxmlformats.org/officeDocument/2006/relationships/notesSlide" Target="/ppt/notesSlides/notesSlide1.xml" Id="R99f217d0369147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61a65e28d4d8d" /><Relationship Type="http://schemas.openxmlformats.org/officeDocument/2006/relationships/notesSlide" Target="/ppt/notesSlides/notesSlide2.xml" Id="R0b3cd14c0ea14d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e16efa64d40be" /><Relationship Type="http://schemas.openxmlformats.org/officeDocument/2006/relationships/notesSlide" Target="/ppt/notesSlides/notesSlide3.xml" Id="R3e6efea4b58943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6fe1a77694433" /><Relationship Type="http://schemas.openxmlformats.org/officeDocument/2006/relationships/image" Target="/ppt/media/image3.png" Id="Re91a1762a3a84987" /><Relationship Type="http://schemas.openxmlformats.org/officeDocument/2006/relationships/notesSlide" Target="/ppt/notesSlides/notesSlide4.xml" Id="R9ca9c53bcce542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d18e311b04e09" /><Relationship Type="http://schemas.openxmlformats.org/officeDocument/2006/relationships/notesSlide" Target="/ppt/notesSlides/notesSlide5.xml" Id="R2324cd2c4bf74c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b117043524f1e" /><Relationship Type="http://schemas.openxmlformats.org/officeDocument/2006/relationships/notesSlide" Target="/ppt/notesSlides/notesSlide6.xml" Id="R4b49b7fe8cd34a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5b2eba52f4842" /><Relationship Type="http://schemas.openxmlformats.org/officeDocument/2006/relationships/notesSlide" Target="/ppt/notesSlides/notesSlide7.xml" Id="Re2bad8936b2f47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82cc7b3204a3e" /><Relationship Type="http://schemas.openxmlformats.org/officeDocument/2006/relationships/notesSlide" Target="/ppt/notesSlides/notesSlide8.xml" Id="Rb8293c32940b4a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5f9933212435d" /><Relationship Type="http://schemas.openxmlformats.org/officeDocument/2006/relationships/notesSlide" Target="/ppt/notesSlides/notesSlide9.xml" Id="R6fd51c6ca0f34ac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1600864554e78" /><Relationship Type="http://schemas.openxmlformats.org/officeDocument/2006/relationships/notesSlide" Target="/ppt/notesSlides/notesSlide10.xml" Id="R1fe0a9f866894e9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7927f3e334287" /><Relationship Type="http://schemas.openxmlformats.org/officeDocument/2006/relationships/notesSlide" Target="/ppt/notesSlides/notesSlide11.xml" Id="Ra51f11dbcef54c2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39911b6924469c" /><Relationship Type="http://schemas.openxmlformats.org/officeDocument/2006/relationships/notesSlide" Target="/ppt/notesSlides/notesSlide12.xml" Id="Rd7698d642225417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6ebe60a60494c" /><Relationship Type="http://schemas.openxmlformats.org/officeDocument/2006/relationships/notesSlide" Target="/ppt/notesSlides/notesSlide13.xml" Id="Rcd37b58efc8e4d3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1ec87b4e94f67" /><Relationship Type="http://schemas.openxmlformats.org/officeDocument/2006/relationships/notesSlide" Target="/ppt/notesSlides/notesSlide14.xml" Id="R84cfae0adc44413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b74ceb80c43c3" /><Relationship Type="http://schemas.openxmlformats.org/officeDocument/2006/relationships/notesSlide" Target="/ppt/notesSlides/notesSlide15.xml" Id="R687ec973bbde437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a67af1ed045e4" /><Relationship Type="http://schemas.openxmlformats.org/officeDocument/2006/relationships/notesSlide" Target="/ppt/notesSlides/notesSlide16.xml" Id="R4f4c2c9de59847c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df14753574ea9" /><Relationship Type="http://schemas.openxmlformats.org/officeDocument/2006/relationships/notesSlide" Target="/ppt/notesSlides/notesSlide17.xml" Id="Rfad1e8989fb448c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9f9bc7cc34259" /><Relationship Type="http://schemas.openxmlformats.org/officeDocument/2006/relationships/notesSlide" Target="/ppt/notesSlides/notesSlide18.xml" Id="Ra5ef5b836062433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af5303c2c4206" /><Relationship Type="http://schemas.openxmlformats.org/officeDocument/2006/relationships/image" Target="/ppt/media/image4.png" Id="R10ebf70ff9f6466f" /><Relationship Type="http://schemas.openxmlformats.org/officeDocument/2006/relationships/notesSlide" Target="/ppt/notesSlides/notesSlide19.xml" Id="R830f29229c3743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70AD96C-C2F4-4BA6-9D5B-91FD2D58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0"/>
            <a:ext cx="5287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B9D5F2B-3580-48E7-BDC5-6CC99271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475488"/>
            <a:ext cx="4754880" cy="507492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0f288ba26240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8896" y="1500759"/>
            <a:ext cx="4608576" cy="302437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D4334B81-6F94-4110-9BBC-88EB7CA9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3678311"/>
            <a:ext cx="4608576" cy="8468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1614ADF-D1F3-44B2-BCF2-61BB73F1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973708"/>
            <a:ext cx="42428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35C234C-B264-4069-BE62-B3397921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650992"/>
            <a:ext cx="5287975" cy="1207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A7BAA63-662B-4B13-AA7C-170A681A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7EC5C1"/>
                </a:solidFill>
                <a:latin typeface="Aptos"/>
                <a:ea typeface="Aptos"/>
                <a:cs typeface="Aptos"/>
              </a:rPr>
              <a:t>GENESIS HACKATHON</a:t>
            </a:r>
          </a:p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27543df246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1084955"/>
            <a:ext cx="5212080" cy="1359673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F701DFE-A037-48FE-AD20-8C340356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51760"/>
            <a:ext cx="5715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项目级轻量 Agent 工作台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BEA6D1C-1DA1-401A-8137-E6EAB65C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64992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5CDD4"/>
                </a:solidFill>
                <a:latin typeface="PingFang SC"/>
                <a:ea typeface="PingFang SC"/>
                <a:cs typeface="PingFang SC"/>
              </a:rPr>
              <a:t>更短执行链 · 更小故障域 · 更清晰产物闭环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95B8186-9A38-436D-A82D-AFF140CD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416A4764-9B71-4B43-B148-04EAE6BA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 秒路径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FE18E41-2400-495A-AD36-F7AEEA03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D452CD8-A63B-4AC1-949A-618BE13F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单项目执行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3DFEB0D-A38A-475A-AD7A-21918561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8D8DFD4-3A34-49A7-BFCF-482F78A5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Economy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15A5BC2-97DA-4001-8223-E45BA30F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45F2910A-8B1B-4C03-A972-F3E696FC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EBAI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E6349136-6863-481A-ACC7-5C62751E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DE4751A-6398-4B78-B746-87C83C95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三平台交付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6621D23-BFE8-4333-A4A3-DA59622A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99632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89939D"/>
                </a:solidFill>
                <a:latin typeface="PingFang SC"/>
                <a:ea typeface="PingFang SC"/>
                <a:cs typeface="PingFang SC"/>
              </a:rPr>
              <a:t>项目答辩 · 2026.07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7CBE128-BA0C-40AD-A479-68B620A6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5925312"/>
            <a:ext cx="4251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API Key 到可验收产物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4607C1F-B56E-40AA-94F3-0FCAF628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6291072"/>
            <a:ext cx="4251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8D1D8"/>
                </a:solidFill>
                <a:latin typeface="Aptos"/>
                <a:ea typeface="Aptos"/>
                <a:cs typeface="Aptos"/>
              </a:rPr>
              <a:t>Mac Intel · Mac Apple Silicon · Windows x64</a:t>
            </a:r>
          </a:p>
        </p:txBody>
      </p:sp>
    </p:spTree>
    <p:extLst>
      <p:ext uri="{BB962C8B-B14F-4D97-AF65-F5344CB8AC3E}">
        <p14:creationId xmlns:p14="http://schemas.microsoft.com/office/powerpoint/2010/main" val="18539653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E52FCE5-69C3-48AB-BE47-89DE8EF7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WHY BAI WORK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4FC8516-59C1-4E01-AD37-3B63A5DF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为什么需要 BAI Work：项目任务要求“连续交付”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1322A62-1204-44B2-A5D9-04489D73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CAECA95-FF48-4BDD-A592-1141388E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产品定义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DA4808-4B72-463A-9C2D-BB89D909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1AF54CB-8262-496C-B8DE-3239CC2B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561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真实知识工作不是一次问答，而是上下文进入、工具执行、过程反馈、产物审阅与后续复用的连续系统。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F63AA30-FC21-49A4-9CBA-9FCC1A96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8639BB8-C9B9-4FFF-A42F-070976B6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27435B-2F85-4A7D-B07F-F33A1BD1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上下文割裂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C49538C-C7D9-47BC-8670-1F941971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项目、文件、版本状态与会话历史分散，重复传递成本高。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D8CC137-FDF1-40A4-A325-32AD54C2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08B9913-9798-48F5-8E35-EE165F97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A8931E2-EB7A-499E-9D26-E9571819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过程不可观测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CFC5F0B-D6F7-4F02-8041-715AF32E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长任务只有等待或原始日志，难以判断当前状态和失败位置。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005DA0C-5B14-41D3-B131-08C80113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10AE0EF-15F1-4ED9-B096-9FE5969F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E21D96B-0C26-4B29-B1BE-45CA7EAC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交付不可验收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73A337D-B09B-4C57-AC19-11DADC55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回答与工具过程混在一起，产物、差异和验证证据缺少结构。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C9AC738-674D-432E-9957-CFC33BE2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74920"/>
            <a:ext cx="10076688" cy="841248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FD411C6-B269-4114-9195-E2B718B9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0368"/>
            <a:ext cx="9582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BAI Work = 项目上下文 + 本地执行 + 可观测状态机 + 可审阅产物 + 受信任能力层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36818DE-3E17-4DA1-BC92-3ED8DC0E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产品原则：以任务到产物的闭环效率为主目标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989E509-B60F-4B9A-80B4-F6958797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13464103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659086-F3AB-423A-8EE1-EB24AE48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THIRTY-SECOND ONBOARDING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B3BE65-A3EC-4DB2-A1E4-B9235B9D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30 秒演示目标：API Key 进入，模型能力自动就绪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EC455BD-667E-4A7D-9B03-10BEA0B4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EFB90D1-C07E-40C2-85D9-E2C6431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极简上手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B3FE5CD-3823-47D5-9809-92E2C176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D55A593-2747-43A0-9671-A33555F7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987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F4D2A0A-2C69-491F-84A3-6624FE30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3624"/>
            <a:ext cx="841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现场路径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3677FF8-3E23-4AA3-AD34-0BB0FDCF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5C0B257-7458-47C9-99E2-A028892F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F3DA3D8-40D5-4D8F-9B0E-2800E9D9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 API Key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C84073C-A109-4BE9-9F18-84A9C257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Main-Process Credential Isolation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ED66A64-D696-48E5-9B6B-18E10985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7FA796C-40AC-4B76-86FF-4E37D0F9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CD7A33-0FC3-4C0F-913B-D6826D0C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E395378-F64A-4E4C-86F0-4E423FAA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探测服务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B5D7FA1-BE4F-4E06-A08B-554C3596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Endpoint Canonicalization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170AD77-2D0A-49FC-82AB-78D7F480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DF9EF2C-9F03-4EB8-9183-A33E3FEB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5B329CB-2526-48ED-B6B5-4A8A4D75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29F9622-FA3C-455E-A7A5-90B65A0A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拉取模型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B65776C-7201-4B09-810D-AC2212A3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GET /v1/models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1392605-0CA3-43BB-93DE-E345F6B1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34DCF56-0C7E-4E94-AE37-FD99368B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F57FD5C-1090-478C-82AE-7DA53442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AF27FCE-1826-4DFB-B762-6B38455A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能力分类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716D08A-A19E-488A-9244-1289A847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Capability-Aware Discovery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803C772-CD53-45C3-8AF5-A262BC80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7F11DEF-373E-451C-865F-ABA49582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53DB942-CE9F-4CA7-A167-FF5AB275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E93C2BC-7061-4694-9927-CC0CAFB3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保存并使用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C1DD156-83EE-416A-A53A-1FCFFCF2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Idempotent Set Merge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50924996-E3D6-4F7A-9DA7-21F92CB4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67208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B233966-C1B2-4C11-A045-E1835548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24528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实现机制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600E1216-221A-4656-9569-6D00A92D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2976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8DAD730-BE0F-456D-A89C-FC838DA9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60520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凭据只在主进程中参与请求，避免渲染层暴露与跨域约束。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B25E4A08-BD82-44A7-97EF-EFA22084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274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F31D2F4-9BE3-4F4F-8909-2C9DDA6A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90288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统一规范化 Base URL，8 秒模型列表超时与 10 秒连通性探测。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E366DF39-C57E-46FE-A95F-70E8BE2F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15721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649C341F-00D8-407E-A728-23325A9B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20056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去重模型 ID，按文本对话能力过滤，并与已有配置幂等合并。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A44731D8-A783-4B20-B299-88A9CE6E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977640"/>
            <a:ext cx="388620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5C645B6A-522E-485D-BFCD-DA4E70CD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224528"/>
            <a:ext cx="32735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用户感知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AB113BF-6B56-4B32-A928-2F52CFDF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617720"/>
            <a:ext cx="327355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无需编辑配置文件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无需手工录入模型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无需理解运行时参数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36951120-1D93-43C6-96EC-BA85738E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287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实际完成时间取决于网络与 API 可用性；30 秒是典型配置目标，不是网络 SLA。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BBE3CAE8-3436-4A72-9089-077B1D4D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实现证据：provider connection · model discovery · protocol URL normalization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70943B3-44DE-4848-9673-7DCE3CDD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12500003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C4B9ACF-D817-4623-B2D8-56578D8C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DEMO STORY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9FE6481-0707-43AE-8769-90E76D6A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现场演示：从一句任务到可验收产物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1FF6920-ABEC-44DC-8324-0E575666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DED0EDE-231E-4BED-9DAA-5E513252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用户流程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A62F40B-CEF4-4E73-8BA6-E1C62026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D8AD9F7-ECBF-4908-9CB0-FFA26E0E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536192"/>
            <a:ext cx="6537960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a1762a3a849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656" y="1670066"/>
            <a:ext cx="6391656" cy="4194524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EF11D244-CA64-404E-89C6-52AC99D6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813030"/>
            <a:ext cx="6391656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154A7DB-5EF4-4AEE-8B12-7037E6E2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10794"/>
            <a:ext cx="6025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4F58BEF-C00B-4B44-859C-1A14005A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1627632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E2D2B54-DA0D-41B7-AAA1-EEA14FF0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1636776"/>
            <a:ext cx="813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演示任务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0FA2EC5-F684-4F77-9A49-46C4B622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011680"/>
            <a:ext cx="3977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“检查当前项目，持续展示推进过程，并交付可验证结果。”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5A587DD-1A5F-4203-B31B-1D7B089B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B465094-BAFF-4011-9B1D-F63B1E9F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144ADCB-CF57-4F46-AF0B-E6DEADCD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8803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选择项目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254D425-D01C-4BC2-BCDC-AEB240C2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项目、文件与版本状态进入上下文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C68D0F06-8951-454C-BA63-DA52D535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7FDA8F6-90BF-42B4-8C4F-7E2D0551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0830656-FB0E-446A-B9DB-4C31AEFE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602736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启动执行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4E6824A-C3A9-417C-9ED4-0D408FA7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88620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规划、工具动作与等待状态持续可见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F005F4B0-0C70-47BC-B0D5-EE0C92A5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48B7447-4F2B-4BA1-B510-638DF1E6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EC5724F7-65AE-4D3F-A808-729B1FB0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325112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审阅结果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E1867A05-8B5B-45FC-A95B-27327067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608576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回答、产物、差异与验证证据分离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78DB5E6-7DA2-453F-98E9-DC96DA689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DE42321D-83A6-429C-97D0-60E58F90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36F31EE-BD1C-405B-A5A6-6AD5524B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047488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沉淀能力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762F2C3-43D7-4AE7-AD3C-098D8566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330952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规则、技能与记忆进入后续任务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78EC810-5D2A-43D0-ABFC-4B88A354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现场演示使用当前 Mac Intel x86_64 构建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0762386D-0322-4FA1-BBD2-435B5D56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19329182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A5DA05-1952-483F-A132-DD7A2353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PRODUCT COMPLETENESS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8312E0E-6033-4519-9811-3C0FF9D6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产品完成度：一个工作面覆盖完整任务生命周期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1857FDD-704E-48CE-B0B8-9F8F46D1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D58C7D5-8D02-4DE3-BD29-1ED43FAF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1BF14C-B225-4E8B-A7A7-CF8CBF55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2F0C02E-2852-4989-935B-3B94D595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C6B8855-46B1-48D0-9C05-367CBAB3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13FA6F7-DD98-4CC6-B613-49ECB511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项目与会话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0949BDD-0F10-403A-9BAC-880D7150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Workspace、历史与版本上下文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E087A2C-AC72-4552-98C3-7BA06405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008B090-7534-4B96-AC4C-2FD29B19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0869D89-608F-4208-8837-8C70AC95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模型与服务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8209601-F136-4FA1-9042-ECDDE69C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BAI 默认与标准兼容协议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5A4BEB8-F0F0-43BC-A57B-BC429111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0B81176-F50D-4BE6-816C-3C7AE790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D95776B-7C60-468E-88DA-7AEC429A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实时进度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1027980-3FA3-4EA4-8037-E6578982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步骤、工具摘要与错误恢复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2B8D3F7-A315-41FD-BF18-F6FD2AE7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1694E75-CCA6-4075-B88F-0B270F19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75903E6-B1A5-4082-B680-E44E7780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文件与产物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C566098-F098-4C6B-9C45-561DB859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引用、预览、差异与文档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C0CEE9B-8F7D-47FD-8304-732B98E9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6E6F696-4791-487E-AFAF-B0F3A52B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8D3DE81-3BD5-44EC-A909-DF3C7496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长期记忆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2673F47-5D9B-4C4A-B843-8F9D9078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用户、工作区与项目作用域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937E100-9F39-4FC3-9AC1-B7A2BBA0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A137376-C9A7-417C-839D-5D12B9A1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1A4B341-DCED-4391-A3D8-6646DF79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能力扩展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31287CD7-2F51-44C0-BA3E-369FAC2C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EBAI、技能与任务自动化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4040715-D00A-42F6-B78D-71B439F4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63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93686EC-9430-4639-8F0A-63B29E47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CC41A83-6BB5-4551-ADD2-1A4AA702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桌面目标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6D3700D-EA09-41E6-8140-E350F7A0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mac-x64 / mac-arm64 / win-x64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CB03836-604F-4E06-BF99-08F29E45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B927886-A3EA-45B6-B055-C9BCD323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8BF97F1B-5357-4A04-8314-0061DA361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main / runtime / renderer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422D67D-5B3D-4126-A582-1D6DF103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/v1/*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B136C637-A438-4D9F-A3C3-B9FA763F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本地服务边界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9940DF0-9038-4AA6-B283-662936D4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稳定桌面接口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F0DAA9D-855E-415C-96C8-F13836C9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EBAI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B0F5306B-A4FB-4200-8955-6F041159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能力映射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E85DD82-F7B0-41DE-86AB-E93A4F0F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安装与启用分离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9BE9D1F-E196-4EF6-8A4E-CCD04D0B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8179BB57-B8BF-4F53-9531-83D39EB4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连续工作流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4D6DB9BA-167A-4A1E-B751-1C4B82A8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任务到产物再到复用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1D6DAA45-3F0D-464E-8096-EE11588C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当前实现证据：README · runtime adapter · EBAI mapping tests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CD9913E1-9D41-4551-89F0-B8B22D52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8061460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EC7F801-BED1-490B-BA7B-0A0E75E0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LIGHTWEIGHT RUNTIME 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5DE117-3E3D-41FC-8FD9-0B615BF4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技术实现：单一 Runtime Host 收敛桌面复杂度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C0483C0-74ED-4733-BB94-EA70CC01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DBADF87-F51F-44C6-BFF1-0C0574D6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66B2CF2-4C19-4EDE-BC1B-C32A27EE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A9B0145-6BF5-4FBD-9D2B-74BEC61C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0FDDAC8-0E57-4C26-A828-262431F4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Renderer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608CC77-A994-4639-91F2-74DA458F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工作台 UI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会话 / 设置 / 审阅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B74927B-80B5-4095-B9BF-57F3C4FD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474D5C9-B675-4481-A2A9-64B1CF63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83E0BED-62A3-4BCF-BEF4-01746370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64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Preload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37FD09A-1323-4E0D-A736-35183235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最小 IPC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受控桌面能力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0BE90AB-9E07-400C-919D-6F8386A1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A6F3AA4-2DC2-4828-B69B-0960E5DF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592B496-DC5C-49B2-8CB2-BB75345F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Main Host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8CA7470-F361-4FEC-A9C7-2E7AD4D7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 / 文件 / 生命周期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单一运行时入口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095FBEE-B3E5-497B-B2D9-169C2B7E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2E50475-3198-4D67-A8A7-031FA4AE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6B60702-E866-46C4-8B6F-CED580BE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Loopback API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64434AD-E74D-4B06-AFDA-E58B5105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稳定 /v1/*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SSE 事件边界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2B694BB-DBEF-4487-8475-98575446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0970A1B-0AA2-49AB-9D08-03ED5AC4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2FF1236-58B2-49D7-B191-CC84AC62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Code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44FA50D-DA91-4B24-A459-8B7548AD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模型调用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工具执行 / 上下文压缩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8E295650-714D-4974-BCE3-972F467D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69037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5000D46-5011-44F5-8AB8-CC56D8E7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326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协议隔离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06EAF6D-B25F-4130-A9E0-D8A42FB0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533095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上游 CLI 与服务契约的变化只进入 Runtime Host；Renderer 始终面对稳定的本地事件模型。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3B26668-C7B7-4C8A-BC0A-5EBB79FD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6263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结果：运行时可替换、桌面流程连续、错误可清洗、测试边界清晰。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05B573C-B283-4219-BD41-C572F17A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078224"/>
            <a:ext cx="37033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FEC38AD-18E1-4256-9F2F-D05CBFCF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315968"/>
            <a:ext cx="30906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轻量拓扑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AB99241-101A-46E9-85BE-5E094EC0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645152"/>
            <a:ext cx="309067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单进程主机 · 本机回环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项目级状态 · 最短交付路径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1B3A0E8-ACA8-4A81-A05D-B488EF15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host · preload IPC · streaming adapter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BF0E67F-DC3B-42C7-B443-63741B87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79760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60675DE-85A9-4768-A53D-B742957D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RUNTIME DESIGN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6E191A-20FC-4E4E-8D2F-FB658728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架构选择：把复杂度收敛到项目级 Runtime Host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EA6F04C-7D93-42BB-A5A3-A3ED1ACE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AD54CC4-947B-4A47-B206-7511ABD9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架构优势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C8FFF88-6F5B-4B88-A526-1FBBFA7D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AA490D7-3292-4648-86DE-861471B1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17904"/>
            <a:ext cx="10149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系统复杂度集中处理，交付证据持续回到当前项目。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D35726E-178E-49B9-9BA3-A5BADDA7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D11D94C-B0AD-448A-826C-AF9AF7C9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7313A"/>
                </a:solidFill>
                <a:latin typeface="Aptos Display"/>
                <a:ea typeface="Aptos Display"/>
                <a:cs typeface="Aptos Display"/>
              </a:rPr>
              <a:t>控制边界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607526C-0D1E-4D0C-9469-B1E3DA39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B4E7411-5A40-4EB2-A087-5597892B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Runtime Host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F135F0B-C1E9-4787-87C1-63615FF1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27A1963-FB62-4847-BEFF-FDB721AF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凭据、协议、文件访问和生命周期集中在主进程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5B167BC-9FF1-4433-AB2B-027F9B6B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C9469D-204A-4550-ADB9-D4F2F2E5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上游变化只进入适配层，不扩散到工作台界面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882A1D5-0A98-40DA-AF4B-A076C28E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FE286A8-AACF-477C-A6BC-24C02B91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本机回环服务与稳定 /v1/* 构成清晰边界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0C0BBC3-4810-4941-B425-04ECC578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D49DE1C-F31A-480A-911F-3F3C6A2C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错误清洗、重试和事件归一化共享同一入口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66760A2-CB94-4443-9523-65387E1D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6451BC1-27CA-43FD-8A62-0BBCB915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286000"/>
            <a:ext cx="1920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交付数据面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74D9E15-A14A-44FF-8C1C-2CEBD991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92E1982-3E0C-4B70-8AEB-F080CDEC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94AF183-DA40-482A-954A-D71AA445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3D6699B-F70E-48E5-A044-001E1CDF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上下文、任务状态、权限与记忆围绕项目收敛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58FF240-A88F-4E77-8DB8-FFB4E9DB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D1A5C9A-0129-4D5F-96D7-86AF66FF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工具动作、等待、错误与完成进入统一时间线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102B620-98D8-497C-8558-80264440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72B56A0-5CA3-4617-B906-FF4134BC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回答、文件、差异、截图与报告分区呈现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893F773-A3BC-4CD8-9FD4-D1AC49A3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ED55295-5CB8-4839-BDDD-1DAEBE9E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文件、测试、构建和运行证据共同完成验收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FF35518-82B4-492A-8EC4-64A5B05B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9008"/>
            <a:ext cx="990295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7B07541-0B65-4D26-A325-12340F33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52160"/>
            <a:ext cx="9482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Workspace Context → Runtime Host → Event Stream → Deliverables → Verification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A1CB832-0EAE-47B6-A8C3-A091A8F3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实现依据：runtime host · streaming adapter · project-scoped state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E902EDF-EE5E-49B4-BC7A-898D4EC3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15024020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BB4FDCC-47AA-4CA0-B3B4-2D60FF94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RUNTIME OBSERVABILITY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875CD9D-8295-46CE-8706-A126C89E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可观测执行：把长任务转换为确定性状态机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A951661-B521-44B3-AA7A-792A4D63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6BF2EA9-B080-40BC-955E-453FEAC8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过程体验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83CC5FE-70C0-4B8D-8D82-8F1D5493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26555C6-1395-47C3-B97D-2BCEFF94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C609A1A-1670-406C-8BEC-186D23B4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E9DB1F4-D47A-4E0F-960A-323885B1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目标与约束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A34CD53-63C0-44AF-8FA6-216EB897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DC835DA-CC7C-4531-8715-019A12B9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E7035EF-12DA-4FA4-B3FA-42BAAA2E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事件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5F171AC-F655-4CE0-A66A-6573839C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流式运行时输出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5841DA8-6FEE-4192-993F-05CB6B3C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A51B497-30C8-41E8-81F9-E8B21102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7FD6DC0-79DC-4D6D-93DB-9F7A8746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D36A4CD-66AB-46BB-BF8E-E84C17B0B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去重 / 分类 / 清洗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FC241F0-6835-42B8-8E06-F30DC10A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27F144B-4C72-4447-8B60-CDFDA73D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8BDF23A-40C0-410A-8B9C-91FA0B4E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时间线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93114FA-3E7C-4510-922B-BE75BFFE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步骤 / 工具 / 等待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8399817-28E8-4B82-AEF8-26AE77C6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F52E32B-9117-4469-A902-9A353A22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30A4EB3-1D84-48AC-8C34-A5109541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A758212-793B-4B8B-902E-9FF2873C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摘要 / 产物 / 验证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64A2CF0-9290-460B-98F3-36CBDFD4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C39FF0F-BE2F-4FF6-966D-2649054C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D21921A-34F1-4168-ACC8-2AF45D0E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用量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B5AEEF3-2BDE-4EF6-A2E0-04883B23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可得则展示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07D95A2-5211-4554-8F82-2EDFDBAA6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原始输出问题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2AE086B-55FE-450F-8C85-3640595D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440AFB0-073B-4CE5-988A-92419F76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工具语法与状态句混排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连接错误堆栈污染聊天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长时间无反馈，最终整段堆积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9B3257C-5399-4C27-A3C4-9BEC5B96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31012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BAI Work 呈现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473EB80B-C549-440D-A681-D7FBD920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FE9A5E2-E2ED-4457-828D-A52DE37C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正在检查工作区 → 已运行 6 条命令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连接中断：可重试并保留有效上下文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完成后只留下结论、产物与验证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163BD817-7DE4-44E8-AFFE-06D9B80D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5532120"/>
            <a:ext cx="8119872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6BF0B006-2AB9-4623-BE69-F20AF36D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614416"/>
            <a:ext cx="7680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只展示可验证状态，不暴露模型内部推理；Telemetry 缺失时显示不可用，不伪造零值。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DCBDE759-7CB1-4C8C-955F-214AA18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实现证据：stream normalization · progress timeline · failure sanitization tests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1B936C2-2323-4FC1-9E76-570463EC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10061027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8FE2B9B-F9FE-4B94-8273-D7935724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BUDGET CONTROL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881FC1-ABFE-4A5B-91A4-B9A54A75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Token Economy：先建立可配置预算，再谈节省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F86C8A8-F2C9-4EE9-8ACF-A7455F87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EB30861-A95D-46BF-9B05-A82FD851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上下文控制面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0E8A60-3353-4F7A-A544-E0313F25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1501F4C-110E-4639-85CA-BC271CF5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977640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733AE5D-755E-4C6A-8240-41F3FBAD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请求预算 ≠ 删除聊天记录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1BE422C-A11F-4AAA-88D0-C8EBFD16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05456"/>
            <a:ext cx="342900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本次请求受限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8262275-D4F3-4A1A-8E27-B8F9ECDC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8D1D8"/>
                </a:solidFill>
                <a:latin typeface="Aptos"/>
                <a:ea typeface="Aptos"/>
                <a:cs typeface="Aptos"/>
              </a:rPr>
              <a:t>原始历史保留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C5EC845-1C46-4F25-A574-B4885823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664208"/>
            <a:ext cx="6565392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4603E51-85B4-48A4-99E8-0BFE9E38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1938528"/>
            <a:ext cx="60167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History Hygiene 默认预算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02FF4B6-D51C-4C14-AF0E-E2B2376C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7351253-EE6F-45FB-B653-197E2CD6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320 行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5E6843C-0491-4267-B342-9DFE6157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单次工具结果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AAD6468-0EE3-4D72-9FD9-622E5E34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6B28CF7-4BFE-4FA7-84D6-912895D0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 KiB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562B40A-D4F4-4C84-9905-8CF90F38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结果字节预算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C5AB6F2-EAEE-4B75-B5DB-33D6508C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EC76601-D636-45FF-92E0-4CB79B12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8K tokens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F9156D5-6C17-4FEF-B03D-56959772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 Token 预算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29075BA-6326-4B80-B0D5-EC83B4FD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63072" cy="1353312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D6E15FD-B6F7-4FC1-B278-3153ED3A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25696"/>
            <a:ext cx="10515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控制契约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809BEAB-729A-45B7-87F1-A1EAB3D3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48970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A0B094E-5792-4669-90B1-23366D0F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352544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工具参数字符串默认 8 KiB / 2K tokens，数组默认最多 80 项。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9070584-B4F4-4EC7-AE49-AC54C205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87375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7C21E15-A992-45CD-949D-AE11DADE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736592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共享类型、IPC schema 与 normalizer 共同限制非法或失控配置。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F4A0D15-8F59-49DE-9F93-39A069F9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578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C80E695-9139-40AD-8F4B-31329D08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120640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设置层保留压缩工具描述、工具结果和简洁回答的独立开关。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8C6AC0E-F96B-48DB-A930-EF1DFD25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852160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遥测不可用时明确显示 unavailable，不把缺失数据包装成“节省 0%”。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1E2E837-5FC5-436D-9E67-86BFA05F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实现证据：app settings · IPC schema · normalizer · usage telemetry guards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3455ABE-813A-4FC0-87A1-5982208B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18336778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BD80F0E-5A66-49A5-A3A1-B51FCC23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6322609-176D-4512-ABDE-BF537A45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双层上下文治理：历史卫生 + 压缩配置契约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3B9BBF0-FCA1-49D5-8D00-F6D38B7F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EC931C7-FF47-4427-974C-5452D72E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控制参数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E52FF7F-FEF6-48E1-8286-F38EFD5C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55AB828-AAC8-4C09-A463-51354154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D63AE0F-6613-48E9-B68B-EA3AFFA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10512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86D58C1-B557-44AE-BE4E-368823F3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1965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8983C00-19D0-485A-929C-B02790D4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1792224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History Hygiene / 工具结果预算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0A67947-483F-49CC-80B8-66BF4648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22199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默认：320 行 · 32 KiB · 8K tokens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4A1E8CC-93A2-4ECB-A27A-98877E35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92224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定义工具结果上限；原始聊天记录保持不变。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0741E5E-002D-45AA-A511-EB6733F5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56232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控制输入放大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D9AF714-5ED3-4883-9BCC-94C37F14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59B06A6-E835-4AFB-9D2E-6833A1DF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21B97DB-C590-4D4C-AD2D-D978CD94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095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9FB647C-7C6A-46FA-9548-8C4BF21F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182112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Tool Argument Guard / 工具参数预算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78AE509-052D-42C0-A5D4-5ED42F00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611880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默认：8 KiB · 2K tokens · 80 项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B929015-3395-4712-964A-9CEBA23C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82112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约束长字符串与数组展开；输入边界由 schema 和 normalizer 校验。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898B573-208C-4B59-95E8-A6F34CF8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降低结构冗余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85A3217-DA91-4F72-86D2-1CD212CD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07408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037904D-0194-4D7C-844B-7593672D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90288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8106877-3093-40F4-A0A2-B8EBB885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264CB5F-D7C6-4800-89AA-F8D72800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72000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Context Compaction / 摘要配置契约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76FBB48-69EF-4FDB-A51A-F1C3093F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00176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默认：软阈值 16K · 硬阈值 24K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7FA0072-C3A4-4418-A6A5-345B1130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572000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启发式摘要；15 秒超时；摘要上限 1,200 tokens；输入 96 KiB。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048C07F-EA75-4B02-B886-5E1E48D2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36008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为运行时留出空间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7244615-1D12-4E5E-8820-8C4FB1D4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10863072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807358F-4DEE-40F8-8488-DF341362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25312"/>
            <a:ext cx="10378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证据边界：这是可配置控制面与压缩配置契约；实际节省量只在后端提供遥测时展示。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9C8D9AD-CC3D-4391-9BBB-1E5ECFAC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实现证据：history hygiene defaults · compaction settings · validation bounds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55A510C-D4D9-4C70-85D3-6AFED3D4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4499035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BDBC1E-FBCC-4120-83CF-DFB32DA5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 TECHNICAL PIPELINE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21B1FA7-C706-43B1-B5EF-F242E841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EBAI：把外部能力资产转译为 BAI 原生结构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0FFA831-830D-413D-94E2-01EB08C7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49F964E-43F8-4863-8525-8FAD1279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能力兼容层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7FE754-487D-4A39-9CF3-0248DC42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2F00DBD-E621-41B2-893D-08552D58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ED30C3F-E88E-42BA-AAE3-A2CE7C38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Remote Index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FF1994D-EE52-435D-A1DF-DB07AA76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递归索引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版本与来源记录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4C99609-F58D-486A-A8AB-45BFB0AC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2560320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6E314AE-7BF6-429E-BB58-DF898625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CA07F54-480C-407B-841C-853629D4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A44747"/>
                </a:solidFill>
                <a:latin typeface="Aptos"/>
                <a:ea typeface="Aptos"/>
                <a:cs typeface="Aptos"/>
              </a:rPr>
              <a:t>Safety Gate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FEC94CA-A245-4076-988E-E70D9DBE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路径校验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大小与数量上限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5C0270F-25D5-4013-AF14-B18B8A75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784" y="2560320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6356709F-F089-4567-82ED-FBEBEF0F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B5761D0-1449-4D57-B5E5-196A076D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Staging Cache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497BAC9-3712-48C6-9BE9-74C2374A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并发下载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随机暂存目录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D0C2D33-0D46-4917-8B4D-050163DB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736" y="2560320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64822BD-0C86-4C7B-9CC9-8C5E4E89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FF77004-2433-4A9E-A88C-92B0D43C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Atomic Swap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D644F30-2D45-40EC-93D5-591817C4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完整后 rename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避免半安装状态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38D9F8E-163C-47DE-B870-A3FB2921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560320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10486E5-0FA3-45B2-926A-AE2836A4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72E590D-116E-4F5C-B3F0-4EB721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Semantic Mapper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156C95E-C9E0-445C-9717-FF0CDA33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命令 / Agent / Rule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Skill / Hook 转译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99F302A-A00F-4A32-9321-8C9614E2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560320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AADB76E3-12D0-4E2A-8823-D5E0A92D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1E9C18DD-3FCC-4DA8-A997-61C4C20D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BAI Home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80652EF-60BD-48CC-9F72-61579427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用户目录与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项目作用域目标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AEB74D9D-DBFF-466D-954C-1BE70126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521208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7FF99B5-A64A-447B-A2C9-49ADB6B8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资源约束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67FD48E-8CF1-4D03-8709-8627D4AD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12394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47B58F1-FA2D-4A8D-9512-DA017D78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986784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最多 3,000 文件 · 单文件 2 MiB · 总量 96 MiB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75CDE57-A805-46D5-9B35-7AD347B8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51713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25E8709-2846-4288-863B-4C007F29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9976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下载并发度 8；拒绝绝对路径、反斜杠与路径穿越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72843E26-1B5A-4A9D-A6F8-CCCA223D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910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AEAA8EE-BEA6-4663-A847-A84E499F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73168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标记 source / ref / commit / file count，支持追溯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EEE86920-2F06-40D2-96EF-3195CB90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794760"/>
            <a:ext cx="5376672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F6C4B23D-9B30-465E-99DC-F26D8D80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安装目标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24A6157-2821-4712-80F9-1E451E32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950208"/>
            <a:ext cx="3584448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~/.bai/commands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~/.bai/skills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~/.bai/skills/ebai-rules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~/.bai/ebai/hooks/hooks.toml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5D75108-828E-478A-9D41-AFAA5DD1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797296"/>
            <a:ext cx="9966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不是文本替换，而是带来源、冲突处理与安全约束的语义迁移。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A497B849-2487-44E4-BF51-A033EBA9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实现证据：EBAI source service · EBAI mapping service · mapping tests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F1982EF-62CA-4AEC-B588-BA8C4DD3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10841979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181B62-18C9-4A7A-A612-0CC14405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PROJECT-SCOPED HOOKS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0A14199-4D4F-479B-A243-17B559A3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Hooks：转换能力，但不自动扩大执行权限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2E84910-6EE2-45A4-AB3A-F53454B2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452A405-9E1E-4706-ACA9-804784D4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可信执行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98D6F59-2E25-4796-8307-2E97DC95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DAD7886-1EA4-44F6-A58D-8A8BEDCF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4983480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BD159D0-6FC1-496B-8332-432409ED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事件语义转换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67FAECA-8D5B-47A1-AE96-EF16BCDB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95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PreToolUse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7D4D3C4-6CED-4156-9FB9-016E079E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523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6AB1C9-19CC-4308-A653-481BCB42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395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tool_call_before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E4508A0-A2E1-4D37-8B52-C8359B20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529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PostToolUse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E9AEA2D-9AA5-4EC3-B4E5-C05D798C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809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CDDA5E6-115F-4407-B5A3-482C6D8C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8529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tool_call_after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0928E76-A5B5-44EF-B5F4-443AB001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SessionStart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04CD056-17BA-46D9-AD8F-4A728641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381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07546F8-E8F4-4DA3-B06A-0CE86007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3101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session_start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AD76866-AD5F-4577-A32C-5AF164BF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673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SessionEnd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F332789-CA30-48FC-BB03-8AF3D14E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8953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4000FA6-335F-4391-8628-E905AA4C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7673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session_end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3BFC980-9105-4D64-BB0F-C219C03C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Stop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E089270-BCC1-4282-A3DB-73E92D68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3525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FDF4AD6-0B26-46A6-8164-AD8BFFAE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2245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turn_end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7573AE6-C53B-4FDC-9906-53DAA013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81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UserPromptSubmit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9A0D7B92-7ABF-47FA-88F2-20227CC3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809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75642C3-9797-4800-AE9C-C564850E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681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message_submit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7CE3FF0-BFDE-406C-AB84-1DE69FE3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1627632"/>
            <a:ext cx="5559552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8E1E12B-3114-469C-9089-123D009C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默认安全策略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9B45D32-8462-44BF-866E-44C03E50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24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1877944-EAAB-4698-9D8C-30905756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全局 manifest 始终 enabled = false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D6E4E46-B626-4143-84EA-3CB6FA00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272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C10DB4F-E97D-4AE4-91BA-CEBBCAEE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008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启用必须显式选择受信任 workspace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B376B8DD-7BC4-4EAE-B71C-53A7A5AB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01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C50371F-9383-4225-A76C-DABF2AA9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9300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只写入 &lt;workspace&gt;/.bai/hooks.toml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0B7A5B1F-DAF0-4406-A6A2-BC62E534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33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BF5365F-61D7-4842-A227-08719684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9592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复制规则时拒绝符号链接与不安全路径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912CE2C-9B16-4248-B453-5241FBC8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355F8018-C053-4A7A-9B92-CCE0E028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9884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外部可执行脚本必须用户主动授权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DD79C6A-1D08-4E6E-AE2E-ADF001A7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389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453AC9CE-31C0-44F5-8CEA-CA831B0D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017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支持 dry-run、force、overwrite 与 skip 摘要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5171D375-F6DA-4874-A97B-B0F975AA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44747"/>
          </a:solidFill>
          <a:ln xmlns:a="http://schemas.openxmlformats.org/drawingml/2006/main" w="12700">
            <a:solidFill>
              <a:srgbClr val="A44747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D723E159-29DD-4013-B796-A0C2A2FA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默认关闭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5927A858-7752-45E7-8216-2182CE2D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5468112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D17C6E9-3097-44E3-B435-E51D0AC2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5477256"/>
            <a:ext cx="12070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项目作用域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ABFD0118-95C9-4640-BADB-5C34495B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1B4ED09F-DDDE-4FD2-A232-E0E54084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显式信任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66A15AD9-4683-4180-ABFF-9AEB1B99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安全原则：安装不等于执行；能力转译不等于隐式信任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73834543-60C7-4AB9-9553-0DD55810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11656435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595FE0F-379D-499E-B1DE-C93031FB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 EXECUTION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7F5DE9C-9507-48FD-991C-32293A05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AI 深度：上下文、工具、产物与验证构成闭环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7785805-A575-4E3A-B6F8-AEA8240F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03E2C40-62DA-456B-BDDC-B642C090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系统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593A061-4EB5-4FF9-817D-B4B6DE36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E967376-6298-4672-B6E3-BAD7A25C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674827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5F70390-14AF-4425-A42A-A7FCE966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FE957FE-F3F6-4EC5-89E2-D41E0B9B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200F72E-A3A2-478E-B72B-A5899700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Workspace · 文件 · 版本 · 记忆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9BDA6CC-1740-42F2-9A33-7300D307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641E74A-AFC8-419C-B54D-412DF612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规划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942BD5F-303B-4AA4-9E65-BF3177E1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目标拆解与约束解析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368DB8C-1FEC-4C10-BC63-9C0E0B3F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688C6C8-2591-4BED-90BA-EB40E571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07FF4B3-4898-43D5-9A6C-DA8E58B8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命令 · 文件 · 检索 · 技能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F8F7C41-9135-4689-B6C5-721E6425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2AA5259-3685-44E2-AF10-E24BA483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A1AE21E-6D51-4C92-9C64-5A2ED5A0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代码 · 文档 · 图表 · 差异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73B4496-DF3F-417C-B2BC-425C2B81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46888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788FBB6-A07F-40A8-BDE3-0A77716D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962656"/>
            <a:ext cx="0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ADEC171-5D67-4AAB-90FF-683C7082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11880" y="448056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1250ECD-C01B-42AC-BA0F-B13D9113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3035808"/>
            <a:ext cx="0" cy="896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ADA9602-6495-4141-AC48-F5A4646A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3145536"/>
            <a:ext cx="3822192" cy="64008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AFC141B-DCBD-498A-9A49-769CF94D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3255264"/>
            <a:ext cx="3383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验证门：结果一致性 · 文件存在性 · 测试与运行证据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EE5C930-5114-4AD6-B539-A93ABF45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94760" cy="4462272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3DE15DE-4EF0-4DDC-905F-3A9B7BCB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920240"/>
            <a:ext cx="31821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系统级 AI 应用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8359DDF-AA4E-433D-BA06-738C834A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E512C1F-4316-4C0D-AFE9-CA7C53CE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603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多轮上下文与自动压缩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A63CDA36-AF5A-446E-BA0A-1AC5D8EB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C9B5847-64C8-4035-AB23-4A2F143E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6324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基于事件流的工具执行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DE03188E-7184-41CF-93CA-8CA4BD65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B46B0C7-B8D7-45D9-B933-85E67F5C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6616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项目级权限与工作区边界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7DC370C-F75D-4642-9835-E8458222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20624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641903A-053A-495E-A0C7-18E4C2EC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产物生成后的验证与摘要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1D23CD83-3656-47D1-A90D-7706399D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EC795937-5B84-4DB9-AD79-1DD47640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长期记忆与能力复用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FF7625EB-0FCD-4CD6-BBC2-B3276062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120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D4946830-9DEE-42A5-B687-922C0A46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可选的签名与发布溯源方向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EB7CD08A-A8F0-4C4F-A6D8-4D292784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AI 的价值通过任务闭环证明；生态溯源作为未来方向，不包装为当前能力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2386B687-73F7-4719-8348-FFBB2E0F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9746783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3B38DF9-4B46-41C0-9173-99432775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WORK EVIDENCE CHAIN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CA16E27-3895-46F6-88D7-239586ED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交付闭环：从输入到验收，每一步都有工程证据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3F42037-2039-41C6-890A-6505645D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DBC2582-18DA-44C8-982F-3FC72899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综合证据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B0D2EAB-F833-4E7D-A112-F5170BC4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DCF1FC-DF0B-4D36-A09C-52D00E28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029968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6D0758E-26D5-495F-9CF4-C34E549C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18470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交付阶段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76F2B86-F1F4-4D12-A5C8-3874F54D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336" y="1664208"/>
            <a:ext cx="292608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C89AA93-E315-43EF-905C-FC0DF569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776" y="1755648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B240DD1-51DA-4C72-BC20-FDFE4C2F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64208"/>
            <a:ext cx="274320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A4C82E2-8DEF-48A9-9EEA-213B849C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55648"/>
            <a:ext cx="2560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系统机制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FF43E76-6FA6-4012-B437-6FC427E2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664208"/>
            <a:ext cx="3072384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94AFBD3-ECBF-4514-BAFC-47574B56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1755648"/>
            <a:ext cx="28895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可验证证据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A9F2BE7-5BE2-4ED0-B51E-DCD8BDA9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0428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1FB6C1E-13E1-4B00-BB0B-2336E761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配置进入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472D6AF-A242-477D-B77A-AF353621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39572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完成服务与模型就绪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4034E70-D870-40AC-AA50-D18CA0E8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39572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凭据隔离 · 探测 · 能力发现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1785C18-37F7-4F11-9B20-8177BC4E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9572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连接与模型发现测试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9CCD220-E4FC-4060-9527-CEEDD6B8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9504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B786C74-3B73-4B45-9805-E593EF93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80944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任务执行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1026A15-3B69-4ABA-A5A5-C89491E5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980944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项目内发起并持续看见推进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FB23902-F0A5-409C-A566-BBC36EE2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980944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Runtime Host · SSE 归一化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9850A46-CA8A-4E3A-A69F-044E74A3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80944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适配器与流式事件测试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96D920E-D258-4ABF-A752-7AB84B89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74720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9539A45-1DDD-458F-BC32-8E9D47AF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上下文经济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2378AB-ECDC-4974-A75B-D92C3ECD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566160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请求预算与摘要边界可配置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11362ECB-E8A8-4DB8-A4E3-39BD46A6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66160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历史卫生 · 压缩配置契约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086BD01-17FB-474A-87BD-C0D0C560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3566160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默认值与输入边界测试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154FDFF-E55D-4948-B671-FD0249A9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59936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F3BF88D-A89E-4126-A889-BF346503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能力复用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31F5ACE-A608-4BBD-9742-607B8B35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151376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安装、映射与启用彼此分离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B9B1D77-7875-467C-848F-BC77B6F3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151376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EBAI 索引 · 安全门 · 项目 Hook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025A1503-C89E-47E2-93C7-CB4099C7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151376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映射与 Hook 安全测试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D4B439A7-6AA9-4C1A-86BE-56A14653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45152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E6FA698-88CB-4303-ADDC-87733265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36592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产物交付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1B6B361-0BDD-4973-9FFC-383AECC1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736592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回答、文件、差异与摘要分区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D5A592B-6BEB-43B5-A94A-54834B40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73659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结果区与项目文件联动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145DE60D-6D35-45C0-A8A3-4B0B45D2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736592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文件存在性与差异证据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C0E54DB2-DD47-4344-953F-3A192DED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75069815-8FF9-4A10-91EB-7C3FFCAB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2180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工程验收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59868940-F8E5-4419-8C24-8B6F4E75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32180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从代码验证到桌面包体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9D184F3-6D0B-4B6A-ABCB-C603FF84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532180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类型检查 · 测试 · 构建 · 打包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29B208AA-6BC3-46DF-ACD3-AE5E6575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32180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自动化测试与运行 smoke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3BE04097-F0CF-4465-B780-E20FF93F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61888"/>
            <a:ext cx="1016812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38D4D43A-11B3-49B4-B921-8FA20CC7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6007608"/>
            <a:ext cx="97657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上手、执行、上下文、安全、交付、验收——每个价值点都能回到实现与现场证据。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2531DD8-7A14-43B5-9570-CDDAA79D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证据来源：BAI Work 当前代码 · 自动化测试 · 构建与运行结果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F804B758-D26F-4C42-A96C-39B2194B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129871625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54FA68C-0C5A-4AA1-AC7F-25FCDF58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ENGINEERING PROOF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FCD9E07-22D9-412A-95F6-DA332A86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工程证据：不是原型截图，而是可构建的软件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CAA024-486B-4409-B237-EF0B99E8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C680136-BEEA-4C88-A3A2-6759CF1D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交付验证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A5CEA11-8F76-4C06-8797-80338923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D7A6964-2038-4354-8F7B-99F9250E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03460C4-3606-41E4-8714-69B93D86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8E005B-F2B8-4DD5-B0EC-416C2286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桌面平台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6283D4F-3F91-40B0-B354-118815D4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 Intel / Apple Silicon / Windows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5F551CF-7696-49A4-A8B7-C31B3D3A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099B53-D837-4099-82AC-6374244F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FBC98A7-CEA7-4BDB-895A-8EB9124A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EB2C694-D173-47D2-98B5-8444FE5A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覆盖 main、runtime、renderer 与服务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AC2EF66-0E97-4D86-8218-73632D98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896A19D-F243-436A-BD51-BF02BC7B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1,144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9C6BE8A-4223-46A6-A91B-D2416F2F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自动化测试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FEFC446-13BF-43D3-84CC-A5F4ABE3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完整测试基线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0467FD2-D826-43D1-A371-FC8F42D5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798D4CB-93D5-443E-8DBF-2B54E8D6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0.9.1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EA4D5CD-B116-4904-95EF-147DF3FF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Code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8DD23BF-3A95-4040-B4C6-A55633AB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 Intel packaged runtime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64ABA3D-4CCE-4310-945D-906748D4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75888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C10516E3-FAA3-46B5-98A3-AEEA9520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58184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macOS Intel x64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622F56B-AD88-4844-92BB-1BBB5A56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30752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自包含 Python 3.11 + BAI Code runtime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08EEA62-6253-4207-AD09-7B8242C1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767328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649A419-E466-468A-8B1E-9EA082B1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3776472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本机构建与运行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C825B0E-ABE1-46A2-AA51-09BECE6A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370832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5589954-C5BC-4005-AB2D-BA3B8639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53128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macOS arm64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5D15281-D5A9-440F-AF54-756C777E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425696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官方运行时 wheelhouse + 用户目录环境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0D675B5-4A8E-4507-94FF-C64BE17C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F7D8B12-A7A1-4728-89EB-1AD92164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4471416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原生构建与 smoke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8E6F0D0C-C841-4E1B-B850-6E0D8CA0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65776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4845527-E5CE-4B9A-9507-CA70F5A7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48072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Windows 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9504861-708A-489F-8095-923DC87F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120640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官方 win_amd64 wheelhouse + 安装包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6CF45D2C-7E3E-4B96-9EE2-3E70FC40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5157216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73C58330-11E2-463C-809F-65CA01BD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5166360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原生构建与 smoke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0514306-4243-4BE1-A81C-66B1576C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863072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517B3740-12D0-43FD-AE48-6B3DB907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43600"/>
            <a:ext cx="10378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验证链：typecheck → lint → unit tests → production build → desktop package → packaged runtime smoke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FC883D14-DA5F-4DFD-8D69-2C418780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当前主版本：Mac Intel x86_64；其余平台保持同源实现与原生验证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16DE99D5-55A2-4FDB-AB3B-3DFC1DFE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20894569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55464F-580B-408F-88FC-477CDB18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TARGET USERS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46CF9BB-2E26-426F-9CC9-F72169C6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目标用户：先占领高频、长链路的项目工作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02675A8-BC2C-482C-A3DE-7C632EF4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DFCE02D-5287-4EF4-A3DC-B9CCC307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市场切入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0B4F96B-54D9-4F43-9773-241A1FD7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9BE9404-4818-4A47-B53E-CA50E421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1454E42-A75E-4782-ACAA-72379A96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A718EB4-3C4D-4727-B8B1-4ACF522B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个人开发者 / 研究者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70B8E88-33C3-43EE-A05F-A23BD2C3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80F8224-3953-4940-89EC-8E24781E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本地项目任务长、文件多、上下文重复传递。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4DFA1CD-1471-4F7D-8871-8F836304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3C0CE9B-AD69-4F61-95AB-0E7C73B2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从问题到代码、文档和图表的一站式交付。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9BCFD81-EB7A-4F57-AF86-345EF3F4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621D904-A531-4C33-80D1-92ADAC0C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B19F7E5-FEED-45CA-9FA9-5B9282AB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小型研发团队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D479597-8A26-4A1C-B0A5-DB1E26D8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840B29E-0653-40FE-88EA-C7880AF6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流程难复用，Agent 行为和权限口径难统一。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2F6911F-B2A3-48FD-99B4-D7E91BF1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FDDBE91-52EC-4E6D-A9A9-98DFEC36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共享技能、规则、服务配置与审阅标准。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302B001-E2AA-46F7-A7BA-9FD01F98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0A04F4A-DBD3-4D86-8FF7-FFBA7509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542F403-2A47-494E-8310-6067F970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生态用户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AED4351-F5C0-4EDB-AC3F-7B5300F1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2DE3AB3-6115-45F2-82F9-5A173468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底层执行能力缺少持续桌面入口与产物工作面。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8BE639B-0842-4B7B-B855-944055F0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39BBC7E-30D7-4642-ADE2-3E8A2CEB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模型、运行时与生态能力进入日常项目流程。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EDCFEDE-526C-497A-A728-2336AFD9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10332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首批验证不追求覆盖所有 AI 用户，而聚焦已有本地项目、愿意把完整任务交给 Agent 的用户。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723BC1C-A154-4590-B074-8979D9F3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市场判断基于 Jobs-to-be-Done；不使用未经验证的市场规模数字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0551CFE-DEFB-442C-A0E3-75268106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100035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8252173-6AE7-4F34-8ACF-8DE66C4A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CONTROLLED SUBSIDY ACQUISITION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ADD2E6B-01F4-409C-9C8F-5A18779A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商业推广：受控补贴驱动首批高质量激活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2C0855D-75F6-423B-BBAB-4F4AF917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0569FA-F51D-4B81-B3B3-C9985718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商业增长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AFB1CE9-F9DF-449A-A328-8A54BE27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D3FB76E-A91A-4065-80B1-0EC94300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24358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6B581C0-5031-46B1-958B-22D9D6B9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建议实验方案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47E6F5C-7CCC-4804-87AD-C1ECE9F3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4AC862C-25CA-4E4E-901B-E719FD87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限量 Cohort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71D6A7-C9E0-452D-8427-52D4AB1D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首批限量名额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按批次开放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B247FDB-A210-451F-9DD6-E2D756E9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826EDC5-974D-4174-B46C-B4FEE94C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半价折扣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BAB542C-4F62-4DDD-875A-996DADC2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模型使用费用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提供 50% 优惠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D3A6BA3-1F6C-45DD-8F51-1C1FDE54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44F0DC2-F9B2-4B0A-B995-BD1E4AEC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额度封顶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4A84413-714B-4DE5-8337-7BC2F6BA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单账户月度上限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控制补贴敞口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3B7C617-DE95-4FEB-A32E-9A15E350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9CD0B3C-B926-4CFD-BE37-E58790BB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限时验证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D38FAEA-DEBA-4B09-8C1B-9433BF5E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持续 8–12 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到期自动复核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A7701BE4-D0CE-4724-AA79-036ABB74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86200"/>
            <a:ext cx="6583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400A2D3-1FE3-418C-A02B-CEC0F0CD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Activation-Gated Subsidy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C2328B2-082B-44BF-9842-9A3D7247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788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38AC704-E04E-4BAD-B8BC-0FB1476A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1648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绑定有效 API Key 并完成首个项目任务后激活优惠。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E74E3EE-5860-4D0F-8D57-EAF33D9A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720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E387861-FB90-4899-9F9E-AAA44948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4840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按账户、设备与异常使用信号控制重复领取。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09DC44F5-FB9F-4589-9FCD-3A22CEAC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6519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60D9A92-74CB-4D8D-A20F-BBFB7E22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28032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补贴只覆盖真实使用量，未使用额度不沉淀、不转售。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F4E53DE-DD2C-4EB6-BDA2-25F70843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397764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FACB1E5-E55D-4C24-A06F-C0BBB64E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133088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单位经济门槛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397A7AE-AD03-468A-A0A6-FAEA0557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572000"/>
            <a:ext cx="3383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Subsidy CAC ≤ Cohort LTV ×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目标回收系数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F50A44F0-0CB3-4C33-A385-CF6321EA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1A2887D-1707-41F3-A671-467641E9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API Key 绑定率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BD41F08B-A620-4530-BDB8-CBB719B3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C887B62-8EA6-4FB8-A56D-27F0C4C7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首任务完成率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3AF65EE1-4BE8-4B80-A001-C3BD4BC5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61C00C1-60F6-4C95-B660-0CE92AFA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D7 活跃项目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6C8CE71F-8C27-4B91-916F-E5BEFD61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DF72045-A5D1-4F2F-9921-188A5B9B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付费转化率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B05717E5-EA3D-4361-A53B-37FA6DA1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D1DEAB8-D325-4207-8D4B-EAAA1CA4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补贴效率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9DD1DD7-DE04-46F7-9423-FD033CDE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商业方案为待验证实验；额度、周期和风控阈值需按 Cohort 数据迭代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9575792-F152-4031-972C-D1CC3B1E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90590265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6ADD80F-9AB4-43E1-B3C2-74818275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ROADMAP &amp; LIVE DEMO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96CB77B-24FE-47D2-8C4D-5C5174F4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周推进：先稳定发布，再验证增长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496745D-04C1-49DE-BFE2-5BF73AB6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1BB874E-1F68-46C4-BE69-767552B3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AE68CA2-FFE7-458C-B8C1-536D83DA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8AF787F-B6EB-447B-B3B1-C0C67038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8927C8A-080D-4757-B852-54ED40DA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EF0F6C5-E365-43D6-AFAE-DCBEC50E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17981D1-9823-4682-A983-40880502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稳定基线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EBEA5F8-C1F8-414F-8008-8E8F8292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Mac Intel 主版本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Token Economy / EBAI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当前自动化验证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6A261EF-28D4-4117-BE56-1B9BB5F4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4D7A6F1-0426-4A00-AFCD-36AE170F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6CBB5BC-3766-46D0-B7B8-5D062113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CA3597-FE39-45C6-94FA-9CC3540C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W1–4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15E872C-7618-47B8-B983-645DCA83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发布级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759726B-055A-4E55-BA5D-74BAF3D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正式签名与公证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运行时契约对齐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崩溃与恢复遥测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3C1CF51-1D70-48CD-907E-78216F41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56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6D87DFE-A0F3-40EC-A083-AEC55821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8249B83-E269-4A22-8BC9-89751685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AF8AFD9-1136-4077-B538-57B5FD62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W5–8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B0376DA-C1A2-40C2-820C-F414965A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试点级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D451E61-E0CE-45D2-876D-3EFB60BF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 Cohort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30 秒上手漏斗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真实任务回归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0710786-611E-4616-8355-7739C51C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3B37204-1171-4C42-B08C-9ED2B26A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7D09CE2-0A23-4E04-A462-EB4231F9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996D0A3-EA4D-4AD0-B550-1CFAC1C9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W9–12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D59ABD9-BF17-4980-9A05-508B4F89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规模化判断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8C30E1A-DF71-4A06-989C-EA0EF020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留存与单位经济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团队策略复用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生态能力审核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903F9D8-6CBD-4F92-BB80-C23B1B13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26864"/>
            <a:ext cx="13716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3 分钟现场证明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76ECE420-413F-4561-B3C0-608E02D2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903D190-8925-431B-9ABC-B45688D9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00:00–00:30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4253C05-B258-4B84-8BC3-D2A09920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输入 API Key，拉取模型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E0042BFD-8B8C-4B5F-A47E-3A603983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0D2CEF6-333E-49BA-B070-1142B590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00:30–01:30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0C2819E-0367-4CC4-AC42-9475078A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发送项目任务，展示实时步骤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49DC1C73-7344-407D-9A00-1944001A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2E89FD44-1FAA-4983-903D-A2677B84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01:30–02:30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3CDAAF6-2ECD-40FD-9C21-45766179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打开产物、差异和验证结果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998D7A60-66BD-4AF8-85EA-C18F022C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D439EEF-52EC-4E91-8C4E-397D4D01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02:30–03:00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03EF00AB-16EF-45B5-B56E-244874AA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展示 EBAI 安全边界与构建证据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0B45193E-5705-4121-B49F-1EB408832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6053328"/>
            <a:ext cx="9646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每个阶段按行为指标验收，不以“新增多少功能”验收。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DC1F69C-6953-4C0A-93B5-64E883BB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路线图优先级：稳定发布 → 真实激活 → 留存与单位经济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F1B85F7F-FD79-4BA6-AD0A-08D5674B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6247480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ebf70ff9f646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31545"/>
            <a:ext cx="3566160" cy="930303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8EEFBFB-231C-4777-BF76-59941294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47088"/>
            <a:ext cx="47091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简单，不代表能力少。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98667E9-9A7B-4413-9196-F7A3558B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578608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而是把复杂度留在系统里。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0B9B4EA-9DBF-40EE-A358-FF5E2D907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566160"/>
            <a:ext cx="512064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CDD4DB"/>
                </a:solidFill>
                <a:latin typeface="PingFang SC"/>
                <a:ea typeface="PingFang SC"/>
                <a:cs typeface="PingFang SC"/>
              </a:rPr>
              <a:t>30 秒配置目标；过程可见；产物可验收。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CB863438-391E-4579-BBCD-75802E43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313226A-6C47-41B8-B185-5A5A94D5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2DFAE5B-84DD-4824-83F4-2CA6FB15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8321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轻量架构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90EAA53-191A-49BF-BA66-38AA4733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813816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 Runtime Host 与最短执行链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AA82C89F-A6B7-43AC-A227-9751077A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A2F0C49-6E75-4C18-A7C3-DED4EE34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7B84BDB-21A4-4E81-8654-92C8AF82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1764792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Token Economy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1967DEF-A677-4750-A149-4E655603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746504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请求预算与上下文治理契约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4A803B4-DAE1-47C5-A583-8FB17D17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9C11F0EC-40C6-4C05-AA0D-92F91E86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5DA2FD2-9139-4790-91F3-D77CDF18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2697480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2286D03-FAAC-4F13-9171-09918880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79192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语义映射、来源追溯与项目级信任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3ACFD829-2477-444B-B06E-98DCB539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4B602EBF-4DC5-4FBA-A0EF-78273D4D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4C78A3E-B617-4B0B-AF2A-AB0EA391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630168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产品交付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DB63484F-5105-4843-A65A-82744954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11880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三平台路径、自动化测试与运行证据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E16F88B5-7B29-4E07-9FF3-18BA0609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1B1E55F-0710-450B-AFD5-28F4AEB1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7F85C4-7393-4562-980F-3602D0F7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4562856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商业增长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61539B04-0071-4660-A3BA-506FE78C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544568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限量半价、额度封顶与 Cohort 验证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A57E35C5-CFA6-492F-A83B-11A5FC2A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50468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A0242197-138E-4D59-B3CB-96D7CBA0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41848"/>
            <a:ext cx="55321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下一步：稳定签名发布 · 首批用户验证 · 项目级生态扩展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8EC86760-D388-4405-ABC7-F6F67156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4476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8FD4CF"/>
                </a:solidFill>
                <a:latin typeface="Aptos"/>
                <a:ea typeface="Aptos"/>
                <a:cs typeface="Aptos"/>
              </a:rPr>
              <a:t>github.com/2830500285/BAI-Work</a:t>
            </a:r>
          </a:p>
        </p:txBody>
      </p:sp>
    </p:spTree>
    <p:extLst>
      <p:ext uri="{BB962C8B-B14F-4D97-AF65-F5344CB8AC3E}">
        <p14:creationId xmlns:p14="http://schemas.microsoft.com/office/powerpoint/2010/main" val="12153289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2026-07-22T03:55:00.4890000Z</dcterms:created>
  <dcterms:modified xsi:type="dcterms:W3CDTF">2026-07-22T03:55:00.4890000Z</dcterms:modified>
</coreProperties>
</file>