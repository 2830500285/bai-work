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31c6d06b4540e3" /><Relationship Type="http://schemas.openxmlformats.org/officeDocument/2006/relationships/extended-properties" Target="/docProps/app.xml" Id="Re4f1c2209c6641f0" /><Relationship Type="http://schemas.openxmlformats.org/officeDocument/2006/relationships/officeDocument" Target="/ppt/presentation.xml" Id="Rf994164de89d43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4d6d5fe28c47f9"/>
  </p:sldMasterIdLst>
  <p:notesMasterIdLst>
    <p:notesMasterId xmlns:r="http://schemas.openxmlformats.org/officeDocument/2006/relationships" r:id="R607af0627e3f4424"/>
  </p:notesMasterIdLst>
  <p:sldIdLst>
    <p:sldId xmlns:r="http://schemas.openxmlformats.org/officeDocument/2006/relationships" id="256" r:id="R52a8a2272c4e429b"/>
    <p:sldId xmlns:r="http://schemas.openxmlformats.org/officeDocument/2006/relationships" id="257" r:id="Rf38a0b9c18194b22"/>
    <p:sldId xmlns:r="http://schemas.openxmlformats.org/officeDocument/2006/relationships" id="258" r:id="Rba9fc5c4b9274d04"/>
    <p:sldId xmlns:r="http://schemas.openxmlformats.org/officeDocument/2006/relationships" id="259" r:id="R4201f9851e394e28"/>
    <p:sldId xmlns:r="http://schemas.openxmlformats.org/officeDocument/2006/relationships" id="260" r:id="R390a45b19f8f417a"/>
    <p:sldId xmlns:r="http://schemas.openxmlformats.org/officeDocument/2006/relationships" id="261" r:id="R0ba0a68307ad4470"/>
    <p:sldId xmlns:r="http://schemas.openxmlformats.org/officeDocument/2006/relationships" id="262" r:id="Re02a334dd0484359"/>
    <p:sldId xmlns:r="http://schemas.openxmlformats.org/officeDocument/2006/relationships" id="263" r:id="Rcb0ce5ea0d4b4ca6"/>
    <p:sldId xmlns:r="http://schemas.openxmlformats.org/officeDocument/2006/relationships" id="264" r:id="R992feba1bde4476e"/>
    <p:sldId xmlns:r="http://schemas.openxmlformats.org/officeDocument/2006/relationships" id="265" r:id="R3b0153cf0b0b4293"/>
    <p:sldId xmlns:r="http://schemas.openxmlformats.org/officeDocument/2006/relationships" id="266" r:id="R28fe7fd85ef448d4"/>
    <p:sldId xmlns:r="http://schemas.openxmlformats.org/officeDocument/2006/relationships" id="267" r:id="R387f2ff7ff434cd9"/>
    <p:sldId xmlns:r="http://schemas.openxmlformats.org/officeDocument/2006/relationships" id="268" r:id="Ra220fa52f9744ad6"/>
    <p:sldId xmlns:r="http://schemas.openxmlformats.org/officeDocument/2006/relationships" id="269" r:id="R2eb1cf548c7846f4"/>
    <p:sldId xmlns:r="http://schemas.openxmlformats.org/officeDocument/2006/relationships" id="270" r:id="Rd62d80c101d244b3"/>
    <p:sldId xmlns:r="http://schemas.openxmlformats.org/officeDocument/2006/relationships" id="271" r:id="R4ea9c88e5dc24b59"/>
    <p:sldId xmlns:r="http://schemas.openxmlformats.org/officeDocument/2006/relationships" id="272" r:id="Rb74ffbac44124d92"/>
    <p:sldId xmlns:r="http://schemas.openxmlformats.org/officeDocument/2006/relationships" id="273" r:id="R5e6b7a26e8c54bd0"/>
    <p:sldId xmlns:r="http://schemas.openxmlformats.org/officeDocument/2006/relationships" id="274" r:id="R9130338963914120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45f03ccca04e25" /><Relationship Type="http://schemas.openxmlformats.org/officeDocument/2006/relationships/slideMaster" Target="/ppt/slideMasters/slideMaster1.xml" Id="Rfc4d6d5fe28c47f9" /><Relationship Type="http://schemas.openxmlformats.org/officeDocument/2006/relationships/notesMaster" Target="/ppt/notesMasters/notesMaster1.xml" Id="R607af0627e3f4424" /><Relationship Type="http://schemas.openxmlformats.org/officeDocument/2006/relationships/presProps" Target="/ppt/presProps.xml" Id="Rf550a5c6391545f1" /><Relationship Type="http://schemas.openxmlformats.org/officeDocument/2006/relationships/viewProps" Target="/ppt/viewProps.xml" Id="R979df34e2a4d48c6" /><Relationship Type="http://schemas.openxmlformats.org/officeDocument/2006/relationships/tableStyles" Target="/ppt/tableStyles.xml" Id="R37e79cce02504b1e" /><Relationship Type="http://schemas.openxmlformats.org/officeDocument/2006/relationships/slide" Target="/ppt/slides/slide1.xml" Id="R52a8a2272c4e429b" /><Relationship Type="http://schemas.openxmlformats.org/officeDocument/2006/relationships/slide" Target="/ppt/slides/slide2.xml" Id="Rf38a0b9c18194b22" /><Relationship Type="http://schemas.openxmlformats.org/officeDocument/2006/relationships/slide" Target="/ppt/slides/slide3.xml" Id="Rba9fc5c4b9274d04" /><Relationship Type="http://schemas.openxmlformats.org/officeDocument/2006/relationships/slide" Target="/ppt/slides/slide4.xml" Id="R4201f9851e394e28" /><Relationship Type="http://schemas.openxmlformats.org/officeDocument/2006/relationships/slide" Target="/ppt/slides/slide5.xml" Id="R390a45b19f8f417a" /><Relationship Type="http://schemas.openxmlformats.org/officeDocument/2006/relationships/slide" Target="/ppt/slides/slide6.xml" Id="R0ba0a68307ad4470" /><Relationship Type="http://schemas.openxmlformats.org/officeDocument/2006/relationships/slide" Target="/ppt/slides/slide7.xml" Id="Re02a334dd0484359" /><Relationship Type="http://schemas.openxmlformats.org/officeDocument/2006/relationships/slide" Target="/ppt/slides/slide8.xml" Id="Rcb0ce5ea0d4b4ca6" /><Relationship Type="http://schemas.openxmlformats.org/officeDocument/2006/relationships/slide" Target="/ppt/slides/slide9.xml" Id="R992feba1bde4476e" /><Relationship Type="http://schemas.openxmlformats.org/officeDocument/2006/relationships/slide" Target="/ppt/slides/slide10.xml" Id="R3b0153cf0b0b4293" /><Relationship Type="http://schemas.openxmlformats.org/officeDocument/2006/relationships/slide" Target="/ppt/slides/slide11.xml" Id="R28fe7fd85ef448d4" /><Relationship Type="http://schemas.openxmlformats.org/officeDocument/2006/relationships/slide" Target="/ppt/slides/slide12.xml" Id="R387f2ff7ff434cd9" /><Relationship Type="http://schemas.openxmlformats.org/officeDocument/2006/relationships/slide" Target="/ppt/slides/slide13.xml" Id="Ra220fa52f9744ad6" /><Relationship Type="http://schemas.openxmlformats.org/officeDocument/2006/relationships/slide" Target="/ppt/slides/slide14.xml" Id="R2eb1cf548c7846f4" /><Relationship Type="http://schemas.openxmlformats.org/officeDocument/2006/relationships/slide" Target="/ppt/slides/slide15.xml" Id="Rd62d80c101d244b3" /><Relationship Type="http://schemas.openxmlformats.org/officeDocument/2006/relationships/slide" Target="/ppt/slides/slide16.xml" Id="R4ea9c88e5dc24b59" /><Relationship Type="http://schemas.openxmlformats.org/officeDocument/2006/relationships/slide" Target="/ppt/slides/slide17.xml" Id="Rb74ffbac44124d92" /><Relationship Type="http://schemas.openxmlformats.org/officeDocument/2006/relationships/slide" Target="/ppt/slides/slide18.xml" Id="R5e6b7a26e8c54bd0" /><Relationship Type="http://schemas.openxmlformats.org/officeDocument/2006/relationships/slide" Target="/ppt/slides/slide19.xml" Id="R91303389639141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234cebff9448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0f0c9a80bc4e5d" /><Relationship Type="http://schemas.openxmlformats.org/officeDocument/2006/relationships/notesMaster" Target="/ppt/notesMasters/notesMaster1.xml" Id="Re1886a66cd6b47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9b7f3e4cde42ad" /><Relationship Type="http://schemas.openxmlformats.org/officeDocument/2006/relationships/notesMaster" Target="/ppt/notesMasters/notesMaster1.xml" Id="R2156b5c3dcdd41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ceea71a0f3407e" /><Relationship Type="http://schemas.openxmlformats.org/officeDocument/2006/relationships/notesMaster" Target="/ppt/notesMasters/notesMaster1.xml" Id="R606c3499fa9a4b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7f52bfa9784174" /><Relationship Type="http://schemas.openxmlformats.org/officeDocument/2006/relationships/notesMaster" Target="/ppt/notesMasters/notesMaster1.xml" Id="Rd3ed2d6bdd3148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80a9aa0a0342d7" /><Relationship Type="http://schemas.openxmlformats.org/officeDocument/2006/relationships/notesMaster" Target="/ppt/notesMasters/notesMaster1.xml" Id="R39640e6f30e14e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b38ec2619541e6" /><Relationship Type="http://schemas.openxmlformats.org/officeDocument/2006/relationships/notesMaster" Target="/ppt/notesMasters/notesMaster1.xml" Id="Reff815f27cb644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17bda361bc42eb" /><Relationship Type="http://schemas.openxmlformats.org/officeDocument/2006/relationships/notesMaster" Target="/ppt/notesMasters/notesMaster1.xml" Id="R34f172e40e234a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dcb989573d4a63" /><Relationship Type="http://schemas.openxmlformats.org/officeDocument/2006/relationships/notesMaster" Target="/ppt/notesMasters/notesMaster1.xml" Id="R05cca528909f4f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093c6c29974464" /><Relationship Type="http://schemas.openxmlformats.org/officeDocument/2006/relationships/notesMaster" Target="/ppt/notesMasters/notesMaster1.xml" Id="Ra979997fdd8d4b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14e0884f3b4aaf" /><Relationship Type="http://schemas.openxmlformats.org/officeDocument/2006/relationships/notesMaster" Target="/ppt/notesMasters/notesMaster1.xml" Id="R819635e06f6748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72be5e7a3dd42ea" /><Relationship Type="http://schemas.openxmlformats.org/officeDocument/2006/relationships/notesMaster" Target="/ppt/notesMasters/notesMaster1.xml" Id="R4593664cd78d4f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e05704a0314586" /><Relationship Type="http://schemas.openxmlformats.org/officeDocument/2006/relationships/notesMaster" Target="/ppt/notesMasters/notesMaster1.xml" Id="R2f107eba8470420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653f575ed446c0" /><Relationship Type="http://schemas.openxmlformats.org/officeDocument/2006/relationships/notesMaster" Target="/ppt/notesMasters/notesMaster1.xml" Id="R43de4c577e544c1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09fee30404441ba" /><Relationship Type="http://schemas.openxmlformats.org/officeDocument/2006/relationships/notesMaster" Target="/ppt/notesMasters/notesMaster1.xml" Id="R7f8de81a286743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1feee2665f84526" /><Relationship Type="http://schemas.openxmlformats.org/officeDocument/2006/relationships/notesMaster" Target="/ppt/notesMasters/notesMaster1.xml" Id="R29d282efdde64d7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e5cf6ddfed84e50" /><Relationship Type="http://schemas.openxmlformats.org/officeDocument/2006/relationships/notesMaster" Target="/ppt/notesMasters/notesMaster1.xml" Id="R5e770b06e71143a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e75df0f717a4efd" /><Relationship Type="http://schemas.openxmlformats.org/officeDocument/2006/relationships/notesMaster" Target="/ppt/notesMasters/notesMaster1.xml" Id="R169f957b87af402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02a9bc4219a41ee" /><Relationship Type="http://schemas.openxmlformats.org/officeDocument/2006/relationships/notesMaster" Target="/ppt/notesMasters/notesMaster1.xml" Id="Re8e41932b1b242c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6863b4953244e20" /><Relationship Type="http://schemas.openxmlformats.org/officeDocument/2006/relationships/notesMaster" Target="/ppt/notesMasters/notesMaster1.xml" Id="R3d9fdeaf563047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秒演示目标（建议 45 秒）</a:t>
            </a:r>
          </a:p>
          <a:p xmlns:a="http://schemas.openxmlformats.org/drawingml/2006/main">
            <a:r>
              <a:t>用户只需提供 API Key，主进程完成服务探测、模型拉取、能力分类和保存。</a:t>
            </a:r>
          </a:p>
          <a:p xmlns:a="http://schemas.openxmlformats.org/drawingml/2006/main">
            <a:r>
              <a:t>技术上使用凭据隔离、端点规范化、能力感知发现与幂等集合合并。</a:t>
            </a:r>
          </a:p>
          <a:p xmlns:a="http://schemas.openxmlformats.org/drawingml/2006/main">
            <a:r>
              <a:t>30 秒是顺畅网络下的现场演示目标，不作为固定网络 SLA。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产品完成度（建议 40 秒）</a:t>
            </a:r>
          </a:p>
          <a:p xmlns:a="http://schemas.openxmlformats.org/drawingml/2006/main">
            <a:r>
              <a:t>完成度从用户生命周期衡量：配置、执行、观察、审阅、沉淀都在一个工作面完成。</a:t>
            </a:r>
          </a:p>
          <a:p xmlns:a="http://schemas.openxmlformats.org/drawingml/2006/main">
            <a:r>
              <a:t>三平台目标和稳定本地服务边界证明它不是一次性原型。</a:t>
            </a:r>
          </a:p>
          <a:p xmlns:a="http://schemas.openxmlformats.org/drawingml/2006/main">
            <a:r>
              <a:t>EBAI 的 Commands、Agents、Skills、Rules 和 Hooks 是 BAI Work 面向用户的产品能力；来源与安装不定义它的产品身份。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项目级 Runtime Host 数据链（建议 55 秒）</a:t>
            </a:r>
          </a:p>
          <a:p xmlns:a="http://schemas.openxmlformats.org/drawingml/2006/main">
            <a:r>
              <a:t>这一页只解释 BAI Work 自身的架构选择：把桌面复杂度集中在 Runtime Host。</a:t>
            </a:r>
          </a:p>
          <a:p xmlns:a="http://schemas.openxmlformats.org/drawingml/2006/main">
            <a:r>
              <a:t>工作台只消费稳定事件，项目上下文、状态、权限和产物则始终围绕 workspace 收敛。</a:t>
            </a:r>
          </a:p>
          <a:p xmlns:a="http://schemas.openxmlformats.org/drawingml/2006/main">
            <a:r>
              <a:t>从输入到验收的每一段都有明确边界，因此长任务可以被观察、恢复和验证。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Economy 控制面（建议 50 秒）</a:t>
            </a:r>
          </a:p>
          <a:p xmlns:a="http://schemas.openxmlformats.org/drawingml/2006/main">
            <a:r>
              <a:t>这里展示的是当前代码中可复现的请求预算配置，不使用仓库里不存在的估算公式。</a:t>
            </a:r>
          </a:p>
          <a:p xmlns:a="http://schemas.openxmlformats.org/drawingml/2006/main">
            <a:r>
              <a:t>历史保护限制发送请求时的超长工具结果和参数，原始聊天记录保持不变。</a:t>
            </a:r>
          </a:p>
          <a:p xmlns:a="http://schemas.openxmlformats.org/drawingml/2006/main">
            <a:r>
              <a:t>当前适配层没有可用的节省遥测，因此界面明确显示不可用，不宣称节省百分比。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上下文治理契约（建议 55 秒）</a:t>
            </a:r>
          </a:p>
          <a:p xmlns:a="http://schemas.openxmlformats.org/drawingml/2006/main">
            <a:r>
              <a:t>第一层约束工具结果，第二层约束工具参数，第三层定义摘要阈值与资源预算。</a:t>
            </a:r>
          </a:p>
          <a:p xmlns:a="http://schemas.openxmlformats.org/drawingml/2006/main">
            <a:r>
              <a:t>这些默认值和输入上限都能从共享设置、IPC schema 与 normalizer 中复现。</a:t>
            </a:r>
          </a:p>
          <a:p xmlns:a="http://schemas.openxmlformats.org/drawingml/2006/main">
            <a:r>
              <a:t>我们把控制面和实际运行效果分开陈述；只有可用遥测才进入节省展示。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产品能力体系（建议 60 秒）</a:t>
            </a:r>
          </a:p>
          <a:p xmlns:a="http://schemas.openxmlformats.org/drawingml/2006/main">
            <a:r>
              <a:t>EBAI 的产品定义是 BAI Work 面向用户的能力体系；来源与安装只属于内部交付方式。</a:t>
            </a:r>
          </a:p>
          <a:p xmlns:a="http://schemas.openxmlformats.org/drawingml/2006/main">
            <a:r>
              <a:t>当前 Commands 和 Skills 可被运行时加载，Agents 以命令工作流接入，Rules 以 Skill 指令接入。</a:t>
            </a:r>
          </a:p>
          <a:p xmlns:a="http://schemas.openxmlformats.org/drawingml/2006/main">
            <a:r>
              <a:t>Hooks 当前仅生成默认关闭的 manifest；来源与安装是内部交付方式，不定义 EBAI 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Hook 安全（建议 50 秒）</a:t>
            </a:r>
          </a:p>
          <a:p xmlns:a="http://schemas.openxmlformats.org/drawingml/2006/main">
            <a:r>
              <a:t>Hook 已作为 EBAI 产品能力之一被建模，覆盖消息、会话和工具调用生命周期。</a:t>
            </a:r>
          </a:p>
          <a:p xmlns:a="http://schemas.openxmlformats.org/drawingml/2006/main">
            <a:r>
              <a:t>当前交付范围是生成默认关闭的 manifest，设置页开关禁用，BAI Code 0.9.1 也没有 Hook 执行契约。</a:t>
            </a:r>
          </a:p>
          <a:p xmlns:a="http://schemas.openxmlformats.org/drawingml/2006/main">
            <a:r>
              <a:t>因此答辩只宣称能力定义、配置边界与安全策略已实现，不把 Hook 冒充为已执行。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端到端工程证据链（建议 55 秒）</a:t>
            </a:r>
          </a:p>
          <a:p xmlns:a="http://schemas.openxmlformats.org/drawingml/2006/main">
            <a:r>
              <a:t>这一页把前半段技术点收束为评委可以直接判断的证据链。</a:t>
            </a:r>
          </a:p>
          <a:p xmlns:a="http://schemas.openxmlformats.org/drawingml/2006/main">
            <a:r>
              <a:t>从配置到工程验收，每个用户价值都对应明确的系统机制和验证入口。</a:t>
            </a:r>
          </a:p>
          <a:p xmlns:a="http://schemas.openxmlformats.org/drawingml/2006/main">
            <a:r>
              <a:t>BAI Work 的优势来自完整闭环，不需要依赖外部产品比较。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工程验证证据（建议 40 秒）
四个数字证明项目已有真实工程规模和自动化验证。
Mac Intel 是当前迭代主版本，其他平台保持同源构建和原生 smoke。
商业发布仍需正式签名和公证凭据，这一风险在路线图中明确。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目标用户（建议 35 秒）
首批用户是有真实本地项目、长任务和产物验收需求的个人与小团队。
BAI 生态用户获得的是持续桌面入口和项目交付工作面。
切入策略先验证高频留存与任务完成率，再扩展更广泛场景。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路线图与现场演示（建议 45 秒）
前四周解决发布级稳定性，第二阶段验证首批 Cohort，第三阶段再决定规模化。
现场演示严格控制三分钟，覆盖配置、过程、产物和安全边界。
每个阶段都用行为指标验收，而不是继续堆叠功能数量。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收束（建议 30 秒）</a:t>
            </a:r>
          </a:p>
          <a:p xmlns:a="http://schemas.openxmlformats.org/drawingml/2006/main">
            <a:r>
              <a:t>最后一句：简单不是删掉能力，而是把架构、配置和安全复杂度留在系统内部。</a:t>
            </a:r>
          </a:p>
          <a:p xmlns:a="http://schemas.openxmlformats.org/drawingml/2006/main">
            <a:r>
              <a:t>BAI Work 通过轻量架构、Token Economy、EBAI 和工程验证形成完整交付闭环。</a:t>
            </a:r>
          </a:p>
          <a:p xmlns:a="http://schemas.openxmlformats.org/drawingml/2006/main">
            <a:r>
              <a:t>下一步是稳定签名发布并用首批真实用户数据验证留存与单位经济。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6914d5a6c464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3545d3ad734dd7" /><Relationship Type="http://schemas.openxmlformats.org/officeDocument/2006/relationships/slideLayout" Target="/ppt/slideLayouts/slideLayout1.xml" Id="R03eef30da34f44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eef30da34f445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1c323f1ca4b83" /><Relationship Type="http://schemas.openxmlformats.org/officeDocument/2006/relationships/image" Target="/ppt/media/image.png" Id="R0041f6dfc1fc4269" /><Relationship Type="http://schemas.openxmlformats.org/officeDocument/2006/relationships/image" Target="/ppt/media/image2.png" Id="Rfcc2a7e737934c86" /><Relationship Type="http://schemas.openxmlformats.org/officeDocument/2006/relationships/notesSlide" Target="/ppt/notesSlides/notesSlide1.xml" Id="Rc6d049f31af84f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1bfad705f478f" /><Relationship Type="http://schemas.openxmlformats.org/officeDocument/2006/relationships/notesSlide" Target="/ppt/notesSlides/notesSlide2.xml" Id="Rea0e65a06dd94c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0f064ae504aae" /><Relationship Type="http://schemas.openxmlformats.org/officeDocument/2006/relationships/notesSlide" Target="/ppt/notesSlides/notesSlide3.xml" Id="Rbc1982f2706f44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60fb4e3744544" /><Relationship Type="http://schemas.openxmlformats.org/officeDocument/2006/relationships/image" Target="/ppt/media/image3.png" Id="R2cff80e557394d5f" /><Relationship Type="http://schemas.openxmlformats.org/officeDocument/2006/relationships/notesSlide" Target="/ppt/notesSlides/notesSlide4.xml" Id="Rdf5811e08c8248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5b8c673182498a" /><Relationship Type="http://schemas.openxmlformats.org/officeDocument/2006/relationships/notesSlide" Target="/ppt/notesSlides/notesSlide5.xml" Id="Re8304a0d36074d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ef949ac514cb8" /><Relationship Type="http://schemas.openxmlformats.org/officeDocument/2006/relationships/notesSlide" Target="/ppt/notesSlides/notesSlide6.xml" Id="Redb8a6810d1c45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8bc0056924f1a" /><Relationship Type="http://schemas.openxmlformats.org/officeDocument/2006/relationships/notesSlide" Target="/ppt/notesSlides/notesSlide7.xml" Id="Re666e28d840044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c8bef93804ae7" /><Relationship Type="http://schemas.openxmlformats.org/officeDocument/2006/relationships/notesSlide" Target="/ppt/notesSlides/notesSlide8.xml" Id="Re52b298f1a764e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c8eede8dd24751" /><Relationship Type="http://schemas.openxmlformats.org/officeDocument/2006/relationships/notesSlide" Target="/ppt/notesSlides/notesSlide9.xml" Id="R8ab323cb97064b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7a437f2cf469d" /><Relationship Type="http://schemas.openxmlformats.org/officeDocument/2006/relationships/notesSlide" Target="/ppt/notesSlides/notesSlide10.xml" Id="R76c9c93d862a46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c849706194f3f" /><Relationship Type="http://schemas.openxmlformats.org/officeDocument/2006/relationships/notesSlide" Target="/ppt/notesSlides/notesSlide11.xml" Id="R22625d27008b4f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1bfe7ae784193" /><Relationship Type="http://schemas.openxmlformats.org/officeDocument/2006/relationships/notesSlide" Target="/ppt/notesSlides/notesSlide12.xml" Id="Rdffd5f57a1cb46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4a65f1f104daa" /><Relationship Type="http://schemas.openxmlformats.org/officeDocument/2006/relationships/notesSlide" Target="/ppt/notesSlides/notesSlide13.xml" Id="R8ca6d68d40e645c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da2da528e4fbb" /><Relationship Type="http://schemas.openxmlformats.org/officeDocument/2006/relationships/notesSlide" Target="/ppt/notesSlides/notesSlide14.xml" Id="Rdbba7366e71840b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9827579d947e9" /><Relationship Type="http://schemas.openxmlformats.org/officeDocument/2006/relationships/notesSlide" Target="/ppt/notesSlides/notesSlide15.xml" Id="R7475686e4c0544d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dce0b5616414e" /><Relationship Type="http://schemas.openxmlformats.org/officeDocument/2006/relationships/notesSlide" Target="/ppt/notesSlides/notesSlide16.xml" Id="Rcf53009fa3104d1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dfa9ea278f4820" /><Relationship Type="http://schemas.openxmlformats.org/officeDocument/2006/relationships/notesSlide" Target="/ppt/notesSlides/notesSlide17.xml" Id="Rf76b2abc631d413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8604d951a4aa6" /><Relationship Type="http://schemas.openxmlformats.org/officeDocument/2006/relationships/notesSlide" Target="/ppt/notesSlides/notesSlide18.xml" Id="R764a2c2b28484db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ac0a756284e8e" /><Relationship Type="http://schemas.openxmlformats.org/officeDocument/2006/relationships/image" Target="/ppt/media/image4.png" Id="R004ac143f95c4859" /><Relationship Type="http://schemas.openxmlformats.org/officeDocument/2006/relationships/notesSlide" Target="/ppt/notesSlides/notesSlide19.xml" Id="Reb5b5ea007a841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B835E6B-DDEA-4910-9325-558BB267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0"/>
            <a:ext cx="5287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DC7D97-279D-4441-9BC8-A0C35FED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475488"/>
            <a:ext cx="4754880" cy="507492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1f6dfc1fc42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8896" y="1500759"/>
            <a:ext cx="4608576" cy="302437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484E7764-B5A7-433C-9C3F-C61AECFD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3678311"/>
            <a:ext cx="4608576" cy="8468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841CA46-02A9-4E1C-A520-F3C32018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973708"/>
            <a:ext cx="42428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148F293B-A20D-41FC-8E0A-415AB82C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650992"/>
            <a:ext cx="5287975" cy="1207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C4C7190-E5AB-4291-BA29-DB9170E0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7EC5C1"/>
                </a:solidFill>
                <a:latin typeface="Aptos"/>
                <a:ea typeface="Aptos"/>
                <a:cs typeface="Aptos"/>
              </a:rPr>
              <a:t>GENESIS HACKATHON</a:t>
            </a:r>
          </a:p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2a7e737934c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1084955"/>
            <a:ext cx="5212080" cy="1359673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1643A12-8218-414C-8FE5-59643581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51760"/>
            <a:ext cx="5715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项目级轻量 Agent 工作台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5FACD4C-9623-4BAA-BECC-18B8D385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64992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5CDD4"/>
                </a:solidFill>
                <a:latin typeface="PingFang SC"/>
                <a:ea typeface="PingFang SC"/>
                <a:cs typeface="PingFang SC"/>
              </a:rPr>
              <a:t>更短执行链 · 更小故障域 · 更清晰产物闭环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2AAC217-014C-499F-9FC1-8401F989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E4C1F2D-5608-4DB5-BE1B-4085698B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 秒路径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0D63D13-5A39-4F44-B222-8FA72E98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B2482F4-8E7D-4920-B979-B647C93E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单项目执行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EEB61189-EC06-463D-AE7F-A5F554D7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A772CBD1-07DD-41A7-9ACE-47D77458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Economy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582C792-A2B0-4C9B-869A-3E75CE66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F8F2DE04-E71C-40D4-B9B5-CD799D93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EBAI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4B3DB54-E7B1-419E-BEF8-1BDD3483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E8E3ED2-8AE8-4C15-9FA3-9D131418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三平台交付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3563FE3-6D16-43F5-9E52-0D2C5E55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99632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89939D"/>
                </a:solidFill>
                <a:latin typeface="PingFang SC"/>
                <a:ea typeface="PingFang SC"/>
                <a:cs typeface="PingFang SC"/>
              </a:rPr>
              <a:t>项目答辩 · 2026.07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015014C8-3EDB-44E4-8FAD-19826EBE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5925312"/>
            <a:ext cx="4251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API Key 到可验收产物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82609AE9-708A-44A6-8A7B-CF7668EE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6291072"/>
            <a:ext cx="4251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8D1D8"/>
                </a:solidFill>
                <a:latin typeface="Aptos"/>
                <a:ea typeface="Aptos"/>
                <a:cs typeface="Aptos"/>
              </a:rPr>
              <a:t>Mac Intel · Mac Apple Silicon · Windows x64</a:t>
            </a:r>
          </a:p>
        </p:txBody>
      </p:sp>
    </p:spTree>
    <p:extLst>
      <p:ext uri="{BB962C8B-B14F-4D97-AF65-F5344CB8AC3E}">
        <p14:creationId xmlns:p14="http://schemas.microsoft.com/office/powerpoint/2010/main" val="4934820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89D4DC-9B08-429F-8C11-251D9CF6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WHY BAI WORK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6B58548-0207-4EB2-8A3B-1502CEEF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为什么需要 BAI Work：项目任务要求“连续交付”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0DA6503-CC8B-4689-801C-0339D8C3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365CFD7-8E3D-4AC0-87D7-86633245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产品定义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FC55ECB-2115-41B1-B7B7-EF3F1DBC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9CFF0DF-2552-4720-835A-D1A5B74C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561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真实知识工作不是一次问答，而是上下文进入、工具执行、过程反馈、产物审阅与后续复用的连续系统。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D8971C6-BC68-4BA6-98DE-3802581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BF7CAFB-A73A-4E0F-AA34-7A33295F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A6727AD-F661-4518-9675-D1A51745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上下文割裂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78BEEEE-BBC9-47E3-9493-E81CE073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项目、文件、版本状态与会话历史分散，重复传递成本高。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356A156-189C-420D-A980-16D6B8FB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3706AB9-D82B-43BE-809E-15245377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60C8F22-4290-4278-9126-9DD3E1BA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过程不可观测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68B9C51-4A2A-46DC-80EC-ADBF649B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长任务只有等待或原始日志，难以判断当前状态和失败位置。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92EC62F-5C50-411C-967B-D93E53B5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810C3EE-51AF-464E-92AD-411D8AC0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5B0D86E-D816-40C7-9300-906EFD74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交付不可验收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7D1E658-4A8F-47C3-9429-5EC4159B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回答与工具过程混在一起，产物、差异和验证证据缺少结构。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6C671C0-2223-43A7-ADCA-FB1BF5FF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74920"/>
            <a:ext cx="10076688" cy="841248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BDFFCA0-0782-4F24-862E-2115920B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0368"/>
            <a:ext cx="9582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BAI Work = 项目上下文 + 本地执行 + 可观测状态机 + 可审阅产物 + 受信任能力层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76D7D1F-E8B1-43D4-8C41-EBC61005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产品原则：以任务到产物的闭环效率为主目标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F14EE74-FA3D-4855-9F76-5DED5CCD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15201118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9A00283-437F-4B4B-9FED-F6B8C259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THIRTY-SECOND ONBOARDING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68A04E-1C4F-4D8C-954B-23FDBAB0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30 秒演示目标：API Key 进入，模型能力自动就绪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7ACDCA1-76E5-4778-8EB6-5052721F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7D1C30-A7DB-475E-BEC4-1D4DC44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极简上手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0550F9-A202-47D9-892C-96349312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0D45702-B840-4545-806D-9AF72351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987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4D7623C-8D9A-45D4-9D34-D1FB0D01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3624"/>
            <a:ext cx="841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现场路径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06C22F2-49A6-41D0-88CE-89700A66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0C15CCF-5FC5-40AA-9B12-B4216F0D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F622949-261D-4E20-A865-639B6EA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 API Key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D2C1F51-CC99-4B56-AED7-BD6E5CE4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Main-Process Credential Isolation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4594A08F-21FD-4FBE-B373-794A882F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15A7800-1FA7-469B-8EA6-75A4F02A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BA391B4-3245-4C61-BB26-408B1324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1AD74ED-0107-4C6A-8F6C-D088C026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探测服务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CE1F8A6-C9B0-4677-AA5B-E0CBC509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Endpoint Canonicalization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1FDA53C-7BA3-44B5-8227-20032B7E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5A8BE4B-A3E8-4630-84BC-90CE85CB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21CB201-47E8-4DEC-878F-45CA6050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B3C939B-53EB-4E6E-81DF-AB6CE237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拉取模型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9E5913D-48BF-473C-A5DE-055175A2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GET /v1/models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5511782-FEAA-412D-9452-018C8F07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DF30195-4CC6-4070-9A4C-587ACF5D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D4B2C10-F7C1-44D1-A4E5-E3E3BEA6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3B86520-3C84-4FE7-8D6B-3F04EB63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能力分类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4DF0789-71A6-4B04-B780-C7917155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Capability-Aware Discovery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3ECF8AB-7B3F-400F-A838-B93B04D8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63741BE-F7A0-426F-9CCC-04FCA735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EAC824C-A110-499E-820B-2FE6AE34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09703CFB-1B8A-4A4C-8F0E-FF8646C5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保存并使用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811A692-9D0A-4AF4-938E-C10BB315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Idempotent Set Merge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BB5251B2-58AC-4F73-9D46-5AAC1EE9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67208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6A458E2B-A721-4F66-9813-74B23EB8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24528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实现机制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419FACC6-922A-47FA-97C2-FC9EAD5F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2976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B8CD169-0A9D-4ED8-A5E3-8FD4DB68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60520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凭据只在主进程中参与请求，避免渲染层暴露与跨域约束。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40618525-90AA-4D7B-A967-F179C1EC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274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57EDC65B-C142-4EE5-BA27-7533C19D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90288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统一规范化 Base URL，8 秒模型列表超时与 10 秒连通性探测。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8DF78A81-F38D-4324-83D0-CAF12353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15721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C647EF19-D42B-4FD5-955B-CD7A835A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20056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去重模型 ID，按文本对话能力过滤，并与已有配置幂等合并。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E20FF1A1-BB1F-4FA0-B7F5-0E38CB00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977640"/>
            <a:ext cx="388620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FE4A0E01-C247-4414-8CB4-099F8480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224528"/>
            <a:ext cx="32735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用户感知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43C54B6-EF69-4E52-9448-7244E777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617720"/>
            <a:ext cx="327355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无需编辑配置文件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无需手工录入模型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无需理解运行时参数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9C5C85B-F41C-4440-A06C-315B8B59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287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实际完成时间取决于网络与 API 可用性；30 秒是典型配置目标，不是网络 SLA。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B9E45CA3-C606-41C3-A23C-011B5738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实现证据：provider connection · model discovery · protocol URL normalization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9971A2AD-84F7-40B4-AFA4-A53295A5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11747486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C9CE5C0-E8A6-457E-9A71-17DEB816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DEMO STORY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14510B-77C0-4774-AB98-586451C4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现场演示：从一句任务到可验收产物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6C88044-B41D-4E62-B9DC-02502270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C2CB1C2-3D42-43B3-9F82-FB914E02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用户流程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363D235-57C9-4351-9A50-7A29F78F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B501747-16E0-4DE0-8640-CDB6A873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536192"/>
            <a:ext cx="6537960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ff80e55739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656" y="1670066"/>
            <a:ext cx="6391656" cy="4194524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DA0E2A96-8D1E-4B41-8C8B-F9D8B6CC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813030"/>
            <a:ext cx="6391656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9AC49A-7298-415D-A8E5-FE83B77C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10794"/>
            <a:ext cx="6025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648A192-1D4A-47D7-8A08-B60492EC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1627632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48AC2AD-898C-4CE2-BB59-73B75493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1636776"/>
            <a:ext cx="813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演示任务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A8315EB4-9E09-4026-80D4-A0E18BEA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011680"/>
            <a:ext cx="3977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“检查当前项目，持续展示推进过程，并交付可验证结果。”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C7CC785-9E7D-4642-A791-4E87100A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87BED1B-71F1-4314-8452-A4186820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B63DB1D-0A47-46BA-B5B1-25251764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8803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选择项目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3102F0B-BE35-41CD-9B7E-78F129E0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项目、文件与版本状态进入上下文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40AC6FC-FD01-4B39-A89A-8E3CD4F4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339AC7C-639B-4E2B-82D6-E440FD98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5F8B8B-49CC-4BE5-8137-592177D5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602736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启动执行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B6424B61-E244-4EDF-9BAE-F673B594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88620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规划、工具动作与等待状态持续可见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359261A4-039A-4A02-8691-7A34AD5D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FBF12414-480C-44FF-872C-703D29E1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BBA8681-1551-4F9C-8A40-360FAE6F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325112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审阅结果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4128545-A753-4AE9-8EAA-C766D0CB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608576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回答、产物、差异与验证证据分离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972D4801-5A9E-43F7-ACFC-4F6349B6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63E9CFB1-4D66-47E6-8B73-E707F623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5E81DD6C-70B2-426A-8A76-DD050CD8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047488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沉淀能力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D345F10-9A9F-4A48-AF16-6A45E68B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330952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规则、技能与记忆进入后续任务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FCAD8C1-3812-4BD2-918D-C639E0C1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现场演示使用当前 Mac Intel x86_64 构建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571657B-B5A4-4007-9FA0-0BA6DFCF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607831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CCCCBC0-07A1-4941-99EE-92C2733A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PRODUCT COMPLETENESS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85D9D70-3589-48E8-B59E-51F489E1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产品完成度：一个工作面覆盖完整任务生命周期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95BBC7A-7EC7-467D-862A-F0FACE3A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A7A6E06-68E0-4C64-A423-285F6F3A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D2EBE97-E7A4-4BF7-99D4-20BC1070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D4C4854-496B-4EE2-B9AB-413DC5CE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36BB429-C121-48B2-BEEF-001E508F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EE0A5CC-9AE0-41D7-B2D1-45ED7212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项目与会话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E461E0C-30CD-43AE-9C4D-B4300C58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Workspace、历史与版本上下文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29C9FB5-6A74-4C65-A2DE-9688969C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B66FA00-A5D3-44D2-A205-66D66CE5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24F68F6-C765-49FE-B84D-F7C37D16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模型与服务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DED0637-CAAF-40AD-8F54-A5C1F62A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BAI 默认与标准兼容协议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6DEDB90-4844-4740-BFA1-9CDFBF31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936236A-A4B0-4D6C-8DAB-96417927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04F8288-38FC-4DE6-97EF-0BB04C71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实时进度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4DF7B43-1953-4BD7-A562-67E5E4DC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步骤、工具摘要与错误恢复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A4C8D7B-08A5-44C4-8F12-EC884B06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7419836-A33E-4ABB-8AEF-34251D96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760A053-35A7-40DF-970D-1E987D48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文件与产物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526FDE3-878F-4FB3-B49D-83C577E0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引用、预览、差异与文档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BCDA704-DFC2-45DC-ABD6-9759CDC4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6F75107-8AD7-4AF7-BA29-39377688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D2B57CE-3255-4778-A2FD-9E354CD5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长期记忆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9F440C2-A6A3-4B27-B578-F9F30105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用户、工作区与项目作用域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970A545-7C1C-4EB2-AB80-7F7BFEC6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ECEF183-F22D-4083-9451-13251F34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EC3443-D9CC-4E33-B78B-35514495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35EBADC-D809-4FC0-9669-6D66A7C3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EBAI 命令、技能、规则与自动化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94544119-A1F2-43BB-85AE-D89D334A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63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99B7ECA-6AAE-4015-9786-34EC2714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6EBCDFD-3196-447A-A4C4-33AC1B65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桌面目标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35F28C3-F640-4BE8-B3FC-2B992307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mac-x64 / mac-arm64 / win-x64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286D45E-A0F2-4CA7-98AD-02DC68F3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19EB7F7-970B-4DA9-862C-E0940CA5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3538158-C3CE-4CF3-8F8F-4BE87536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main / runtime / renderer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7C7A591E-7212-4357-A8C9-6C8D8540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/v1/*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F58B022E-3B1D-4698-94D9-49E441E5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本地服务边界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F1A107DE-EEF0-4C63-9576-E551103F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稳定桌面接口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C2D0E78-AB0F-4F2D-941C-B0247D53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F1D986C6-E2D8-46A8-9D51-4C928BB1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能力形态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9F282E3-C54D-4089-91C9-B0841192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Command · Agent · Skill · Rule · Hook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8246ABCF-F4DC-4F1B-B930-3CC3B512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90B79568-7810-480E-BC63-424AA90C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连续工作流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25DFDF3C-EC12-4D28-A774-EB1BB05A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任务到产物再到复用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5857731E-896F-44C4-B17C-DFC32193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当前实现证据：README · runtime adapter · EBAI capability tests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11EA647-C90B-424E-9639-31DE0367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12726482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D788D0B-88D6-4BE8-B39D-51CD7829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LIGHTWEIGHT RUNTIME 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371CC8D-10B4-4F87-9CC3-9B489601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技术实现：单一 Runtime Host 收敛桌面复杂度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308835D-FD71-40A5-B331-706C136B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41478E-DA99-40A1-AD2B-F3323513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973004F-1ED8-4DB7-B158-64E3C5CC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06D1034-D660-45D9-A041-82C582AD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60A4342-86C3-4C68-BBAF-2885FA2E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Renderer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82DE03D-FBC4-4E3E-96EE-35F992B1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工作台 UI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会话 / 设置 / 审阅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B858753-8EF9-42B3-8261-66F29E80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D9FC290-44BA-4DF9-A65C-8BE60684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1091D86-8B56-473A-AB12-0D354C38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64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Preload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3587B9C-3870-487C-B5C1-860A5A6D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最小 IPC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受控桌面能力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E50713-848A-4E1F-9518-321162F9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8206563-0BD8-46F2-ADE5-0313F469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BB68C43-D184-4633-AFA8-CEBBA977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Main Host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D2C816E-5471-4070-9024-0AFCEAEA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 / 文件 / 生命周期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单一运行时入口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3152478-C36E-482A-B8E9-C7933C07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7860C81-AC97-426E-9216-9ECD30AB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AF0322B-EA5D-4E2F-9C47-18355A89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Loopback API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CC06A84-C8C0-4B61-B33B-D97D6386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稳定 /v1/*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SSE 事件边界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021C9A7-463B-4026-AC64-1943DE8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538ABC5-B248-4A80-93F2-F31666F1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B8B2721-42A5-4473-B129-1D4AA141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Code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2692488-466D-4EBA-9433-4360C0F0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模型调用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工具执行 / 上下文压缩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ACC8BC3-C857-4707-A166-A093E6D2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69037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0275D24-DBA0-4935-ACD7-9E9BD5A6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326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协议隔离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02D3D82-7621-4DFC-A468-D625639A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533095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上游 CLI 与服务契约的变化只进入 Runtime Host；Renderer 始终面对稳定的本地事件模型。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BE38264-2653-4E8C-9906-EC0BF10A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6263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结果：运行时可替换、桌面流程连续、错误可清洗、测试边界清晰。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286034F-9A6E-489E-9925-0E54804C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078224"/>
            <a:ext cx="37033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A675090-2AFA-4BCE-BB89-A70419B5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315968"/>
            <a:ext cx="30906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轻量拓扑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44088A5-50B6-4F1E-91CE-C5872367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645152"/>
            <a:ext cx="309067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单进程主机 · 本机回环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项目级状态 · 最短交付路径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9A3507D-6EA0-4CDC-88C9-524E493B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host · preload IPC · streaming adapter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14EDE48-12DC-45E3-B1BF-5FD4F816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8482501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56C0F67-CDEB-4503-AA54-B85EB30A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RUNTIME DESIGN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08EDA4-F2DE-48EC-8183-81966293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架构选择：把复杂度收敛到项目级 Runtime Host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87EE2BF-0485-45EB-B21D-BAB34DB8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A274641-D6ED-40AD-9278-7D157BDC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架构优势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3815EB3-19AF-4BA1-BD17-FDE48661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A011816-DE1B-4024-979E-F0B74033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17904"/>
            <a:ext cx="10149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系统复杂度集中处理，交付证据持续回到当前项目。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9F2633A-C530-4697-B881-120D04C3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CD6B87E-9B7F-45F8-A631-9589BA37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7313A"/>
                </a:solidFill>
                <a:latin typeface="Aptos Display"/>
                <a:ea typeface="Aptos Display"/>
                <a:cs typeface="Aptos Display"/>
              </a:rPr>
              <a:t>控制边界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D7BBABE-295F-4AA4-905A-E9B6909A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56DE9A-7EEE-4F36-A808-C67BC3D5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Runtime Host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561554F-0B83-4878-A18D-4B05ED35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732179F-6EC6-4FF5-B17B-E4BC1E60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凭据、协议、文件访问和生命周期集中在主进程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AB7BB20-4A42-427F-9CA1-B97E655F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AD02089-894A-424E-8F50-BDE00507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上游变化只进入适配层，不扩散到工作台界面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5A12444-2F91-459F-9BFF-4BDBD8E1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265665F-FB64-4BFC-84DF-A9034D3E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本机回环服务与稳定 /v1/* 构成清晰边界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2E7DF52-3B6C-4DCA-80C5-6744FA3B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3C50B2C-EE5E-4C7B-93FE-CB4913D2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错误清洗、重试和事件归一化共享同一入口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7C980A9-ED0F-4336-81BE-5B027135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8E2A74D-A3B4-42FA-93EB-9D4B4980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286000"/>
            <a:ext cx="1920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交付数据面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C45C7A7-058D-4537-9ADC-6CAE511A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74BBD98-667C-49AC-8D2F-83EDF773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8B70A0D-CFEC-46DE-9B41-1FA82550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34E4563-149D-4B85-A462-7BFAC3FC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上下文、任务状态、权限与记忆围绕项目收敛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A198848-CDBA-4BF9-8AB7-F0F9665A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3BE4D74-2282-4A84-B1BE-4AE5586E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工具动作、等待、错误与完成进入统一时间线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A4E822E-0F5F-4AC6-966A-4CC4BB90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4142E3E-A575-46FD-AF48-62F748EB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回答、文件、差异、截图与报告分区呈现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DEB1B78-75C8-4F66-9170-A7971D54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5024BC3-DE39-4E40-A80A-EF2B0F2B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文件、测试、构建和运行证据共同完成验收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74ADBA4-B11F-4382-944F-328610C7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9008"/>
            <a:ext cx="990295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087A3D4-2AFC-4EF6-9242-F0F9F48F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52160"/>
            <a:ext cx="9482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Workspace Context → Runtime Host → Event Stream → Deliverables → Verification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4BD4310-B602-4354-B07A-CD22DC84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实现依据：runtime host · streaming adapter · project-scoped state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9521B86-72C9-4644-91A7-34EF60FF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16810673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70C318-8931-4C27-AFEB-0518307B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RUNTIME OBSERVABILITY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D8A4D98-8BC1-4887-B729-2805DFF3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可观测执行：把长任务转换为确定性状态机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6E0608F-E0B0-43DD-B05D-7FE6BEC7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A08304-581E-4555-8DAC-C7FCA242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过程体验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6EBAAD-0356-4D7D-9E7F-E2B139E2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3503BED-62F0-430D-8F03-36E60E94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0128803-0D6C-4ECF-825B-EB4B2349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E3AE791-B136-43F3-AB84-1379FB4C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目标与约束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826A628-7F70-49FA-A29B-C66F6C07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C2B9F03-5AC9-4EB1-B7E3-0AFBA66B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2005CA4-579B-4B15-B32A-5850DC3A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事件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CC15778-42BF-49B7-ACB8-932D3EDD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流式运行时输出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AA10302-2B48-41C4-AF9C-B0F32EBD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F2D146C-0A64-4422-A8DB-C488F9B8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9994A0B-A741-473C-AE5B-581A8744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25E99AC-448E-4301-9F8A-A552DF2B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去重 / 分类 / 清洗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C65F9E3-95B1-408A-BC42-6C7E26C2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347A2F5-43D4-43B0-8776-B40A296E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5C46FC4-E46F-4C03-A20A-D80247EB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时间线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88B9D4A-5E92-438F-915D-44C794BC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步骤 / 工具 / 等待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4E5A42F-4A5B-473B-A645-E151871C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4BDB997-2ED4-4F0E-8D0F-F12E6879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84AF0E6-BEFD-4AA9-BBAD-DAFD393F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B63BA05-A78A-4EB4-9DCD-1895BDE2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摘要 / 产物 / 验证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1E35368-07DB-4F6B-BBFC-84A64440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B73518B-FCC6-4FD5-9A25-563C0C3A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EE190CD-AABB-404F-96CD-C2DB2FE8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用量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7B04303-D85B-4D67-B740-658C4D95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可得则展示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52CF3CC-1BC5-46F2-A783-095AC267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原始输出问题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CF13B26B-02EE-47BD-9A0A-C3311D4A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CFB4B148-7504-44C7-A235-A9ACA8A1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工具语法与状态句混排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连接错误堆栈污染聊天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长时间无反馈，最终整段堆积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4DA377A-3D41-4791-9D05-FFCC307B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31012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BAI Work 呈现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4D50861-9C53-4A08-B07A-27673036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AF1D8341-6925-428F-88E3-3436456B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正在检查工作区 → 已运行 6 条命令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连接中断：可重试并保留有效上下文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完成后只留下结论、产物与验证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294C881B-DC11-4B6E-95F6-178DDAA3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5532120"/>
            <a:ext cx="8119872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863E59D-7420-40DC-AEA4-47BDF30D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614416"/>
            <a:ext cx="7680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只展示可验证状态，不暴露模型内部推理；Telemetry 缺失时显示不可用，不伪造零值。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50B93A5A-9521-4D48-A2BE-43CC712C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实现证据：stream normalization · progress timeline · failure sanitization tests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94F0B87-1BE9-4F6C-AADE-A88E930D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804819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7BF79D9-FDA7-4691-B8DD-E5585E71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BUDGET CONTROL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B0CA121-2B8C-4C74-9CE3-19F7DF86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Token Economy：先建立可配置预算，再谈节省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79EBF29-2B82-4A2A-B8FE-DF0986A8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DCA0FA3-34AE-4F98-B85E-6B0C5B7B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上下文控制面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366358B-468C-4297-BFCC-BD1DAE4E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7F97596-9D4C-4672-BFE9-36305142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977640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94EE6BC-37E8-41A6-8818-25C31EF3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请求预算 ≠ 删除聊天记录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981DDE-0E6E-439B-8ECF-6C2758CB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05456"/>
            <a:ext cx="342900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本次请求受限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2797A40-0698-442D-953A-731FD825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8D1D8"/>
                </a:solidFill>
                <a:latin typeface="Aptos"/>
                <a:ea typeface="Aptos"/>
                <a:cs typeface="Aptos"/>
              </a:rPr>
              <a:t>原始历史保留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01FA637-34E2-4DAF-8517-D47E0EBB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664208"/>
            <a:ext cx="6565392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FB6886F-6CAB-4B99-9D61-34BE133E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1938528"/>
            <a:ext cx="60167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History Hygiene 默认预算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5A4CBC8-46D5-408C-9D3A-D67A35C2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B4B5003-54A2-4ED0-89B7-0B7D8C34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320 行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1F43ECE-0997-48EB-A7DE-07936179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单次工具结果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7CE9F22-4F31-407D-A165-9CC57942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6152144-27C8-472B-9461-7CAF402C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 KiB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D1AC2E0-E48C-4DE7-AF52-6CB07F2A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结果字节预算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3F80A85-8B38-4B89-A2E2-5C01965B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D6509B9-EE10-49A4-9292-3DA6A9B1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8K tokens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27AB2B1-EC79-4AEE-B1B5-AF0E95D8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 Token 预算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B52A53A-B6F7-4A8A-93E1-F94E6F4F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63072" cy="1353312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0AC61DE-F554-4ECF-839B-36CDAFCE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25696"/>
            <a:ext cx="10515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控制契约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B9963FC-5139-404D-86D2-3525F509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48970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79ED27C-5ABB-4B71-92A2-2436DBA4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352544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工具参数字符串默认 8 KiB / 2K tokens，数组默认最多 80 项。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DFACD9A-E281-40ED-AF6A-6255E890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87375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EEC4F18-1D8F-4E00-BA10-1C596B9F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736592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共享类型、IPC schema 与 normalizer 共同限制非法或失控配置。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841C63D-A80C-49B5-93BC-6556808D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578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5BE5DEC-BF47-4EEE-8A59-9DB18176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120640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设置层保留压缩工具描述、工具结果和简洁回答的独立开关。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B52EC7-5680-42D1-8D7D-06F4F2AD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852160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遥测不可用时明确显示 unavailable，不把缺失数据包装成“节省 0%”。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761D387-09BC-4DCC-B329-BE21C746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实现证据：app settings · IPC schema · normalizer · usage telemetry guards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EB8EEA8-8CC1-4C79-9C26-43FEF6C9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11835313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4AA104D-F433-4182-9B91-A26702CD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FE0FB4-AC8A-4E1D-A8F3-0D663D94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双层上下文治理：历史卫生 + 压缩配置契约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DA7333C-BE35-4A07-8909-ED4227C4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45B0B75-36F2-4552-86BB-98A1571F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控制参数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64D3248-6DFD-49F4-87BB-60AD46D7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0631058-F763-4109-BCA9-8BCB09AA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2D25AF8-74B8-406E-95A3-1E7E83DB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10512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29CCC0D-B49B-4573-8592-DBB76B13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1965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6E7CD40-592D-416E-AFF4-2764C7D1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1792224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History Hygiene / 工具结果预算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3AFF375-F398-47EC-820D-8DE42E8F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22199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默认：320 行 · 32 KiB · 8K tokens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702AD14-4DCB-4F58-A3C7-0B885EAF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92224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定义工具结果上限；原始聊天记录保持不变。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CCB542B-8FF7-4A80-8B57-ED5C579D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56232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控制输入放大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69FF9FD-E9C5-4F95-94FE-AD2DE75C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FBEA14F-8909-4468-9C71-3844ED00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4FCB75-C812-4590-A5D9-86375931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095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8B81649-929C-4065-90F3-8267AEE6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182112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Tool Argument Guard / 工具参数预算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F873A6E-6717-484C-8D69-5FFF3802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611880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默认：8 KiB · 2K tokens · 80 项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34E8950-D4EC-4A41-9241-FD152F6E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82112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约束长字符串与数组展开；输入边界由 schema 和 normalizer 校验。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0546948-C65D-4554-919F-1989DEFE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降低结构冗余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13D29F2-5552-4FF2-8705-77AAF768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07408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8817F49-ED7E-4AC1-A4D2-A82D4866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90288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1D881D3-38A1-4452-907F-08889B47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9F1E6DA-72C9-43A1-8BEA-81A44733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72000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Context Compaction / 摘要配置契约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6686AD2-E33D-4957-9B91-CF1FD86A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00176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默认：软阈值 16K · 硬阈值 24K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082038A-24FF-411A-B231-100D8C96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572000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启发式摘要；15 秒超时；摘要上限 1,200 tokens；输入 96 KiB。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E77A530-122A-4401-A217-9CB0AE27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36008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为运行时留出空间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A4E8D4D-1E8D-4301-9EB1-4EC4F311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10863072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D059468-68D7-4538-BE3F-0DB105EA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25312"/>
            <a:ext cx="10378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证据边界：这是可配置控制面与压缩配置契约；实际节省量只在后端提供遥测时展示。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36736BDB-3CA5-4992-B408-5A19781E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实现证据：history hygiene defaults · compaction settings · validation bounds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16A169B-CAB4-4ACA-AE78-3C5676FF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9439761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544A75-BF71-4BF4-A2F6-05BD78FF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 PRODUCT CAPABILITY SYSTEM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87DB829-89EF-43A9-B998-6B667A8C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EBAI：BAI Work 面向用户的能力体系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C6B92B6-4160-4E3B-B25E-4D6EF891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F2B86CC-076F-473C-B814-A478B67F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产品能力层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FDED17-A539-475C-9AAF-4A7B9672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FA73892-ADB0-47DF-A7E6-5CE82997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B47A42D-58D5-4666-91D8-A4B0BC26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79A0152-8555-418D-AD15-EF151315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能力随应用呈现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统一产品身份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1D793BA-ABFC-44D6-949A-1A98AF42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BEECF73-BB14-4F33-8C3B-3932F94E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A44747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D909481-1E1D-489C-AD04-94114443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项目命令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7B29451-42E7-43B9-A2BC-E8F432D3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90F575B-253A-4728-BD52-DA0B3FFD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51818F8-6834-4A8C-A405-47FB44D2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专业角色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以命令工作流接入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37FB9C9-6794-489F-96CA-39100957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70EF84A-0411-4BAF-A21F-C0A5E178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8533BF4-A1AE-465D-9B0B-0DFBADE8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任务方法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BD8561C-1270-4327-8216-9A8EECB8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3F3F2E8-2E2A-4EC3-985D-A16C5BB8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B2909A1-CBD2-4D93-8ECC-92424A6D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行为约束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 Skill 指令接入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ECBE1AF-5068-4C67-8C2A-942D302F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1A1737E-E286-45C2-8194-60FFB383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859503B-4FBD-4536-9732-AA4F5988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自动化契约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Manifest 已生成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3513593-EFC3-44AF-AA4D-B3D6A125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521208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00C93AD-6DF1-4E11-A771-CCB55E3A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617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用户可用能力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274351F-008A-4200-8385-30AAA987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12394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033B354-90D2-4F5B-B5EE-72C54FB9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986784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命令、技能与规则进入任务上下文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3F88B18-2B2B-4EF1-BCAD-687E8854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51713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600158F-7571-47D1-B3C1-2FDB2106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9976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Agent 以专业命令工作流对用户呈现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C6BDB33-7787-4299-AFDB-3B2A22FD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910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7741A2D-20C9-43D8-8D0F-7DDDCA23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73168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Hooks 保留能力定义，执行契约待 Runtime 支持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DE93BDBC-FBB3-46B3-99DF-8306A578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794760"/>
            <a:ext cx="5376672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5384F4F-F064-4B16-9E92-7F363FA7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当前状态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959F6067-2E3E-4546-803E-20AAE773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950208"/>
            <a:ext cx="3584448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Commands · Skills：安装后可加载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Agents：命令化接入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Rules：Skill 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Hooks：默认关闭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132659FF-C961-4DB9-9F93-CF3CE4E4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797296"/>
            <a:ext cx="9966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这些能力就是 BAI Work 的产品能力；来源与安装只属于内部交付方式。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85D8D5DB-DD5B-414D-BD33-FDF6A1D9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instruction loader · component install tests · hook manifest guard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8C617C6-0E40-4AA3-A7F8-8E5AF264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18584727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A2CDD78-A266-4970-A329-6FFC3943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HOOK CAPABILITY BOUNDARY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B4B400-243A-4EED-B368-AF85D2C6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Hooks：能力已纳入产品体系，执行仍服从 Runtime 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EE838AC-AA25-424F-AE73-30ACA80A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E2FA208-5F37-495D-910A-0BA68DE1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能力边界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BBF21ED-46AF-4875-92AF-26354A1B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DEDE31-77C6-49AB-A510-F11F7D6F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4983480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1758CC-EA9D-48BD-A0EB-C3FE3307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Hook 能力模型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D4C51F1-708C-4C1C-95CD-E05A760D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95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消息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4D6017C-C4B4-4AAE-A4DF-022BE59C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523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6C4FED-7F08-41A4-9FFC-CFF7C03D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395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message_submit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0929A51-0C23-4531-874C-D5379B2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529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会话开始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F1C3DB4-11D3-445F-B9CF-4181CE84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809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6070BF7-0C50-438F-A415-6D120E3B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8529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session_start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19A67A4-1B06-44AE-B9C1-AF21ED6A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工具调用前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191CFB3-A488-4EE5-9313-0F290D72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381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F1F94B0-9CEC-4052-B5DA-FF9E765D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3101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tool_call_before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AECA2D0-F889-498D-B69A-FAE7AFA0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673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工具调用后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BEC5FD7-5F85-4F30-A44F-BB914135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8953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71692C6-D9EA-4282-A7CF-0327A37F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7673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tool_call_after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5BE509F-2AD6-4DBF-9978-C540A3AB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轮次结束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BEDB7FA-D5DF-450A-8C82-B14A6088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3525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E2B92A8-6604-4DD7-B26A-43E9456A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2245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turn_end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ED91AC1-5333-461E-A713-0252EC85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81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会话结束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6DCF7B1-696C-486B-9825-AEE9FC6D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809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E39A109-D726-4D05-81DA-31D9FE31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681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session_end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424AD4E-8CEA-4D87-B062-BFC94794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1627632"/>
            <a:ext cx="5559552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8CF84E5-57C2-4C14-9423-6418488C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当前交付状态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BCF6FC3-2319-4B35-8C2F-56E31849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24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7872A9BD-67B5-4678-963E-D32061A6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生成的全局 manifest 始终 enabled = false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500A07FA-0F27-44FC-AB54-B5414CFD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272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7036F96-2E13-4E6A-97BD-A66DEB5E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008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当前设置页 Hook 开关保持禁用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ED0B979C-B655-41E0-8075-F88E22B8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01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24A9DC7-B07B-4C85-9B6D-695C3FDE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9300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BAI Code 0.9.1 尚无 Hook 执行契约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7CAC9C5C-26E4-4A94-8ABC-EFE3C815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33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8E6F6A32-5D16-4D22-B398-50AEE1B3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9592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只有显式工作区才允许生成项目配置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07864D2D-CAC1-4F5D-9D8B-2DF70110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D444FA76-1D7A-44D8-8019-6FF73FEE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9884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不安全路径与符号链接会被拒绝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E1343146-C111-4523-A747-30FBB036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389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576A2197-38F9-41BD-8DEA-B24EE386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017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未支持事件被记录，不伪装为已执行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F223A2BB-5AC4-49F4-938D-3B885F15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44747"/>
          </a:solidFill>
          <a:ln xmlns:a="http://schemas.openxmlformats.org/drawingml/2006/main" w="12700">
            <a:solidFill>
              <a:srgbClr val="A44747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7D63D3B8-B962-4A27-AC7C-84907163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能力已建模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83CB2EBC-7217-4973-9717-48166A9E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5468112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CE7CAA29-5C14-4C00-B12A-1D187887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5477256"/>
            <a:ext cx="12070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执行未开放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8A713237-FF54-45C9-9126-29374223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9E286A9C-247F-4BC7-9008-8EDCE3A0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边界可验证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7505E09-83A4-4E87-9B3A-7D09B138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交付原则：产品能力与当前可执行状态分开陈述；未开放能力不冒充为已生效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A28D68E5-45A1-4E8D-ADCD-64C9BFBE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16800459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579306-6A0B-4EC0-B6FC-8F6CBB27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 EXECUTION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ACE9AAF-3356-4AAA-AB0B-B3CE7BFF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AI 深度：上下文、工具、产物与验证构成闭环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A7BF7CD-24F1-4A14-8349-87223062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108F707-AE65-41F7-82F0-3DE10D92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系统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17117BC-D956-4DFF-AB83-6650815D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F756E6-2DFA-4EB8-9576-F81C956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674827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EE8CD0C-C715-45C9-A0DE-0D063FCD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ADC5556-CC2D-4DAD-821F-66BD8CDC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19BD611-0D10-4860-9D95-44B32406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Workspace · 文件 · 版本 · 记忆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22C29D9-C037-4872-A29A-332FDEBD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3C47017-5099-4FFA-8B65-59454DDF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规划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68F778B-A763-4678-B994-CEF58BC0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目标拆解与约束解析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3C50399-52FF-43B3-82C7-DE3502C0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DA47522-D452-47F5-90EE-FF069337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19F725A-A6FA-4FF7-ABAB-B8BF8FC0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命令 · 文件 · 检索 · 技能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DC71A7A-EFC9-4667-BCA8-1F01793F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AFF7F6A-0F34-4374-A3AC-BC5BF314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4807926-5336-4BB4-A846-5F68A2FC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代码 · 文档 · 图表 · 差异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31FADEC-2D27-4EC5-A1C3-B917F9D8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46888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0DB1F4A-E4E5-4561-9B45-F562F574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962656"/>
            <a:ext cx="0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E968AE8-2E8B-459D-8866-BC4FC843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11880" y="448056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9B91ACB-BACC-43C1-AAA7-AA37BFAE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3035808"/>
            <a:ext cx="0" cy="896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7C75F9F-008A-4A0E-B5D7-9E15563A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3145536"/>
            <a:ext cx="3822192" cy="64008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AAF42E2-B2E9-4990-80D3-393CE562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3255264"/>
            <a:ext cx="3383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验证门：结果一致性 · 文件存在性 · 测试与运行证据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24DF2D4-3CFB-469A-A8B5-75F99201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94760" cy="4462272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D95D396-0E16-4E5B-A047-3DEC77DB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920240"/>
            <a:ext cx="31821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系统级 AI 应用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BADFF8-D879-42FB-827D-A428311C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7EC79D5-96E8-47F1-ADDE-189FD818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603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多轮上下文与自动压缩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7D7B0B76-A825-4FDB-B324-D827740A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F5690AA-4F89-444D-BA24-5B06A3C3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6324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基于事件流的工具执行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D84BC92B-F830-4C4C-A4AF-BF6F4280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66AA021-280A-4673-82FB-74A4CCDD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6616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项目级权限与工作区边界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13981144-D49A-4BF3-BD60-6309C8F5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20624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C24F05D-9F5D-4361-B925-1122C160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产物生成后的验证与摘要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EB946F4C-3F90-4CCC-9E64-70AAEB14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CC300FD-7AD2-480B-BA6B-6B477036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长期记忆与能力复用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31942984-BC30-4A6C-8F6D-DAD37B1F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120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D022EB2A-9FB6-4E5E-A46A-0164B4B1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可选的签名与发布溯源方向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BCD2957E-0A81-4846-BCBC-0B0D05BA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AI 的价值通过任务闭环证明；生态溯源作为未来方向，不包装为当前能力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46DFD2EA-F3C3-4A46-A16F-40AC7FCE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9746264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6B610F2-2058-4340-860C-348F9398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WORK EVIDENCE CHAIN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522D4C-A4A3-45D9-BF49-20E7F13D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交付闭环：从输入到验收，每一步都有工程证据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48E91B-1D66-40F2-9D2A-7C0E7DED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B024D7E-638B-4639-A028-CDDC8B8B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综合证据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44F64B8-3A71-4C77-B7AE-ED762BFC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1D7D60B-8F46-40FF-AD81-88045FFE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029968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A69E2BF-3FD4-4616-B0D2-038D324B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18470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交付阶段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188F063-041F-400B-B803-8620ED5E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336" y="1664208"/>
            <a:ext cx="292608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FAA1105-F73B-4B7F-913C-03B46F2C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776" y="1755648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8AA9828-8C69-4A17-A893-E9D6FEB8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64208"/>
            <a:ext cx="274320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E719845-B920-4179-A2D5-1A250512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55648"/>
            <a:ext cx="2560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系统机制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5C86E2C-FC5B-4835-871B-EFF192A3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664208"/>
            <a:ext cx="3072384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B8C9EA9-135C-4C25-8AF8-684F1734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1755648"/>
            <a:ext cx="28895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可验证证据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04E5B4D-95BA-4D99-BC81-EF841CF8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0428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AE2777E-84DD-462E-9128-F2D2A29E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配置进入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7F97513-5E1F-4784-A61C-D16DD28B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39572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完成服务与模型就绪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48D76C8-D0C0-4686-BF65-5CE85422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39572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凭据隔离 · 探测 · 能力发现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3E4EA6C-32DB-40AB-B4FF-DADD9132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9572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连接与模型发现测试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AF6EC2B-EB0A-4C4E-9D3D-6AA94BC1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9504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8DB82C3-0E77-442F-A5D7-2D373BFF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80944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任务执行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79041B8-07BE-4C6F-A09D-7A215414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980944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项目内发起并持续看见推进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660884A-B41C-493A-8D4E-1BAF5075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980944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Runtime Host · SSE 归一化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60B4D5B-1273-48C2-B007-A428D92F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80944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适配器与流式事件测试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75624D7-1413-4086-A61E-2FB2D123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74720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26C3A2B-D0A3-4F49-92A7-6CAAC0C1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上下文经济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E0E4194-A8E2-4B53-8169-811EECE9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566160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请求预算与摘要边界可配置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8EB3612-4885-422D-A74F-2C5D5236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66160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历史卫生 · 压缩配置契约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94D50AD-9F95-4B4C-9F60-D8B6D4C5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3566160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默认值与输入边界测试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4ADCFBC-DA60-4A0A-A709-61C758C0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59936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C0C35FA-70A4-42F1-BB83-C3C88B4A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能力体系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1A6FC7E-E01E-47AC-97EC-E62321B9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151376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五类能力归入 BAI Work 产品体验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32F6E7D-624F-488E-9491-F3DD451F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151376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347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命令/技能加载 · Rule 指令 · Hook manifest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FA91224-539C-4F61-B113-DD93FF25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151376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加载与 manifest 安全测试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3EB3CA4-5CC4-4037-9FC7-AA18FCA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45152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41BA29E-C99E-4E6D-899C-7F639A46C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36592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产物交付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F67CE47-060D-43F5-BB24-6B21FA5C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736592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回答、文件、差异与摘要分区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8EBE6A2-4B43-4FFE-944C-D3CFC66F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73659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结果区与项目文件联动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9044C730-02D3-4582-BF88-1E8A3E9F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736592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文件存在性与差异证据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E4603621-74E7-4865-86B5-E2300CBD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9B50270E-1666-4F83-B3D3-4FF88CE6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2180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工程验收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7FC8A93D-F1C4-4467-A48B-4F4BED0F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32180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从代码验证到桌面包体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7924CFF-EBC2-48E5-8A4B-C0EC04D6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532180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类型检查 · 测试 · 构建 · 打包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9A2D8065-EEEA-4EE1-8A86-62FAD45A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32180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自动化测试与运行 smoke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A6581738-38EB-4B64-93F8-BF5F5F4D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61888"/>
            <a:ext cx="1016812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0453E17-63C5-467C-9800-689F732A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6007608"/>
            <a:ext cx="97657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上手、执行、上下文、安全、交付、验收——每个价值点都能回到实现与现场证据。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D0E76A89-7BBA-442A-9884-745F8CB2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证据来源：BAI Work 当前代码 · 自动化测试 · 构建与运行结果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3251FD1-54EE-4EF3-A4EB-A5EBAA41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17826322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52DC930-EB29-4E28-97AC-E761400D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ENGINEERING PROOF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7C7CA7-FA72-45EB-BFBF-5A3B6CE8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工程证据：不是原型截图，而是可构建的软件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3AB1B2D-A788-49ED-B787-B20BB6B0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C9B4730-47F1-4BC7-A79B-D340997A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交付验证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786B0A1-C0AC-4D2F-B51C-4BE9B0C7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2EBD356-804E-48F8-97C7-BABE78CE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A92775E-5B66-4C77-B9C9-5A465663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340ECC1-76B3-4768-916A-26FE7490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桌面平台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43D7B05-2852-4926-A911-9D809228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 Intel / Apple Silicon / Windows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FC78F10-E6C0-4845-A1B2-6D05A026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9FDC6CA-0936-465D-B789-0EA6E252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84576CD-984D-4D74-893A-8666F804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3AFB4DE-EA75-4CF7-B8B8-C40E2251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覆盖 main、runtime、renderer 与服务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8F09428-5248-4044-BB9F-AC5E7E39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8B1828E-C2C8-480B-95A7-2E9AE1F5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1,144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114A8A2-E4C0-4011-9E43-474E63C7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自动化测试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4270A79-46AB-40EC-A871-AE83566E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完整测试基线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DA4B715-AA3D-4537-B608-0DF3717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1F58A26-D78E-4BB3-B266-08179021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0.9.1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905577F-29C6-4D01-BABE-93666BA5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Code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D01CCB3-333D-42C6-828F-7C5AAFEC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 Intel packaged runtime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4D31F94-7DBB-48BE-857D-FDFF59C8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75888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F49320-A33A-4463-8A1B-AA6E979B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58184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macOS Intel x64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8EA683-D4E2-4EFA-8A45-E8EE6464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30752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自包含 Python 3.11 + BAI Code runtime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D6452F1-D0C5-47A6-A714-1736A90B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767328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0372B40-1B8A-472D-BB91-36D4040F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3776472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本机构建与运行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159F0E6-3CD1-473F-A90D-0C0001AC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370832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5B1928C-2D36-46B6-AA5A-6F123DE3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53128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macOS arm64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7537487-69E6-485E-A05D-94EB61AE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425696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官方运行时 wheelhouse + 用户目录环境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10178AD-F621-4A74-95B9-255EB87A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9D5326C-535C-470C-942C-2ECD866C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4471416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原生构建与 smoke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ADF3CE87-8829-4ECF-86F2-71F2BBAC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65776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4114EAF-EF67-4A31-8C8B-F76DB7B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48072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Windows 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974AF44F-A534-4176-A7F3-AD67FBFB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120640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官方 win_amd64 wheelhouse + 安装包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39B47F02-0284-4376-96FC-EBF82283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5157216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9BE47B3E-CFB9-4F0F-A548-8A093514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5166360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原生构建与 smoke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8A88C545-1B32-4882-AC54-ABE4F8B3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863072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305F94EE-CF30-4E2D-B5ED-CE233192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43600"/>
            <a:ext cx="10378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验证链：typecheck → lint → unit tests → production build → desktop package → packaged runtime smoke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1D80217C-6678-405B-81DF-B511F963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当前主版本：Mac Intel x86_64；其余平台保持同源实现与原生验证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4F6C43E0-E0ED-40D6-94B8-6CCC2C47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6242224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0ACCA45-73DA-4B04-B771-B42F529A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TARGET USERS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A9013C9-05B5-4496-8A8E-7D3DDE43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目标用户：先占领高频、长链路的项目工作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1AFA4C1-759B-4A80-BAAD-C85D9469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2473805-EF56-47E9-817D-17D62E67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市场切入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C625DFC-034B-49EF-8460-DEFCD4A6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3124539-1042-4D7E-B2C2-712EDD94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8BC1A84-F86A-4CA6-BC18-1D6C4D1A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5DCD93E-4B68-42F6-8656-2FDFBBDB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个人开发者 / 研究者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EFEB569-0680-44A3-AE36-0EC600EB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B33CC3C-4CB8-434E-AC45-F4094704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本地项目任务长、文件多、上下文重复传递。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11188DE-38DE-426C-A9F9-6D28BB9C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3C62BE6-2361-4E2D-95C6-19CF7626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从问题到代码、文档和图表的一站式交付。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E6A8FF7-C3B0-4EFE-89BE-420616CB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2124C57-1D7F-4420-81B8-96BE27E6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7ABD51D-4C5B-4139-A7DA-9CEE8E44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小型研发团队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860D9B3-D888-423A-AED8-AD7CB748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73AC8A0-1203-4415-8F46-C4B0EB4D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流程难复用，Agent 行为和权限口径难统一。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DEB647-970E-4E63-B24A-2F7586D6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8BD3C1A-A80A-42ED-8221-CFE3FD99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共享技能、规则、服务配置与审阅标准。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B1DA6CA-6A56-4066-BC1C-281745B8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89BE428-6777-4D01-B47C-7C172948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E02075A-C5DA-4CB6-B561-5EC24F1D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生态用户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6735AD3-D72E-4255-9547-D04B2BAC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6CCC712-FC8C-43B7-8315-041000B2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底层执行能力缺少持续桌面入口与产物工作面。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AA4CF8B-BC94-4B99-9CA0-83037041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7E1A38E-8631-4939-A363-4F8CAA89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模型、运行时与生态能力进入日常项目流程。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280E087-C5B1-4BEC-A38B-EB7397E6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10332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首批验证不追求覆盖所有 AI 用户，而聚焦已有本地项目、愿意把完整任务交给 Agent 的用户。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0997D95-18D6-4A10-86D5-3381B78D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市场判断基于 Jobs-to-be-Done；不使用未经验证的市场规模数字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76F42855-B8B2-47E7-A92C-E78E7DCA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8775774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772E54C-9199-496E-BB68-F8EDB100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CONTROLLED SUBSIDY ACQUISITION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617EB5-5A0B-4730-BA7A-B83566DB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商业推广：受控补贴驱动首批高质量激活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73BA6B2-3EB3-47C3-9722-8334D162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43BF4AE-1706-4390-8A0C-C89E06BE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商业增长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CC7DABC-B515-408F-9ABD-7248A2F0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DEE9ACD-E367-407A-8AD6-E68DBED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24358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7BFBFB-94D2-4500-BC21-F2F6AF38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建议实验方案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F713A71-3EE9-4ADE-AC3F-1908BD67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6502907-D383-45CA-9824-23DB5A25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限量 Cohort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00A6715-7D2F-4029-81F2-F0FE3ED2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首批限量名额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按批次开放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A7A5120-151A-4FDF-8AF8-02F14953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8CAF781-2D4C-4ECF-902D-B3FCD4A1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半价折扣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78A90CC-1ADD-4070-A667-2670B341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模型使用费用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提供 50% 优惠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F0564E2-3791-4A20-BA00-DD47CBAD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6B0FF44-0D21-4760-97C0-EB1C64F3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额度封顶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5BD0D3A-F498-43DA-BE08-73B5535E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单账户月度上限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控制补贴敞口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BA0B89B-EC20-4F5D-BF26-BC00C31F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22D2254-438E-4DAA-8210-FEC22B8D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限时验证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C011002-7FB7-4F63-B689-A2DBA6E8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持续 8–12 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到期自动复核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10C2000-9C88-48DA-A3D4-8463C65A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86200"/>
            <a:ext cx="6583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AFA0BF8-3487-42AB-8A5A-96B3F446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Activation-Gated Subsidy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947F754-829E-48C8-BA27-ED298F69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788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56906D0-C349-4E0B-9BA0-F608E17D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1648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绑定有效 API Key 并完成首个项目任务后激活优惠。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F78C72B-C649-4845-84B5-54205E06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720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3F80E14-FF56-4E20-BEC6-248667B2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4840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按账户、设备与异常使用信号控制重复领取。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F978D188-A4ED-4F3B-B63D-6678D9C6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6519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20969EA-37B5-4E35-988B-102A2E7D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28032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补贴只覆盖真实使用量，未使用额度不沉淀、不转售。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3C86638-FF1D-4793-A756-0F450CC5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397764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7E97361-C33F-4A11-B113-F66549AB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133088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单位经济门槛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328052D3-09EA-4BFA-A657-7FADEB91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572000"/>
            <a:ext cx="3383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Subsidy CAC ≤ Cohort LTV ×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目标回收系数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FA476E1-04E7-48A7-A48A-37502AC0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27C8F44-E85A-493B-B359-70A40021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API Key 绑定率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236CB777-FEF9-459E-93C8-F91F6BC5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818007E-E794-4A7E-ABC2-500375D4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首任务完成率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838A0AA5-9A74-445E-9A3D-D823C503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429796F-75E5-4D49-B358-0560EC2F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D7 活跃项目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D44E8749-98BE-4A9B-942C-928FCEA5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AA86FA2-F611-49D2-A7AD-04D32DC0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付费转化率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657BB8A3-AF7D-4BE2-B1DA-208CD562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EEDF0DCC-0C1C-4E62-BA0C-8FE320AB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补贴效率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CCE5BA01-2B83-46C3-817D-6E62E156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商业方案为待验证实验；额度、周期和风控阈值需按 Cohort 数据迭代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843F8D52-07AB-47A4-9C31-A9CC6336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13563626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5C689E-00B7-4B7B-AC03-81FE112C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ROADMAP &amp; LIVE DEMO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90A9548-F991-43B9-80B4-6CE95DB4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周推进：先稳定发布，再验证增长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1375E31-01B2-47B5-9E92-EF0F51FD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8EC4ED-F4D7-42E2-890D-BDD5BF37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864BB14-922B-4A91-BBC2-2DDCCBB1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DBF0CE1-AAA6-4FC2-8720-7675E75B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423AEF2-F301-4D4B-9F08-8D818537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EB4E725-A6BB-4987-BE48-89274EF2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FFDCADD-E09B-4AF2-A84D-97935515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稳定基线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0EBFBB-22B3-4436-92B1-5A701ED1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Mac Intel 主版本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Token Economy / EBAI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当前自动化验证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0C481E0-AD0D-4D1C-B500-97AE5B2F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A2E7403-F339-4302-B18D-DD2A6B6A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714C209-0220-4786-B797-FECAC1E9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886AB2C-0C29-4DF6-AF46-7384C480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W1–4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8CD324E-2395-4936-BD68-FF8BFE92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发布级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091DCBC-3477-4698-8638-77D41FB7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正式签名与公证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运行时契约对齐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崩溃与恢复遥测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000AC0E-551F-4F10-B6EC-D6033083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56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FFE916F-4EE1-4BC6-A8AA-A8187DC4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D0D0374-64E8-43B0-A1AC-C680D026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0375D18-25D6-4502-9CC2-5860879C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W5–8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B5BBE3C-BADF-4642-8679-04C10808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试点级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FF6463A-FFF3-44FB-92A6-4E2C8798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 Cohort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30 秒上手漏斗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真实任务回归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5EFF3ED-DF0E-491D-85F1-23E1793F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81AABA7-B187-4A8C-BDCA-08D96E47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FF8F833-8C7E-4845-A142-78202D3D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08E7F83-8FF9-4071-A180-5DC43619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W9–12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9CD03D1-0C70-4773-A22F-26E25E43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规模化判断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1FFD783-88C5-44D6-AB37-42A3B1D7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留存与单位经济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团队策略复用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生态能力审核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B72B0A2-A88C-4B88-9175-CA616D6B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26864"/>
            <a:ext cx="13716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3 分钟现场证明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B99966E-399E-4229-9ABB-EF0D6318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90F167A-C392-4F28-8CEB-8235C360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00:00–00:30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7FB8946-F26E-4CB3-8058-F0203EE3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输入 API Key，拉取模型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1CBCB8FC-2926-442F-9322-2D1EC493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98E1427A-8CF2-49A5-B11B-BAB3DC56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00:30–01:30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E42557C-17F4-47BE-90DF-001041C7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发送项目任务，展示实时步骤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6D233BFA-552E-4501-8759-F86E05FE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52FEA3B6-8BBC-41E5-A178-6F7C38EC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01:30–02:30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338ACE28-EB7E-463F-A521-E0EB1BA9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打开产物、差异和验证结果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4E4A8C8-0A9C-40EF-A37A-B22DEFA8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903A0CD-25D9-4C82-AD98-5DE4B95A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02:30–03:00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667CE73D-6FB0-4B9A-9905-9D078B03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展示 EBAI 安全边界与构建证据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E8E3724-3016-44EB-BE19-5168248C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6053328"/>
            <a:ext cx="9646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每个阶段按行为指标验收，不以“新增多少功能”验收。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3298B500-E497-42B8-A3D9-6E5225EF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路线图优先级：稳定发布 → 真实激活 → 留存与单位经济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C95BE944-C383-47DE-9B59-A827DE16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37800533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ac143f95c48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31545"/>
            <a:ext cx="3566160" cy="930303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3093E1F-CDB8-43B6-A054-FA84C661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47088"/>
            <a:ext cx="47091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简单，不代表能力少。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C21CE5E-21B6-4560-A561-55EC97B9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578608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而是把复杂度留在系统里。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39381B-3D66-46A1-90FC-7CB50D4A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566160"/>
            <a:ext cx="512064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CDD4DB"/>
                </a:solidFill>
                <a:latin typeface="PingFang SC"/>
                <a:ea typeface="PingFang SC"/>
                <a:cs typeface="PingFang SC"/>
              </a:rPr>
              <a:t>30 秒配置目标；过程可见；产物可验收。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ED5A627-91F7-4838-B18A-B0356043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04A6D4D-E7CD-403F-8BE2-DC97F47A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6654CC1-9BB4-444D-ADEA-F9BC7FF3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8321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轻量架构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AF8DE99-1F88-4AB5-9089-D79284E2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813816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 Runtime Host 与最短执行链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7C624664-6EBF-4408-9729-DF97E764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00FB733-16A2-4958-8227-160A9228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0EA193-A82B-4214-9961-5FEE1E9C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1764792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Token Economy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0CFFDFD-4DA7-4ADE-97A0-A5FF9C83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746504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请求预算与上下文治理契约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52B2CBA-6E24-474C-A64B-39C54E31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7FD6815-75AC-4CFF-8E32-5413227D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1D66FD0B-61AE-4A52-A92D-4A441432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2697480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1BE7832-E4A2-4707-8190-36C1AE2C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79192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产品能力体系与清晰执行边界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EFD512D-F967-4644-8525-E04F6A98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CFDAFD6-2247-401B-9566-29160A0D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1B28CAC-D4DB-4FC5-B813-61DCB36D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630168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产品交付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2BF9251-F685-4500-A17B-E94B6B12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11880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三平台路径、自动化测试与运行证据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AF18405-4187-43A6-A720-F58232C5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9A0E4358-B839-4B6F-8601-A85E3E0A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9192AAF5-7643-4932-B544-47BFEA7F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4562856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商业增长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308CEC6-633E-4E6C-A3A4-5F69FF1A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544568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限量半价、额度封顶与 Cohort 验证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E5989047-2D07-4951-BA10-AF8272C9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50468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2D37AC81-0C11-4ABE-BDAD-99AD05D4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41848"/>
            <a:ext cx="55321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下一步：稳定签名发布 · 首批用户验证 · 项目级生态扩展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0671FFC-D94B-4623-A230-D6B85B1A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4476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8FD4CF"/>
                </a:solidFill>
                <a:latin typeface="Aptos"/>
                <a:ea typeface="Aptos"/>
                <a:cs typeface="Aptos"/>
              </a:rPr>
              <a:t>github.com/2830500285/BAI-Work</a:t>
            </a:r>
          </a:p>
        </p:txBody>
      </p:sp>
    </p:spTree>
    <p:extLst>
      <p:ext uri="{BB962C8B-B14F-4D97-AF65-F5344CB8AC3E}">
        <p14:creationId xmlns:p14="http://schemas.microsoft.com/office/powerpoint/2010/main" val="204907199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2026-07-22T06:06:49.2230000Z</dcterms:created>
  <dcterms:modified xsi:type="dcterms:W3CDTF">2026-07-22T06:06:49.2230000Z</dcterms:modified>
</coreProperties>
</file>