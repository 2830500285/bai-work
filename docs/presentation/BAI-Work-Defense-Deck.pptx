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秒配置路径（建议 45 秒）
用户只需提供 API Key，主进程完成服务探测、模型拉取、能力分类和保存。
技术上使用凭据隔离、端点规范化、能力感知发现与幂等集合合并。
强调“简单”不是隐藏能力，而是把配置复杂度吸收到产品内部。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产品完成度（建议 40 秒）
完成度从用户生命周期衡量：配置、执行、观察、审阅、沉淀都在一个工作面完成。
三平台目标和稳定本地服务边界证明它不是一次性原型。
EBAI 的数量只表示可迁移 surface，实际安装仍受安全策略与用户选择约束。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 BAI-Claw 的架构差异（建议 60 秒）
BAI-Claw 官方定位强调多 Agent、多通道与 7×24 调度，适合广覆盖的个人智能体场景。
BAI Work 的目标函数不同：围绕当前项目、当前用户和可验收产物收敛状态。
因此我们主张的是项目级任务中的架构优势，不做脱离场景的绝对优劣判断。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Economy 总体算法（建议 55 秒）
先用线性近似估计器得到上下文占用率，再通过三级阈值门控选择压缩策略。
这种设计避免低占用对话被过度压缩，同时在接近上限时快速收敛。
核心价值是减少重复上下文回传，并优先保护最近任务窗口与验收证据。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Economy 三层算法（建议 60 秒）
第一层只裁剪高冗余工具输出；第二层摘要旧历史并保留最近八条；第三层在硬上限前紧急收敛。
每层都保持任务最近窗口和可验证结果，避免把“降 Token”做成无差别删减。
我们不使用未经实测的百分比，而是展示可复现的阈值、窗口和回退路径。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EBAI 技术实现（建议 60 秒）
EBAI 从远程索引开始，经过安全门、暂存缓存、原子替换和语义映射后进入 BAI 用户目录。
资源限制、路径校验和来源标记保证安装过程可控、可追溯、不会留下半安装状态。
命令、Agent、规则、技能和 Hook 使用不同映射规则，不是简单文本替换。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EBAI Hook 安全（建议 50 秒）
Hook 转换为 BAI 项目级 TOML，但全局 manifest 默认始终关闭。
只有用户明确选择受信任工作区后，才会写入项目级 hooks.toml。
这种设计把高价值自动化能力与执行信任分开，避免安装即执行。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竞争定位矩阵（建议 55 秒）
BAI-Claw 是主要差异化对象，因为它同样面向最终用户，但目标是通用个人 Agent。
BAI Work 用项目级状态、短执行链和产物验收建立差异化。
BAI Code 不作为主要竞品，它是 BAI Work 封装并增强的底层执行引擎。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工程验证证据（建议 40 秒）
四个数字证明项目已有真实工程规模和自动化验证。
Mac Intel 是当前迭代主版本，其他平台保持同源构建和原生 smoke。
商业发布仍需正式签名和公证凭据，这一风险在路线图中明确。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目标用户（建议 35 秒）
首批用户是有真实本地项目、长任务和产物验收需求的个人与小团队。
BAI 生态用户获得的是持续桌面入口和项目交付工作面。
切入策略先验证高频留存与任务完成率，再扩展更广泛场景。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路线图与现场演示（建议 45 秒）
前四周解决发布级稳定性，第二阶段验证首批 Cohort，第三阶段再决定规模化。
现场演示严格控制三分钟，覆盖配置、过程、产物和安全边界。
每个阶段都用行为指标验收，而不是继续堆叠功能数量。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收束（建议 30 秒）
最后一句：简单不是删掉能力，而是把架构、配置和安全复杂度留在系统内部。
BAI Work 通过轻量架构、Token Economy、EBAI 和工程交付形成完整差异化。
下一步是稳定签名发布并用首批真实用户数据验证留存与单位经济。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0"/>
            <a:ext cx="5287975" cy="6858000"/>
          </a:xfrm>
          <a:prstGeom prst="rect">
            <a:avLst/>
          </a:prstGeom>
          <a:solidFill>
            <a:srgbClr val="FFFEFA"/>
          </a:solidFill>
          <a:ln w="12700">
            <a:solidFill>
              <a:srgbClr val="FFFE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95744" y="475488"/>
            <a:ext cx="4754880" cy="50749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pic>
        <p:nvPicPr>
          <p:cNvPr id="4" name="Image 0" descr="/Users/mac/Documents/MIMO Work/BAI-Work-macOS-Intel/docs/screenshots/bai-work-home-cur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8896" y="1500759"/>
            <a:ext cx="4608576" cy="302437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68896" y="3678311"/>
            <a:ext cx="4608576" cy="846826"/>
          </a:xfrm>
          <a:prstGeom prst="rect">
            <a:avLst/>
          </a:prstGeom>
          <a:solidFill>
            <a:srgbClr val="FFFEFA"/>
          </a:solidFill>
          <a:ln w="12700">
            <a:solidFill>
              <a:srgbClr val="FFFE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51776" y="3973708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· 项目级桌面工作台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903720" y="5650992"/>
            <a:ext cx="5287975" cy="1207008"/>
          </a:xfrm>
          <a:prstGeom prst="rect">
            <a:avLst/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548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7EC5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GENESIS HACKATHON</a:t>
            </a:r>
            <a:endParaRPr lang="en-US" sz="1100" dirty="0"/>
          </a:p>
        </p:txBody>
      </p:sp>
      <p:pic>
        <p:nvPicPr>
          <p:cNvPr id="9" name="Image 1" descr="/Users/mac/Documents/MIMO Work/BAI-Work-macOS-Intel/src/asset/img/bai-work-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084955"/>
            <a:ext cx="5212080" cy="135967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" y="2651760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项目级轻量 Agent 工作台</a:t>
            </a:r>
            <a:endParaRPr lang="en-US" sz="3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3364992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5CDD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更短执行链 · 更小故障域 · 更清晰产物闭环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58368" y="4224528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4233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秒配置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2167128" y="4224528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40280" y="4233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单项目执行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675888" y="4224528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749040" y="423367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 Economy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58368" y="4727448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473659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EBAI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2167128" y="4727448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240280" y="473659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三平台交付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619963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9939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项目答辩 · 2026.07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7296912" y="5925312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 API Key 到可验收产物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296912" y="6291072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1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 Intel · Mac Apple Silicon · Windows x64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BAI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为什么需要 BAI Work：项目任务要求“连续交付”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产品定义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536192"/>
            <a:ext cx="10561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真实知识工作不是一次问答，而是上下文进入、工具执行、过程反馈、产物审阅与后续复用的连续系统。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58368" y="2395728"/>
            <a:ext cx="3456432" cy="2176272"/>
          </a:xfrm>
          <a:prstGeom prst="roundRect">
            <a:avLst>
              <a:gd name="adj" fmla="val 3361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" y="2633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86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上下文割裂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6576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项目、文件、版本状态与会话历史分散，重复传递成本高。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25696" y="2395728"/>
            <a:ext cx="3456432" cy="2176272"/>
          </a:xfrm>
          <a:prstGeom prst="roundRect">
            <a:avLst>
              <a:gd name="adj" fmla="val 3361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5152" y="2633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B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45152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过程不可观测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36576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长任务只有等待或原始日志，难以判断当前状态和失败位置。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2395728"/>
            <a:ext cx="3456432" cy="2176272"/>
          </a:xfrm>
          <a:prstGeom prst="roundRect">
            <a:avLst>
              <a:gd name="adj" fmla="val 3361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0" y="2633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559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交付不可验收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6576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回答与工具过程混在一起，产物、差异和验证证据缺少结构。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051560" y="5074920"/>
            <a:ext cx="10076688" cy="841248"/>
          </a:xfrm>
          <a:prstGeom prst="roundRect">
            <a:avLst>
              <a:gd name="adj" fmla="val 869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98448" y="5230368"/>
            <a:ext cx="9582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= 项目上下文 + 本地执行 + 可观测状态机 + 可审阅产物 + 受信任能力层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产品原则：以任务到产物的闭环效率为主目标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19</a:t>
            </a:r>
            <a:endParaRPr lang="en-US" sz="8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THIRTY-SECOND ONBOARDING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秒配置路径：API Key 进入，模型能力自动就绪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极简上手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554480"/>
            <a:ext cx="987552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63624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典型路径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" y="2048256"/>
            <a:ext cx="18836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22219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57860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 API Key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2971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Main-Process Credential Isolation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60320" y="2724912"/>
            <a:ext cx="29260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926080" y="2048256"/>
            <a:ext cx="18836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72384" y="22219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072384" y="257860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探测服务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072384" y="2971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 Canonicalization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28032" y="2724912"/>
            <a:ext cx="29260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93792" y="2048256"/>
            <a:ext cx="18836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0096" y="22219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340096" y="257860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拉取模型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340096" y="2971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 /v1/models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095744" y="2724912"/>
            <a:ext cx="29260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61504" y="2048256"/>
            <a:ext cx="18836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07808" y="22219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18s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07808" y="257860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能力分类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607808" y="2971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Capability-Aware Discovery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363456" y="2724912"/>
            <a:ext cx="29260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729216" y="2048256"/>
            <a:ext cx="1883664" cy="1389888"/>
          </a:xfrm>
          <a:prstGeom prst="roundRect">
            <a:avLst>
              <a:gd name="adj" fmla="val 5263"/>
            </a:avLst>
          </a:prstGeom>
          <a:solidFill>
            <a:srgbClr val="DDEBE3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75520" y="22219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0" y="257860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保存并使用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0" y="297180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Idempotent Set Merge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8368" y="3977640"/>
            <a:ext cx="6720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6112" y="42245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实现机制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920240" y="4297680"/>
            <a:ext cx="73152" cy="7315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103120" y="4160520"/>
            <a:ext cx="4956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凭据只在主进程中参与请求，避免渲染层暴露与跨域约束。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920240" y="4727448"/>
            <a:ext cx="73152" cy="7315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103120" y="4590288"/>
            <a:ext cx="4956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统一规范化 Base URL，8 秒模型列表超时与 10 秒连通性探测。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920240" y="5157216"/>
            <a:ext cx="73152" cy="7315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103120" y="5020056"/>
            <a:ext cx="4956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去重模型 ID，按文本对话能力过滤，并与已有配置幂等合并。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635240" y="3977640"/>
            <a:ext cx="3886200" cy="1600200"/>
          </a:xfrm>
          <a:prstGeom prst="roundRect">
            <a:avLst>
              <a:gd name="adj" fmla="val 4571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6992" y="4224528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用户感知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936992" y="46177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无需编辑配置文件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无需手工录入模型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无需理解运行时参数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" y="5925312"/>
            <a:ext cx="10287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实际完成时间取决于网络与 API 可用性；30 秒是典型配置目标，不是网络 SLA。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实现证据：provider connection · model discovery · protocol URL normalization</a:t>
            </a:r>
            <a:endParaRPr lang="en-US" sz="830" dirty="0"/>
          </a:p>
        </p:txBody>
      </p:sp>
      <p:sp>
        <p:nvSpPr>
          <p:cNvPr id="46" name="Text 44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19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STORY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现场演示：从一句任务到可验收产物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用户流程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" y="1536192"/>
            <a:ext cx="6537960" cy="4462272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pic>
        <p:nvPicPr>
          <p:cNvPr id="8" name="Image 0" descr="/Users/mac/Documents/MIMO Work/BAI-Work-macOS-Intel/docs/screenshots/bai-work-home-cur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670066"/>
            <a:ext cx="6391656" cy="41945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76656" y="4813030"/>
            <a:ext cx="6391656" cy="1051560"/>
          </a:xfrm>
          <a:prstGeom prst="rect">
            <a:avLst/>
          </a:prstGeom>
          <a:solidFill>
            <a:srgbClr val="FFFEFA"/>
          </a:solidFill>
          <a:ln w="12700">
            <a:solidFill>
              <a:srgbClr val="FFFE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" y="5210794"/>
            <a:ext cx="602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· 项目级桌面工作台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79792" y="162763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52944" y="1636776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演示任务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479792" y="20116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“检查当前项目，持续展示推进过程，并交付可验证结果。”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479792" y="29077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79792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028432" y="2880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选择项目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28432" y="3163824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项目、文件与版本状态进入上下文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479792" y="363016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360273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启动执行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28432" y="38862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规划、工具动作与等待状态持续可见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479792" y="435254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79792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028432" y="43251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审阅结果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28432" y="460857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回答、产物、差异与验证证据分离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479792" y="5074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479792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028432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沉淀能力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28432" y="533095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规则、技能与记忆进入后续任务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现场演示使用当前 Mac Intel x86_64 构建</a:t>
            </a:r>
            <a:endParaRPr lang="en-US" sz="830" dirty="0"/>
          </a:p>
        </p:txBody>
      </p:sp>
      <p:sp>
        <p:nvSpPr>
          <p:cNvPr id="31" name="Text 28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19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COMPLETENESS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产品完成度：一个工作面覆盖完整任务生命周期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产品能力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64208"/>
            <a:ext cx="3456432" cy="1097280"/>
          </a:xfrm>
          <a:prstGeom prst="roundRect">
            <a:avLst>
              <a:gd name="adj" fmla="val 6667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8288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8013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项目与会话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58568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Workspace、历史与版本上下文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1664208"/>
            <a:ext cx="3456432" cy="1097280"/>
          </a:xfrm>
          <a:prstGeom prst="roundRect">
            <a:avLst>
              <a:gd name="adj" fmla="val 6667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9432" y="18288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18013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模型与服务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258568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默认与标准兼容协议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1664208"/>
            <a:ext cx="3456432" cy="1097280"/>
          </a:xfrm>
          <a:prstGeom prst="roundRect">
            <a:avLst>
              <a:gd name="adj" fmla="val 6667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75904" y="18288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851392" y="18013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实时进度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258568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步骤、工具摘要与错误恢复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8368" y="3035808"/>
            <a:ext cx="3456432" cy="1097280"/>
          </a:xfrm>
          <a:prstGeom prst="roundRect">
            <a:avLst>
              <a:gd name="adj" fmla="val 666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2004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31729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文件与产物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630168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引用、预览、差异与文档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34840" y="3035808"/>
            <a:ext cx="3456432" cy="1097280"/>
          </a:xfrm>
          <a:prstGeom prst="roundRect">
            <a:avLst>
              <a:gd name="adj" fmla="val 666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99432" y="32004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31729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长期记忆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3630168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用户、工作区与项目作用域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11312" y="3035808"/>
            <a:ext cx="3456432" cy="1097280"/>
          </a:xfrm>
          <a:prstGeom prst="roundRect">
            <a:avLst>
              <a:gd name="adj" fmla="val 666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75904" y="32004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851392" y="31729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能力扩展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375904" y="3630168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EBAI、技能与任务自动化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4617720"/>
            <a:ext cx="1086307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" y="4828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3559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900" dirty="0"/>
          </a:p>
        </p:txBody>
      </p:sp>
      <p:sp>
        <p:nvSpPr>
          <p:cNvPr id="33" name="Text 31"/>
          <p:cNvSpPr txBox="1"/>
          <p:nvPr/>
        </p:nvSpPr>
        <p:spPr>
          <a:xfrm>
            <a:off x="896112" y="5303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桌面目标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96112" y="559612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mac-x64 / mac-arm64 / win-x64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017520" y="4828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B7A7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29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5303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本地运行时路由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017520" y="559612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稳定的桌面服务边界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38928" y="4828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87B1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277</a:t>
            </a:r>
            <a:endParaRPr lang="en-US" sz="2900" dirty="0"/>
          </a:p>
        </p:txBody>
      </p:sp>
      <p:sp>
        <p:nvSpPr>
          <p:cNvPr id="39" name="Text 37"/>
          <p:cNvSpPr txBox="1"/>
          <p:nvPr/>
        </p:nvSpPr>
        <p:spPr>
          <a:xfrm>
            <a:off x="5138928" y="5303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可迁移技能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138928" y="559612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EBAI 可映射 surface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260336" y="4828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86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101</a:t>
            </a:r>
            <a:endParaRPr lang="en-US" sz="2900" dirty="0"/>
          </a:p>
        </p:txBody>
      </p:sp>
      <p:sp>
        <p:nvSpPr>
          <p:cNvPr id="42" name="Text 40"/>
          <p:cNvSpPr txBox="1"/>
          <p:nvPr/>
        </p:nvSpPr>
        <p:spPr>
          <a:xfrm>
            <a:off x="7260336" y="5303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去重命令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260336" y="559612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面向斜杠命令入口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9381744" y="4828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3977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900" dirty="0"/>
          </a:p>
        </p:txBody>
      </p:sp>
      <p:sp>
        <p:nvSpPr>
          <p:cNvPr id="45" name="Text 43"/>
          <p:cNvSpPr txBox="1"/>
          <p:nvPr/>
        </p:nvSpPr>
        <p:spPr>
          <a:xfrm>
            <a:off x="9381744" y="5303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连续工作流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381744" y="559612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任务到产物再到复用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当前实现证据：README · runtime adapter · EBAI mapping tests</a:t>
            </a:r>
            <a:endParaRPr lang="en-US" sz="830" dirty="0"/>
          </a:p>
        </p:txBody>
      </p:sp>
      <p:sp>
        <p:nvSpPr>
          <p:cNvPr id="48" name="Text 46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19</a:t>
            </a:r>
            <a:endParaRPr lang="en-US" sz="8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LIGHTWEIGHT RUNTIME ARCHITECTURE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技术实现：单一 Runtime Host 收敛桌面复杂度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系统架构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938528"/>
            <a:ext cx="1847088" cy="1572768"/>
          </a:xfrm>
          <a:prstGeom prst="roundRect">
            <a:avLst>
              <a:gd name="adj" fmla="val 4651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17627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670048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工作台 UI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会话 / 设置 / 审阅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32888" y="2734056"/>
            <a:ext cx="320040" cy="0"/>
          </a:xfrm>
          <a:prstGeom prst="line">
            <a:avLst/>
          </a:prstGeom>
          <a:noFill/>
          <a:ln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16936" y="1938528"/>
            <a:ext cx="1847088" cy="1572768"/>
          </a:xfrm>
          <a:prstGeom prst="roundRect">
            <a:avLst>
              <a:gd name="adj" fmla="val 4651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26664" y="217627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Preload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44952" y="2670048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最小 IPC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受控桌面能力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91456" y="2734056"/>
            <a:ext cx="320040" cy="0"/>
          </a:xfrm>
          <a:prstGeom prst="line">
            <a:avLst/>
          </a:prstGeom>
          <a:noFill/>
          <a:ln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75504" y="1938528"/>
            <a:ext cx="1847088" cy="1572768"/>
          </a:xfrm>
          <a:prstGeom prst="roundRect">
            <a:avLst>
              <a:gd name="adj" fmla="val 4651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85232" y="217627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Host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2670048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凭据 / 文件 / 生命周期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单一运行时入口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50024" y="2734056"/>
            <a:ext cx="320040" cy="0"/>
          </a:xfrm>
          <a:prstGeom prst="line">
            <a:avLst/>
          </a:prstGeom>
          <a:noFill/>
          <a:ln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34072" y="1938528"/>
            <a:ext cx="1847088" cy="1572768"/>
          </a:xfrm>
          <a:prstGeom prst="roundRect">
            <a:avLst>
              <a:gd name="adj" fmla="val 4651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43800" y="217627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Loopback API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562088" y="2670048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 /v1/*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SSE 事件边界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308592" y="2734056"/>
            <a:ext cx="320040" cy="0"/>
          </a:xfrm>
          <a:prstGeom prst="line">
            <a:avLst/>
          </a:prstGeom>
          <a:noFill/>
          <a:ln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92640" y="1938528"/>
            <a:ext cx="1847088" cy="1572768"/>
          </a:xfrm>
          <a:prstGeom prst="roundRect">
            <a:avLst>
              <a:gd name="adj" fmla="val 4651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02368" y="2176272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 Code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820656" y="2670048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模型调用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工具执行 / 上下文压缩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4078224"/>
            <a:ext cx="69037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6112" y="4315968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协议隔离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847088" y="4251960"/>
            <a:ext cx="5330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上游 CLI 与服务契约的变化只进入 Runtime Host；Renderer 始终面对稳定的本地事件模型。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4828032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结果：运行时可替换、桌面流程连续、错误可清洗、测试边界清晰。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818120" y="4078224"/>
            <a:ext cx="3703320" cy="1298448"/>
          </a:xfrm>
          <a:prstGeom prst="roundRect">
            <a:avLst>
              <a:gd name="adj" fmla="val 5634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19872" y="431596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轻量拓扑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119872" y="4645152"/>
            <a:ext cx="3090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单进程主机 · 本机回环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项目级状态 · 最短交付路径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实现证据：runtime host · preload IPC · streaming adapter</a:t>
            </a:r>
            <a:endParaRPr lang="en-US" sz="830" dirty="0"/>
          </a:p>
        </p:txBody>
      </p:sp>
      <p:sp>
        <p:nvSpPr>
          <p:cNvPr id="34" name="Text 32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19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 WORK VS BAI-CLAW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主要差异化：为项目交付重新选择架构目标函数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架构差异化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51790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比较的不是功能多少，而是架构是否匹配目标任务。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8368" y="2029968"/>
            <a:ext cx="5230368" cy="3493008"/>
          </a:xfrm>
          <a:prstGeom prst="roundRect">
            <a:avLst>
              <a:gd name="adj" fmla="val 2094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286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731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BAI-Claw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005072" y="231343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78224" y="2322576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通用个人 Agent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990088"/>
            <a:ext cx="73152" cy="73152"/>
          </a:xfrm>
          <a:prstGeom prst="rect">
            <a:avLst/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85292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 Agent、外部通信通道与定时任务并列编排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3538728"/>
            <a:ext cx="73152" cy="73152"/>
          </a:xfrm>
          <a:prstGeom prst="rect">
            <a:avLst/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34015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全局 Agent、Channel、Skill 与 Scheduler 状态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087368"/>
            <a:ext cx="73152" cy="73152"/>
          </a:xfrm>
          <a:prstGeom prst="rect">
            <a:avLst/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9502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面向跨入口通信和持续自动化的广覆盖目标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4636008"/>
            <a:ext cx="73152" cy="73152"/>
          </a:xfrm>
          <a:prstGeom prst="rect">
            <a:avLst/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449884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在单项目交付场景中存在额外组件与状态域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91072" y="2029968"/>
            <a:ext cx="5230368" cy="3493008"/>
          </a:xfrm>
          <a:prstGeom prst="roundRect">
            <a:avLst>
              <a:gd name="adj" fmla="val 2094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22860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7A7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BAI Work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601200" y="2313432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74352" y="2322576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项目级工作台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65392" y="299008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285292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Workspace → Runtime Host → BAI Code 的短路径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65392" y="353872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48272" y="34015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状态、权限、产物与记忆围绕当前项目收敛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65392" y="408736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8272" y="39502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面向交互式工程与知识产物的闭环目标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565392" y="4636008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48272" y="449884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更少网关跳数、更小故障域、更直接验收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143000" y="5779008"/>
            <a:ext cx="9902952" cy="475488"/>
          </a:xfrm>
          <a:prstGeom prst="roundRect">
            <a:avLst>
              <a:gd name="adj" fmla="val 15385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353312" y="5852160"/>
            <a:ext cx="9482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项目级任务中的架构优势：路径更短 → Failure Boundary 更少 → 进度更清晰 → 产物更快进入验收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官方定位依据：docs.b.ai/baiclaw/introduction · 项目架构依据：BAI Work runtime host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19</a:t>
            </a:r>
            <a:endParaRPr lang="en-US" sz="8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OBSERVABILITY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可观测执行：把长任务转换为确定性状态机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过程体验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773936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2376" y="1975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377440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目标与约束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21992" y="2304288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14600" y="1773936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24328" y="1975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624328" y="2377440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流式运行时输出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23944" y="2304288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16552" y="1773936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DDECEA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1975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归一化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377440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去重 / 分类 / 清洗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25896" y="2304288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18504" y="1773936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DDECEA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28232" y="1975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时间线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2377440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步骤 / 工具 / 等待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927848" y="2304288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220456" y="1773936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30184" y="1975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2377440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摘要 / 产物 / 验证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829800" y="2304288"/>
            <a:ext cx="246888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122408" y="1773936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32136" y="1975104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用量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0232136" y="2377440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可得则展示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3101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74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原始输出问题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8368" y="3639312"/>
            <a:ext cx="5212080" cy="1444752"/>
          </a:xfrm>
          <a:prstGeom prst="roundRect">
            <a:avLst>
              <a:gd name="adj" fmla="val 5063"/>
            </a:avLst>
          </a:prstGeom>
          <a:solidFill>
            <a:srgbClr val="F1DEDE"/>
          </a:solidFill>
          <a:ln w="12700">
            <a:solidFill>
              <a:srgbClr val="F1DE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" y="3913632"/>
            <a:ext cx="4663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4474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工具语法与状态句混排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A4474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连接错误堆栈污染聊天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A4474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长时间无反馈，最终整段堆积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327648" y="33101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呈现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09360" y="3639312"/>
            <a:ext cx="5212080" cy="1444752"/>
          </a:xfrm>
          <a:prstGeom prst="roundRect">
            <a:avLst>
              <a:gd name="adj" fmla="val 5063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913632"/>
            <a:ext cx="4663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正在检查工作区 → 已运行 6 条命令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连接中断：可重试并保留有效上下文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完成后只留下结论、产物与验证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2029968" y="5532120"/>
            <a:ext cx="8119872" cy="502920"/>
          </a:xfrm>
          <a:prstGeom prst="roundRect">
            <a:avLst>
              <a:gd name="adj" fmla="val 14545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249424" y="561441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只展示可验证状态，不暴露模型内部推理；Telemetry 缺失时显示不可用，不伪造零值。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实现证据：stream normalization · progress timeline · failure sanitization tests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19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ECONOMY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 Economy：用占用率门控替代无差别压缩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上下文算法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64208"/>
            <a:ext cx="3977640" cy="2084832"/>
          </a:xfrm>
          <a:prstGeom prst="roundRect">
            <a:avLst>
              <a:gd name="adj" fmla="val 3509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193852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E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线性近似 Token 估计器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505456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T̂ = floor(|C| / 3)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12724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D1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ρ = T̂ / T_max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956048" y="1664208"/>
            <a:ext cx="6565392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0368" y="1938528"/>
            <a:ext cx="6016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Occupancy-Ratio Threshold Gating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230368" y="2542032"/>
            <a:ext cx="1536192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0" y="255117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ρ &gt; 0.50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299923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工具输出裁剪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32320" y="2542032"/>
            <a:ext cx="1536192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05472" y="255117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ρ &gt; 0.70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299923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语义摘要压缩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34272" y="2542032"/>
            <a:ext cx="1536192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07424" y="255117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ρ &gt; 0.90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34272" y="299923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紧急上下文收敛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4160520"/>
            <a:ext cx="10863072" cy="1353312"/>
          </a:xfrm>
          <a:prstGeom prst="roundRect">
            <a:avLst>
              <a:gd name="adj" fmla="val 5405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" y="44256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算法目标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965960" y="4489704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4352544"/>
            <a:ext cx="8823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O(n) 单次扫描估计上下文占用，避免每轮都触发高成本精确计数。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965960" y="4873752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48840" y="4736592"/>
            <a:ext cx="8823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只在阈值越界时激活相应压缩层，低占用对话保持原始信息。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965960" y="5257800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48840" y="5120640"/>
            <a:ext cx="8823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优先保留最新窗口、任务约束和可验证结果，降低重复历史回传。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98448" y="585216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这不是“删得更多”，而是按上下文风险分级选择最小必要压缩。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运行时算法证据：BAI Code context manager · 官方支持 automatic context compression</a:t>
            </a:r>
            <a:endParaRPr lang="en-US" sz="830" dirty="0"/>
          </a:p>
        </p:txBody>
      </p:sp>
      <p:sp>
        <p:nvSpPr>
          <p:cNvPr id="32" name="Text 30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19</a:t>
            </a:r>
            <a:endParaRPr lang="en-US" sz="8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REDUCTION PIPELINE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三层压缩算法：从结构裁剪到语义收敛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算法细节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27632"/>
            <a:ext cx="10863072" cy="1097280"/>
          </a:xfrm>
          <a:prstGeom prst="roundRect">
            <a:avLst>
              <a:gd name="adj" fmla="val 6667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810512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9264" y="1819656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17922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Role-Aware Head–Tail Truncation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22219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工具消息 &gt; 1,500 字符且 &gt; 6 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179222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仅处理 tool role；保留首 3 行 + 尾 3 行，并插入省略行数。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185623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先消除高冗余命令输出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3017520"/>
            <a:ext cx="10863072" cy="1097280"/>
          </a:xfrm>
          <a:prstGeom prst="roundRect">
            <a:avLst>
              <a:gd name="adj" fmla="val 6667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3200400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9264" y="3209544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664208" y="3182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Recent-Window Semantic Compaction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664208" y="36118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ρ &gt; 0.70 且消息数 &gt; 10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193792" y="3182112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旧消息进入语义摘要；最近 8 条消息保持原文，摘要失败时降级提取。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保护近期意图与执行连续性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4407408"/>
            <a:ext cx="10863072" cy="1097280"/>
          </a:xfrm>
          <a:prstGeom prst="roundRect">
            <a:avLst>
              <a:gd name="adj" fmla="val 6667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6112" y="4590288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" y="4599432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64208" y="45720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Emergency Hard Collapse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50017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ρ &gt; 0.90 且消息数 &gt; 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93792" y="457200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保留摘要与最近 4 条消息；极小列表保留最近 2 条。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46360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在硬上限前恢复可生成空间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8368" y="5870448"/>
            <a:ext cx="10863072" cy="365760"/>
          </a:xfrm>
          <a:prstGeom prst="roundRect">
            <a:avLst>
              <a:gd name="adj" fmla="val 20000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" y="5925312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运行时同时保留手动 compact 入口；自动策略负责守住上下文上限，用户仍可主动控制压缩时机。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阈值与窗口大小来自当前 packaged BAI Code runtime；不宣称未经测量的节省比例</a:t>
            </a:r>
            <a:endParaRPr lang="en-US" sz="830" dirty="0"/>
          </a:p>
        </p:txBody>
      </p:sp>
      <p:sp>
        <p:nvSpPr>
          <p:cNvPr id="31" name="Text 29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19</a:t>
            </a:r>
            <a:endParaRPr lang="en-US" sz="8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EBAI TECHNICAL PIPELINE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EBAI：把外部能力资产转译为 BAI 原生结构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能力兼容层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10512"/>
            <a:ext cx="1554480" cy="1481328"/>
          </a:xfrm>
          <a:prstGeom prst="roundRect">
            <a:avLst>
              <a:gd name="adj" fmla="val 4938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0299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 Index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2542032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递归索引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版本与来源记录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084832" y="2560320"/>
            <a:ext cx="246888" cy="0"/>
          </a:xfrm>
          <a:prstGeom prst="line">
            <a:avLst/>
          </a:prstGeom>
          <a:noFill/>
          <a:ln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04872" y="1810512"/>
            <a:ext cx="1554480" cy="1481328"/>
          </a:xfrm>
          <a:prstGeom prst="roundRect">
            <a:avLst>
              <a:gd name="adj" fmla="val 4938"/>
            </a:avLst>
          </a:prstGeom>
          <a:solidFill>
            <a:srgbClr val="F1DEDE"/>
          </a:solidFill>
          <a:ln w="12700">
            <a:solidFill>
              <a:srgbClr val="F1DE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96312" y="20299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47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542032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路径校验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大小与数量上限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86784" y="2560320"/>
            <a:ext cx="246888" cy="0"/>
          </a:xfrm>
          <a:prstGeom prst="line">
            <a:avLst/>
          </a:prstGeom>
          <a:noFill/>
          <a:ln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306824" y="1810512"/>
            <a:ext cx="1554480" cy="1481328"/>
          </a:xfrm>
          <a:prstGeom prst="roundRect">
            <a:avLst>
              <a:gd name="adj" fmla="val 4938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98264" y="20299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Staging Cache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542032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并发下载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随机暂存目录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88736" y="2560320"/>
            <a:ext cx="246888" cy="0"/>
          </a:xfrm>
          <a:prstGeom prst="line">
            <a:avLst/>
          </a:prstGeom>
          <a:noFill/>
          <a:ln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08776" y="1810512"/>
            <a:ext cx="1554480" cy="1481328"/>
          </a:xfrm>
          <a:prstGeom prst="roundRect">
            <a:avLst>
              <a:gd name="adj" fmla="val 4938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20299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Atomic Swap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2542032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完整后 rename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避免半安装状态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90688" y="2560320"/>
            <a:ext cx="246888" cy="0"/>
          </a:xfrm>
          <a:prstGeom prst="line">
            <a:avLst/>
          </a:prstGeom>
          <a:noFill/>
          <a:ln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0728" y="1810512"/>
            <a:ext cx="1554480" cy="1481328"/>
          </a:xfrm>
          <a:prstGeom prst="roundRect">
            <a:avLst>
              <a:gd name="adj" fmla="val 4938"/>
            </a:avLst>
          </a:prstGeom>
          <a:solidFill>
            <a:srgbClr val="F4E7C8"/>
          </a:solidFill>
          <a:ln w="12700">
            <a:solidFill>
              <a:srgbClr val="F4E7C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02168" y="20299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Semantic Mapper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0456" y="2542032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命令 / Agent / Rule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 / Hook 转译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92640" y="2560320"/>
            <a:ext cx="246888" cy="0"/>
          </a:xfrm>
          <a:prstGeom prst="line">
            <a:avLst/>
          </a:prstGeom>
          <a:noFill/>
          <a:ln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012680" y="1810512"/>
            <a:ext cx="1554480" cy="1481328"/>
          </a:xfrm>
          <a:prstGeom prst="roundRect">
            <a:avLst>
              <a:gd name="adj" fmla="val 4938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104120" y="20299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 Home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122408" y="2542032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用户目录与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项目作用域目标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" y="3794760"/>
            <a:ext cx="52120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" y="40599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资源约束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874520" y="4123944"/>
            <a:ext cx="73152" cy="73152"/>
          </a:xfrm>
          <a:prstGeom prst="rect">
            <a:avLst/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057400" y="3986784"/>
            <a:ext cx="3474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最多 3,000 文件 · 单文件 2 MiB · 总量 96 MiB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874520" y="4517136"/>
            <a:ext cx="73152" cy="73152"/>
          </a:xfrm>
          <a:prstGeom prst="rect">
            <a:avLst/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057400" y="4379976"/>
            <a:ext cx="3474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下载并发度 8；拒绝绝对路径、反斜杠与路径穿越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1874520" y="4910328"/>
            <a:ext cx="73152" cy="73152"/>
          </a:xfrm>
          <a:prstGeom prst="rect">
            <a:avLst/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057400" y="4773168"/>
            <a:ext cx="3474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标记 source / ref / commit / file count，支持追溯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144768" y="3794760"/>
            <a:ext cx="5376672" cy="1554480"/>
          </a:xfrm>
          <a:prstGeom prst="roundRect">
            <a:avLst>
              <a:gd name="adj" fmla="val 470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19088" y="40599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安装目标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0" y="3950208"/>
            <a:ext cx="35844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~/.bai/commands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~/.bai/skills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~/.bai/skills/ebai-rules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~/.bai/ebai/hooks/hooks.toml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115568" y="57972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EBAI 不是文本替换，而是带来源、冲突处理与安全约束的语义迁移。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实现证据：EBAI source service · EBAI mapping service · mapping tests</a:t>
            </a:r>
            <a:endParaRPr lang="en-US" sz="830" dirty="0"/>
          </a:p>
        </p:txBody>
      </p:sp>
      <p:sp>
        <p:nvSpPr>
          <p:cNvPr id="43" name="Text 41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19</a:t>
            </a:r>
            <a:endParaRPr lang="en-US" sz="8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PROJECT-SCOPED HOOKS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EBAI Hooks：转换能力，但不自动扩大执行权限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可信执行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27632"/>
            <a:ext cx="4983480" cy="4315968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87452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事件语义转换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39572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PreToolUse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87168" y="2523744"/>
            <a:ext cx="475488" cy="0"/>
          </a:xfrm>
          <a:prstGeom prst="line">
            <a:avLst/>
          </a:prstGeom>
          <a:noFill/>
          <a:ln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127248" y="239572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tool_call_before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85292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PostToolUse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87168" y="2980944"/>
            <a:ext cx="475488" cy="0"/>
          </a:xfrm>
          <a:prstGeom prst="line">
            <a:avLst/>
          </a:prstGeom>
          <a:noFill/>
          <a:ln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127248" y="285292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tool_call_after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31012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SessionStart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87168" y="3438144"/>
            <a:ext cx="475488" cy="0"/>
          </a:xfrm>
          <a:prstGeom prst="line">
            <a:avLst/>
          </a:prstGeom>
          <a:noFill/>
          <a:ln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127248" y="331012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session_start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376732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SessionEnd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87168" y="3895344"/>
            <a:ext cx="475488" cy="0"/>
          </a:xfrm>
          <a:prstGeom prst="line">
            <a:avLst/>
          </a:prstGeom>
          <a:noFill/>
          <a:ln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3127248" y="376732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session_end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422452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487168" y="4352544"/>
            <a:ext cx="475488" cy="0"/>
          </a:xfrm>
          <a:prstGeom prst="line">
            <a:avLst/>
          </a:prstGeom>
          <a:noFill/>
          <a:ln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127248" y="422452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turn_end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" y="468172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UserPromptSubmit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487168" y="4809744"/>
            <a:ext cx="475488" cy="0"/>
          </a:xfrm>
          <a:prstGeom prst="line">
            <a:avLst/>
          </a:prstGeom>
          <a:noFill/>
          <a:ln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127248" y="468172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message_submit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61888" y="1627632"/>
            <a:ext cx="5559552" cy="4315968"/>
          </a:xfrm>
          <a:prstGeom prst="roundRect">
            <a:avLst>
              <a:gd name="adj" fmla="val 1695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18745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2BE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默认安全策略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6309360" y="2624328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248716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全局 manifest 始终 enabled = false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09360" y="3127248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92240" y="299008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启用必须显式选择受信任 workspace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309360" y="3630168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92240" y="349300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只写入 &lt;workspace&gt;/.bai/hooks.toml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09360" y="4133088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92240" y="399592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复制规则时拒绝符号链接与不安全路径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309360" y="4636008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0" y="449884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外部可执行脚本必须用户主动授权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309360" y="5138928"/>
            <a:ext cx="73152" cy="7315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92240" y="5001768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支持 dry-run、force、overwrite 与 skip 摘要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19088" y="546811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A44747"/>
          </a:solidFill>
          <a:ln w="12700">
            <a:solidFill>
              <a:srgbClr val="A4474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92240" y="547725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默认关闭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891272" y="5468112"/>
            <a:ext cx="1353312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64424" y="5477256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项目作用域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482328" y="546811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555480" y="547725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显式信任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安全原则：安装不等于执行；能力转译不等于隐式信任</a:t>
            </a:r>
            <a:endParaRPr lang="en-US" sz="830" dirty="0"/>
          </a:p>
        </p:txBody>
      </p:sp>
      <p:sp>
        <p:nvSpPr>
          <p:cNvPr id="48" name="Text 46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19</a:t>
            </a:r>
            <a:endParaRPr lang="en-US" sz="8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EXECUTION LOOP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深度：上下文、工具、产物与验证构成闭环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系统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00200"/>
            <a:ext cx="6748272" cy="4462272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1993392"/>
            <a:ext cx="2331720" cy="932688"/>
          </a:xfrm>
          <a:prstGeom prst="roundRect">
            <a:avLst>
              <a:gd name="adj" fmla="val 7843"/>
            </a:avLst>
          </a:prstGeom>
          <a:solidFill>
            <a:srgbClr val="F6F6F3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99032" y="213969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上下文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99032" y="25146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Workspace · 文件 · 版本 · 记忆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26280" y="1993392"/>
            <a:ext cx="2331720" cy="932688"/>
          </a:xfrm>
          <a:prstGeom prst="roundRect">
            <a:avLst>
              <a:gd name="adj" fmla="val 7843"/>
            </a:avLst>
          </a:prstGeom>
          <a:solidFill>
            <a:srgbClr val="F6F6F3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0872" y="213969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25146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目标拆解与约束解析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26280" y="4005072"/>
            <a:ext cx="2331720" cy="932688"/>
          </a:xfrm>
          <a:prstGeom prst="roundRect">
            <a:avLst>
              <a:gd name="adj" fmla="val 7843"/>
            </a:avLst>
          </a:prstGeom>
          <a:solidFill>
            <a:srgbClr val="F6F6F3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90872" y="415137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90872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命令 · 文件 · 检索 · 技能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34440" y="4005072"/>
            <a:ext cx="2331720" cy="932688"/>
          </a:xfrm>
          <a:prstGeom prst="roundRect">
            <a:avLst>
              <a:gd name="adj" fmla="val 7843"/>
            </a:avLst>
          </a:prstGeom>
          <a:solidFill>
            <a:srgbClr val="F6F6F3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99032" y="415137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产物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99032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代码 · 文档 · 图表 · 差异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02736" y="2468880"/>
            <a:ext cx="841248" cy="0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687568" y="2962656"/>
            <a:ext cx="0" cy="932688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453128" y="4480560"/>
            <a:ext cx="-841248" cy="0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395728" y="3931920"/>
            <a:ext cx="0" cy="-896112"/>
          </a:xfrm>
          <a:prstGeom prst="line">
            <a:avLst/>
          </a:prstGeom>
          <a:noFill/>
          <a:ln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395728" y="3145536"/>
            <a:ext cx="3822192" cy="640080"/>
          </a:xfrm>
          <a:prstGeom prst="roundRect">
            <a:avLst>
              <a:gd name="adj" fmla="val 11429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615184" y="325526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验证门：结果一致性 · 文件存在性 · 测试与运行证据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26680" y="1600200"/>
            <a:ext cx="3794760" cy="4462272"/>
          </a:xfrm>
          <a:prstGeom prst="roundRect">
            <a:avLst>
              <a:gd name="adj" fmla="val 1928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28432" y="1920240"/>
            <a:ext cx="3182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系统级 AI 应用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8138160" y="269748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21040" y="25603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多轮上下文与自动压缩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38160" y="320040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30632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基于事件流的工具执行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138160" y="370332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21040" y="35661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项目级权限与工作区边界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138160" y="420624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1040" y="40690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产物生成后的验证与摘要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138160" y="470916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21040" y="4572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长期记忆与能力复用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5212080"/>
            <a:ext cx="73152" cy="7315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21040" y="5074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DE4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可选的签名与发布溯源方向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的价值通过任务闭环证明；生态溯源作为未来方向，不包装为当前能力</a:t>
            </a:r>
            <a:endParaRPr lang="en-US" sz="830" dirty="0"/>
          </a:p>
        </p:txBody>
      </p:sp>
      <p:sp>
        <p:nvSpPr>
          <p:cNvPr id="41" name="Text 39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/ 19</a:t>
            </a:r>
            <a:endParaRPr lang="en-US" sz="8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MATRIX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竞争定位：BAI Work 连接模型能力与项目交付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竞争优势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64208"/>
            <a:ext cx="2029968" cy="493776"/>
          </a:xfrm>
          <a:prstGeom prst="roundRect">
            <a:avLst>
              <a:gd name="adj" fmla="val 14815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755648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比较维度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88336" y="1664208"/>
            <a:ext cx="2926080" cy="493776"/>
          </a:xfrm>
          <a:prstGeom prst="roundRect">
            <a:avLst>
              <a:gd name="adj" fmla="val 14815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79776" y="1755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1664208"/>
            <a:ext cx="2743200" cy="493776"/>
          </a:xfrm>
          <a:prstGeom prst="roundRect">
            <a:avLst>
              <a:gd name="adj" fmla="val 14815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1755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BAI-Claw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49056" y="1664208"/>
            <a:ext cx="3072384" cy="493776"/>
          </a:xfrm>
          <a:prstGeom prst="roundRect">
            <a:avLst>
              <a:gd name="adj" fmla="val 14815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40496" y="17556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Code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2304288"/>
            <a:ext cx="108630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39572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核心定位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816352" y="239572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项目级桌面工作台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833872" y="239572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通用个人 Agent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613648" y="239572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命令行执行引擎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2889504"/>
            <a:ext cx="10863072" cy="530352"/>
          </a:xfrm>
          <a:prstGeom prst="rect">
            <a:avLst/>
          </a:prstGeom>
          <a:solidFill>
            <a:srgbClr val="F6F6F3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298094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状态作用域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816352" y="2980944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Workspace / Project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33872" y="2980944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/ Channel / Global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13648" y="2980944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Session / Process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3474720"/>
            <a:ext cx="108630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356616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主路径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2816352" y="3566160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任务 → 进度 → 产物 → 验证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3566160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消息 → 编排 → 自动化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613648" y="356616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指令 → 工具 → 输出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" y="4059936"/>
            <a:ext cx="10863072" cy="530352"/>
          </a:xfrm>
          <a:prstGeom prst="rect">
            <a:avLst/>
          </a:prstGeom>
          <a:solidFill>
            <a:srgbClr val="F6F6F3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415137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架构重点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2816352" y="4151376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短链路与最小故障域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833872" y="4151376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广覆盖与持续运行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613648" y="4151376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执行能力与上下文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8368" y="4645152"/>
            <a:ext cx="108630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4736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交付形态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816352" y="4736592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文件、差异、测试、摘要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833872" y="4736592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会话与自动化结果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613648" y="4736592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终端输出与会话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8368" y="5230368"/>
            <a:ext cx="10863072" cy="530352"/>
          </a:xfrm>
          <a:prstGeom prst="rect">
            <a:avLst/>
          </a:prstGeom>
          <a:solidFill>
            <a:srgbClr val="F6F6F3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2960" y="532180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产品关系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816352" y="532180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面向最终用户的交付层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833872" y="532180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主要差异化对象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8613648" y="5321808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底层能力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1005840" y="5961888"/>
            <a:ext cx="10168128" cy="347472"/>
          </a:xfrm>
          <a:prstGeom prst="roundRect">
            <a:avLst>
              <a:gd name="adj" fmla="val 21053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207008" y="6007608"/>
            <a:ext cx="9765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结论：BAI-Claw 是主要差异化对象；BAI Code 是被 BAI Work 产品化、可视化和工程化的底层执行能力。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定位依据：BAI 官方产品文档 · BAI Work 当前实现</a:t>
            </a:r>
            <a:endParaRPr lang="en-US" sz="830" dirty="0"/>
          </a:p>
        </p:txBody>
      </p:sp>
      <p:sp>
        <p:nvSpPr>
          <p:cNvPr id="48" name="Text 46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/ 19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PROOF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工程证据：不是原型截图，而是可构建的软件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交付验证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64208"/>
            <a:ext cx="2450592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865376"/>
            <a:ext cx="2048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3559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9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340864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桌面平台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633472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 Intel / Apple Silicon / Windows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01568" y="1664208"/>
            <a:ext cx="2450592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02736" y="1865376"/>
            <a:ext cx="2048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B7A7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168</a:t>
            </a:r>
            <a:endParaRPr lang="en-US" sz="290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2340864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测试文件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02736" y="2633472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 main、runtime、renderer 与服务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44768" y="1664208"/>
            <a:ext cx="2450592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1865376"/>
            <a:ext cx="2048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3977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1,144</a:t>
            </a:r>
            <a:endParaRPr lang="en-US" sz="29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2340864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自动化测试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2633472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完整测试基线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887968" y="1664208"/>
            <a:ext cx="2450592" cy="153619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89136" y="1865376"/>
            <a:ext cx="2048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86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0.9.1</a:t>
            </a:r>
            <a:endParaRPr lang="en-US" sz="2900" dirty="0"/>
          </a:p>
        </p:txBody>
      </p:sp>
      <p:sp>
        <p:nvSpPr>
          <p:cNvPr id="21" name="Text 19"/>
          <p:cNvSpPr txBox="1"/>
          <p:nvPr/>
        </p:nvSpPr>
        <p:spPr>
          <a:xfrm>
            <a:off x="9089136" y="2340864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Code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089136" y="2633472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69727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 Intel packaged runtime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" y="3675888"/>
            <a:ext cx="2331720" cy="512064"/>
          </a:xfrm>
          <a:prstGeom prst="roundRect">
            <a:avLst>
              <a:gd name="adj" fmla="val 14286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75818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macOS Intel x64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246120" y="37307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自包含 Python 3.11 + BAI Code runtime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577072" y="3767328"/>
            <a:ext cx="2651760" cy="310896"/>
          </a:xfrm>
          <a:prstGeom prst="roundRect">
            <a:avLst>
              <a:gd name="adj" fmla="val 23529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50224" y="3776472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本机构建与运行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370832"/>
            <a:ext cx="2331720" cy="512064"/>
          </a:xfrm>
          <a:prstGeom prst="roundRect">
            <a:avLst>
              <a:gd name="adj" fmla="val 1428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45312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macOS arm64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44256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官方运行时 wheelhouse + 用户目录环境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577072" y="4462272"/>
            <a:ext cx="2651760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50224" y="4471416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原生构建与 smoke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58368" y="5065776"/>
            <a:ext cx="2331720" cy="512064"/>
          </a:xfrm>
          <a:prstGeom prst="roundRect">
            <a:avLst>
              <a:gd name="adj" fmla="val 1428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148072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x64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246120" y="51206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 win_amd64 wheelhouse + 安装包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577072" y="5157216"/>
            <a:ext cx="2651760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50224" y="5166360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原生构建与 smoke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8368" y="5888736"/>
            <a:ext cx="10863072" cy="384048"/>
          </a:xfrm>
          <a:prstGeom prst="roundRect">
            <a:avLst>
              <a:gd name="adj" fmla="val 19048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96112" y="5943600"/>
            <a:ext cx="10378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31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验证链：typecheck → lint → unit tests → production build → desktop package → packaged runtime smoke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当前主版本：Mac Intel x86_64；其余平台保持同源实现与原生验证</a:t>
            </a:r>
            <a:endParaRPr lang="en-US" sz="830" dirty="0"/>
          </a:p>
        </p:txBody>
      </p:sp>
      <p:sp>
        <p:nvSpPr>
          <p:cNvPr id="41" name="Text 39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/ 19</a:t>
            </a:r>
            <a:endParaRPr lang="en-US" sz="8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目标用户：先占领高频、长链路的项目工作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市场切入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91640"/>
            <a:ext cx="3364992" cy="3584448"/>
          </a:xfrm>
          <a:prstGeom prst="roundRect">
            <a:avLst>
              <a:gd name="adj" fmla="val 2174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7824" y="1901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267712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个人开发者 / 研究者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0358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核心摩擦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364992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本地项目任务长、文件多、上下文重复传递。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42245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价值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553712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从问题到代码、文档和图表的一站式交付。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43400" y="1691640"/>
            <a:ext cx="3364992" cy="3584448"/>
          </a:xfrm>
          <a:prstGeom prst="roundRect">
            <a:avLst>
              <a:gd name="adj" fmla="val 2174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2856" y="1901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62856" y="2267712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小型研发团队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62856" y="30358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核心摩擦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62856" y="3364992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流程难复用，Agent 行为和权限口径难统一。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62856" y="42245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价值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62856" y="4553712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共享技能、规则、服务配置与审阅标准。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028432" y="1691640"/>
            <a:ext cx="3364992" cy="3584448"/>
          </a:xfrm>
          <a:prstGeom prst="roundRect">
            <a:avLst>
              <a:gd name="adj" fmla="val 2174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7888" y="19019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2267712"/>
            <a:ext cx="2880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生态用户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30358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核心摩擦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247888" y="3364992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底层执行能力缺少持续桌面入口与产物工作面。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422452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BAI Work 价值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4553712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模型、运行时与生态能力进入日常项目流程。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705856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首批验证不追求覆盖所有 AI 用户，而聚焦已有本地项目、愿意把完整任务交给 Agent 的用户。</a:t>
            </a:r>
            <a:endParaRPr lang="en-US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市场判断基于 Jobs-to-be-Done；不使用未经验证的市场规模数字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/ 19</a:t>
            </a:r>
            <a:endParaRPr lang="en-US" sz="8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SUBSIDY ACQUISITION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商业推广：受控补贴驱动首批高质量激活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商业增长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572768"/>
            <a:ext cx="1243584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819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建议实验方案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" y="2029968"/>
            <a:ext cx="24688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22494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限量 Cohort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70662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首批限量名额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按批次开放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19856" y="2029968"/>
            <a:ext cx="24688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02736" y="22494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半价折扣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02736" y="270662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模型使用费用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提供 50% 优惠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81344" y="2029968"/>
            <a:ext cx="24688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22494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7B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额度封顶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70662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单账户月度上限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控制补贴敞口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42832" y="2029968"/>
            <a:ext cx="2468880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25712" y="22494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限时验证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25712" y="270662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持续 8–12 周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到期自动复核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" y="3886200"/>
            <a:ext cx="6583680" cy="1508760"/>
          </a:xfrm>
          <a:prstGeom prst="roundRect">
            <a:avLst>
              <a:gd name="adj" fmla="val 4848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96112" y="41330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Activation-Gated Subsidy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46120" y="4178808"/>
            <a:ext cx="73152" cy="7315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29000" y="4041648"/>
            <a:ext cx="3429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绑定有效 API Key 并完成首个项目任务后激活优惠。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46120" y="4572000"/>
            <a:ext cx="73152" cy="7315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29000" y="4434840"/>
            <a:ext cx="3429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按账户、设备与异常使用信号控制重复领取。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246120" y="4965192"/>
            <a:ext cx="73152" cy="7315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29000" y="4828032"/>
            <a:ext cx="3429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补贴只覆盖真实使用量，未使用额度不沉淀、不转售。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43800" y="388620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45552" y="41330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单位经济门槛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4572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Subsidy CAC ≤ Cohort LTV ×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目标回收系数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749808" y="5806440"/>
            <a:ext cx="1938528" cy="310896"/>
          </a:xfrm>
          <a:prstGeom prst="roundRect">
            <a:avLst>
              <a:gd name="adj" fmla="val 23529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81558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API Key 绑定率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990088" y="5806440"/>
            <a:ext cx="1938528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063240" y="581558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首任务完成率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5806440"/>
            <a:ext cx="1938528" cy="310896"/>
          </a:xfrm>
          <a:prstGeom prst="roundRect">
            <a:avLst>
              <a:gd name="adj" fmla="val 23529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03520" y="581558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D7 活跃项目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470648" y="5806440"/>
            <a:ext cx="1938528" cy="310896"/>
          </a:xfrm>
          <a:prstGeom prst="roundRect">
            <a:avLst>
              <a:gd name="adj" fmla="val 23529"/>
            </a:avLst>
          </a:prstGeom>
          <a:solidFill>
            <a:srgbClr val="DDEBE3"/>
          </a:solidFill>
          <a:ln w="12700">
            <a:solidFill>
              <a:srgbClr val="DDEBE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43800" y="581558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977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付费转化率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710928" y="5806440"/>
            <a:ext cx="1938528" cy="310896"/>
          </a:xfrm>
          <a:prstGeom prst="roundRect">
            <a:avLst>
              <a:gd name="adj" fmla="val 23529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84080" y="581558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补贴效率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商业方案为待验证实验；额度、周期和风控阈值需按 Cohort 数据迭代</a:t>
            </a:r>
            <a:endParaRPr lang="en-US" sz="830" dirty="0"/>
          </a:p>
        </p:txBody>
      </p:sp>
      <p:sp>
        <p:nvSpPr>
          <p:cNvPr id="43" name="Text 41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/ 19</a:t>
            </a:r>
            <a:endParaRPr lang="en-US" sz="8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0352" y="3017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20" kern="0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&amp; LIVE DEMO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30352" y="621792"/>
            <a:ext cx="9875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周推进：先稳定发布，再验证增长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921240" y="32004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94392" y="32918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执行计划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1109960" cy="0"/>
          </a:xfrm>
          <a:prstGeom prst="line">
            <a:avLst/>
          </a:prstGeom>
          <a:noFill/>
          <a:ln w="12700">
            <a:solidFill>
              <a:srgbClr val="D9D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664208"/>
            <a:ext cx="2487168" cy="2487168"/>
          </a:xfrm>
          <a:prstGeom prst="roundRect">
            <a:avLst>
              <a:gd name="adj" fmla="val 2941"/>
            </a:avLst>
          </a:prstGeom>
          <a:solidFill>
            <a:srgbClr val="E5E9EC"/>
          </a:solidFill>
          <a:ln w="12700">
            <a:solidFill>
              <a:srgbClr val="E5E9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1874520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1883664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395728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731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稳定基线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2944368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Mac Intel 主版本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 Economy / EBAI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当前自动化验证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172968" y="2889504"/>
            <a:ext cx="219456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19856" y="1664208"/>
            <a:ext cx="2487168" cy="2487168"/>
          </a:xfrm>
          <a:prstGeom prst="roundRect">
            <a:avLst>
              <a:gd name="adj" fmla="val 2941"/>
            </a:avLst>
          </a:prstGeom>
          <a:solidFill>
            <a:srgbClr val="E4E9F8"/>
          </a:solidFill>
          <a:ln w="12700">
            <a:solidFill>
              <a:srgbClr val="E4E9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21024" y="1874520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94176" y="1883664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W1–4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2395728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559C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发布级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621024" y="2944368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正式签名与公证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运行时契约对齐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崩溃与恢复遥测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34456" y="2889504"/>
            <a:ext cx="219456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81344" y="1664208"/>
            <a:ext cx="2487168" cy="2487168"/>
          </a:xfrm>
          <a:prstGeom prst="roundRect">
            <a:avLst>
              <a:gd name="adj" fmla="val 2941"/>
            </a:avLst>
          </a:prstGeom>
          <a:solidFill>
            <a:srgbClr val="DDECEA"/>
          </a:solidFill>
          <a:ln w="12700">
            <a:solidFill>
              <a:srgbClr val="DDEC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1874520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5664" y="1883664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W5–8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2395728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试点级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2944368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首批限量 Cohort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秒上手漏斗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真实任务回归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695944" y="2889504"/>
            <a:ext cx="219456" cy="0"/>
          </a:xfrm>
          <a:prstGeom prst="line">
            <a:avLst/>
          </a:prstGeom>
          <a:noFill/>
          <a:ln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942832" y="1664208"/>
            <a:ext cx="2487168" cy="2487168"/>
          </a:xfrm>
          <a:prstGeom prst="roundRect">
            <a:avLst>
              <a:gd name="adj" fmla="val 2941"/>
            </a:avLst>
          </a:prstGeom>
          <a:solidFill>
            <a:srgbClr val="F5E2DD"/>
          </a:solidFill>
          <a:ln w="12700">
            <a:solidFill>
              <a:srgbClr val="F5E2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0" y="1874520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7152" y="1883664"/>
            <a:ext cx="69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W9–12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2395728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D8644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规模化判断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2944368"/>
            <a:ext cx="20848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留存与单位经济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团队策略复用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生态能力审核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46268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分钟现场证明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49808" y="5084064"/>
            <a:ext cx="245059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" y="5212080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00:00–00:30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664208" y="5175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 API Key，拉取模型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93008" y="5084064"/>
            <a:ext cx="245059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639312" y="5212080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00:30–01:30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407408" y="5175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发送项目任务，展示实时步骤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36208" y="5084064"/>
            <a:ext cx="2450592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9DEE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82512" y="5212080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01:30–02:30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150608" y="5175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打开产物、差异和验证结果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979408" y="5084064"/>
            <a:ext cx="2450592" cy="749808"/>
          </a:xfrm>
          <a:prstGeom prst="roundRect">
            <a:avLst>
              <a:gd name="adj" fmla="val 9756"/>
            </a:avLst>
          </a:prstGeom>
          <a:solidFill>
            <a:srgbClr val="DDEBE3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125712" y="5212080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02:30–03:00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9893808" y="5175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46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展示 EBAI 安全边界与构建证据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1280160" y="6053328"/>
            <a:ext cx="9646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每个阶段按行为指标验收，不以“新增多少功能”验收。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530352" y="654710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路线图优先级：稳定发布 → 真实激活 → 留存与单位经济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10744200" y="6528816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972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/ 19</a:t>
            </a:r>
            <a:endParaRPr lang="en-US" sz="8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Documents/MIMO Work/BAI-Work-macOS-Intel/src/asset/img/bai-work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31545"/>
            <a:ext cx="3566160" cy="93030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4944" y="1847088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简单，不代表能力少。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694944" y="257860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8FD4C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而是把复杂度留在系统里。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56616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DD4D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秒完成配置，持续看见推进，最终拿到可验收产物。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0" y="713232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0" y="713232"/>
            <a:ext cx="73152" cy="713232"/>
          </a:xfrm>
          <a:prstGeom prst="rect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42432" y="83210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B7A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轻量架构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424928" y="81381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项目级 Runtime Host 与最短执行链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0" y="1645920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0" y="1645920"/>
            <a:ext cx="73152" cy="713232"/>
          </a:xfrm>
          <a:prstGeom prst="rect">
            <a:avLst/>
          </a:prstGeom>
          <a:solidFill>
            <a:srgbClr val="B87B16"/>
          </a:solidFill>
          <a:ln w="12700">
            <a:solidFill>
              <a:srgbClr val="B87B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42432" y="17647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87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Economy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424928" y="174650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占用率门控与三层上下文压缩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0" y="2578608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0" y="2578608"/>
            <a:ext cx="73152" cy="713232"/>
          </a:xfrm>
          <a:prstGeom prst="rect">
            <a:avLst/>
          </a:prstGeom>
          <a:solidFill>
            <a:srgbClr val="D8644D"/>
          </a:solidFill>
          <a:ln w="12700">
            <a:solidFill>
              <a:srgbClr val="D864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4243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864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EBAI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424928" y="267919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语义映射、来源追溯与项目级信任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0" y="3511296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86400" y="3511296"/>
            <a:ext cx="73152" cy="713232"/>
          </a:xfrm>
          <a:prstGeom prst="rect">
            <a:avLst/>
          </a:prstGeom>
          <a:solidFill>
            <a:srgbClr val="3559C7"/>
          </a:solidFill>
          <a:ln w="12700">
            <a:solidFill>
              <a:srgbClr val="3559C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42432" y="36301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559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产品交付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424928" y="36118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三平台路径、自动化测试与运行证据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0" y="4443984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27313A"/>
          </a:solidFill>
          <a:ln w="12700">
            <a:solidFill>
              <a:srgbClr val="2731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0" y="4443984"/>
            <a:ext cx="73152" cy="713232"/>
          </a:xfrm>
          <a:prstGeom prst="rect">
            <a:avLst/>
          </a:prstGeom>
          <a:solidFill>
            <a:srgbClr val="39775C"/>
          </a:solidFill>
          <a:ln w="12700">
            <a:solidFill>
              <a:srgbClr val="39775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42432" y="45628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977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商业增长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424928" y="45445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限量半价、额度封顶与 Cohort 验证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0" y="5504688"/>
            <a:ext cx="5989320" cy="713232"/>
          </a:xfrm>
          <a:prstGeom prst="roundRect">
            <a:avLst>
              <a:gd name="adj" fmla="val 10256"/>
            </a:avLst>
          </a:prstGeom>
          <a:solidFill>
            <a:srgbClr val="FFFEFA"/>
          </a:solidFill>
          <a:ln w="12700">
            <a:solidFill>
              <a:srgbClr val="FFFEF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715000" y="564184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A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下一步：稳定签名发布 · 首批用户验证 · 项目级生态扩展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694944" y="61447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8FD4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github.com/2830500285/BAI-Work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BAI 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BAI Work 项目答辩</dc:title>
  <dc:subject>BAI Work project defense deck</dc:subject>
  <dc:creator>BAI Work</dc:creator>
  <cp:lastModifiedBy>BAI Work</cp:lastModifiedBy>
  <cp:revision>1</cp:revision>
  <dcterms:created xsi:type="dcterms:W3CDTF">2026-07-12T06:19:41Z</dcterms:created>
  <dcterms:modified xsi:type="dcterms:W3CDTF">2026-07-12T06:19:41Z</dcterms:modified>
</cp:coreProperties>
</file>