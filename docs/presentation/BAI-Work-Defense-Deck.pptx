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de737c8d1454701" /><Relationship Type="http://schemas.openxmlformats.org/officeDocument/2006/relationships/extended-properties" Target="/docProps/app.xml" Id="R200b6bbb9d06491c" /><Relationship Type="http://schemas.openxmlformats.org/officeDocument/2006/relationships/officeDocument" Target="/ppt/presentation.xml" Id="R599f03da0ff9449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3f322508d664c4b"/>
  </p:sldMasterIdLst>
  <p:notesMasterIdLst>
    <p:notesMasterId xmlns:r="http://schemas.openxmlformats.org/officeDocument/2006/relationships" r:id="R0fe88a2d361e4274"/>
  </p:notesMasterIdLst>
  <p:sldIdLst>
    <p:sldId xmlns:r="http://schemas.openxmlformats.org/officeDocument/2006/relationships" id="256" r:id="Rc63c5ac0524845d8"/>
    <p:sldId xmlns:r="http://schemas.openxmlformats.org/officeDocument/2006/relationships" id="257" r:id="R0336c158d2b545c5"/>
    <p:sldId xmlns:r="http://schemas.openxmlformats.org/officeDocument/2006/relationships" id="258" r:id="R0e93daf8bdd34ef3"/>
    <p:sldId xmlns:r="http://schemas.openxmlformats.org/officeDocument/2006/relationships" id="259" r:id="R192a4eced8354da2"/>
    <p:sldId xmlns:r="http://schemas.openxmlformats.org/officeDocument/2006/relationships" id="260" r:id="R51dbefe00b5549dc"/>
    <p:sldId xmlns:r="http://schemas.openxmlformats.org/officeDocument/2006/relationships" id="261" r:id="R76390e697cc7420e"/>
    <p:sldId xmlns:r="http://schemas.openxmlformats.org/officeDocument/2006/relationships" id="262" r:id="R67528be8c10b4754"/>
    <p:sldId xmlns:r="http://schemas.openxmlformats.org/officeDocument/2006/relationships" id="263" r:id="R9f11cbc19c1f4094"/>
    <p:sldId xmlns:r="http://schemas.openxmlformats.org/officeDocument/2006/relationships" id="264" r:id="R6ca700e1d6944dd1"/>
    <p:sldId xmlns:r="http://schemas.openxmlformats.org/officeDocument/2006/relationships" id="265" r:id="R66f8ca66d6af467f"/>
    <p:sldId xmlns:r="http://schemas.openxmlformats.org/officeDocument/2006/relationships" id="266" r:id="R3fe83d6ef3224573"/>
    <p:sldId xmlns:r="http://schemas.openxmlformats.org/officeDocument/2006/relationships" id="267" r:id="Rc37c1bde4d5d4e6d"/>
    <p:sldId xmlns:r="http://schemas.openxmlformats.org/officeDocument/2006/relationships" id="268" r:id="R2a38bb44deb9495a"/>
    <p:sldId xmlns:r="http://schemas.openxmlformats.org/officeDocument/2006/relationships" id="269" r:id="R77e0e24d66734e89"/>
    <p:sldId xmlns:r="http://schemas.openxmlformats.org/officeDocument/2006/relationships" id="270" r:id="R3d4b6bb656c14fb1"/>
    <p:sldId xmlns:r="http://schemas.openxmlformats.org/officeDocument/2006/relationships" id="271" r:id="R8333d9ec758147a9"/>
    <p:sldId xmlns:r="http://schemas.openxmlformats.org/officeDocument/2006/relationships" id="272" r:id="R4710795d901e4d55"/>
    <p:sldId xmlns:r="http://schemas.openxmlformats.org/officeDocument/2006/relationships" id="273" r:id="R945e3e9959d643bb"/>
    <p:sldId xmlns:r="http://schemas.openxmlformats.org/officeDocument/2006/relationships" id="274" r:id="R41424853436b4dcc"/>
  </p:sldIdLst>
  <p:sldSz cx="12191695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d9314c24cc0409c" /><Relationship Type="http://schemas.openxmlformats.org/officeDocument/2006/relationships/slideMaster" Target="/ppt/slideMasters/slideMaster1.xml" Id="R03f322508d664c4b" /><Relationship Type="http://schemas.openxmlformats.org/officeDocument/2006/relationships/notesMaster" Target="/ppt/notesMasters/notesMaster1.xml" Id="R0fe88a2d361e4274" /><Relationship Type="http://schemas.openxmlformats.org/officeDocument/2006/relationships/presProps" Target="/ppt/presProps.xml" Id="R9f1312deabe14069" /><Relationship Type="http://schemas.openxmlformats.org/officeDocument/2006/relationships/viewProps" Target="/ppt/viewProps.xml" Id="Rdbbbffc24c3d4ce0" /><Relationship Type="http://schemas.openxmlformats.org/officeDocument/2006/relationships/tableStyles" Target="/ppt/tableStyles.xml" Id="R8d2e8d97654e418a" /><Relationship Type="http://schemas.openxmlformats.org/officeDocument/2006/relationships/slide" Target="/ppt/slides/slide1.xml" Id="Rc63c5ac0524845d8" /><Relationship Type="http://schemas.openxmlformats.org/officeDocument/2006/relationships/slide" Target="/ppt/slides/slide2.xml" Id="R0336c158d2b545c5" /><Relationship Type="http://schemas.openxmlformats.org/officeDocument/2006/relationships/slide" Target="/ppt/slides/slide3.xml" Id="R0e93daf8bdd34ef3" /><Relationship Type="http://schemas.openxmlformats.org/officeDocument/2006/relationships/slide" Target="/ppt/slides/slide4.xml" Id="R192a4eced8354da2" /><Relationship Type="http://schemas.openxmlformats.org/officeDocument/2006/relationships/slide" Target="/ppt/slides/slide5.xml" Id="R51dbefe00b5549dc" /><Relationship Type="http://schemas.openxmlformats.org/officeDocument/2006/relationships/slide" Target="/ppt/slides/slide6.xml" Id="R76390e697cc7420e" /><Relationship Type="http://schemas.openxmlformats.org/officeDocument/2006/relationships/slide" Target="/ppt/slides/slide7.xml" Id="R67528be8c10b4754" /><Relationship Type="http://schemas.openxmlformats.org/officeDocument/2006/relationships/slide" Target="/ppt/slides/slide8.xml" Id="R9f11cbc19c1f4094" /><Relationship Type="http://schemas.openxmlformats.org/officeDocument/2006/relationships/slide" Target="/ppt/slides/slide9.xml" Id="R6ca700e1d6944dd1" /><Relationship Type="http://schemas.openxmlformats.org/officeDocument/2006/relationships/slide" Target="/ppt/slides/slide10.xml" Id="R66f8ca66d6af467f" /><Relationship Type="http://schemas.openxmlformats.org/officeDocument/2006/relationships/slide" Target="/ppt/slides/slide11.xml" Id="R3fe83d6ef3224573" /><Relationship Type="http://schemas.openxmlformats.org/officeDocument/2006/relationships/slide" Target="/ppt/slides/slide12.xml" Id="Rc37c1bde4d5d4e6d" /><Relationship Type="http://schemas.openxmlformats.org/officeDocument/2006/relationships/slide" Target="/ppt/slides/slide13.xml" Id="R2a38bb44deb9495a" /><Relationship Type="http://schemas.openxmlformats.org/officeDocument/2006/relationships/slide" Target="/ppt/slides/slide14.xml" Id="R77e0e24d66734e89" /><Relationship Type="http://schemas.openxmlformats.org/officeDocument/2006/relationships/slide" Target="/ppt/slides/slide15.xml" Id="R3d4b6bb656c14fb1" /><Relationship Type="http://schemas.openxmlformats.org/officeDocument/2006/relationships/slide" Target="/ppt/slides/slide16.xml" Id="R8333d9ec758147a9" /><Relationship Type="http://schemas.openxmlformats.org/officeDocument/2006/relationships/slide" Target="/ppt/slides/slide17.xml" Id="R4710795d901e4d55" /><Relationship Type="http://schemas.openxmlformats.org/officeDocument/2006/relationships/slide" Target="/ppt/slides/slide18.xml" Id="R945e3e9959d643bb" /><Relationship Type="http://schemas.openxmlformats.org/officeDocument/2006/relationships/slide" Target="/ppt/slides/slide19.xml" Id="R41424853436b4dc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868d9877c424a6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80d742c8f874484" /><Relationship Type="http://schemas.openxmlformats.org/officeDocument/2006/relationships/notesMaster" Target="/ppt/notesMasters/notesMaster1.xml" Id="R2cfb218354ee4e0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7d230bd38954ef9" /><Relationship Type="http://schemas.openxmlformats.org/officeDocument/2006/relationships/notesMaster" Target="/ppt/notesMasters/notesMaster1.xml" Id="Rbc2eb2ba4a9b451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8fde28000694771" /><Relationship Type="http://schemas.openxmlformats.org/officeDocument/2006/relationships/notesMaster" Target="/ppt/notesMasters/notesMaster1.xml" Id="Rb889491b07d9467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aace29fdaee44a8" /><Relationship Type="http://schemas.openxmlformats.org/officeDocument/2006/relationships/notesMaster" Target="/ppt/notesMasters/notesMaster1.xml" Id="Rebb49ec357d149d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3b3a09e48334d46" /><Relationship Type="http://schemas.openxmlformats.org/officeDocument/2006/relationships/notesMaster" Target="/ppt/notesMasters/notesMaster1.xml" Id="Ref9f446f9548451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7e71eb779f74b8e" /><Relationship Type="http://schemas.openxmlformats.org/officeDocument/2006/relationships/notesMaster" Target="/ppt/notesMasters/notesMaster1.xml" Id="Rddd382d0d1c543b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73408e0c7b6492f" /><Relationship Type="http://schemas.openxmlformats.org/officeDocument/2006/relationships/notesMaster" Target="/ppt/notesMasters/notesMaster1.xml" Id="R59cc7fbfd8fe4f5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5102978b6884a74" /><Relationship Type="http://schemas.openxmlformats.org/officeDocument/2006/relationships/notesMaster" Target="/ppt/notesMasters/notesMaster1.xml" Id="R3fcb9d13f2304f2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992d2d0d9294bb0" /><Relationship Type="http://schemas.openxmlformats.org/officeDocument/2006/relationships/notesMaster" Target="/ppt/notesMasters/notesMaster1.xml" Id="R0eedfbf91ed748b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4842d471767449f" /><Relationship Type="http://schemas.openxmlformats.org/officeDocument/2006/relationships/notesMaster" Target="/ppt/notesMasters/notesMaster1.xml" Id="R4487f41425ee49b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32143a611ad434a" /><Relationship Type="http://schemas.openxmlformats.org/officeDocument/2006/relationships/notesMaster" Target="/ppt/notesMasters/notesMaster1.xml" Id="Raf4f56e51723438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c59f6e16c9344d9" /><Relationship Type="http://schemas.openxmlformats.org/officeDocument/2006/relationships/notesMaster" Target="/ppt/notesMasters/notesMaster1.xml" Id="R2f76fe41babe4db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59988086ceb416b" /><Relationship Type="http://schemas.openxmlformats.org/officeDocument/2006/relationships/notesMaster" Target="/ppt/notesMasters/notesMaster1.xml" Id="R1a495ccf00034e6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e79e70da45f4de1" /><Relationship Type="http://schemas.openxmlformats.org/officeDocument/2006/relationships/notesMaster" Target="/ppt/notesMasters/notesMaster1.xml" Id="R304a88f62c1b4e7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0f6cb6e05bd447b" /><Relationship Type="http://schemas.openxmlformats.org/officeDocument/2006/relationships/notesMaster" Target="/ppt/notesMasters/notesMaster1.xml" Id="R86634cd5522049f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b83cb672f9a4d01" /><Relationship Type="http://schemas.openxmlformats.org/officeDocument/2006/relationships/notesMaster" Target="/ppt/notesMasters/notesMaster1.xml" Id="R02707c4970964dc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679efc1399f4309" /><Relationship Type="http://schemas.openxmlformats.org/officeDocument/2006/relationships/notesMaster" Target="/ppt/notesMasters/notesMaster1.xml" Id="R9fb66fc2b39d488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5159a14ce4649a4" /><Relationship Type="http://schemas.openxmlformats.org/officeDocument/2006/relationships/notesMaster" Target="/ppt/notesMasters/notesMaster1.xml" Id="Rf8bb948afa05446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50129bb6ac04df2" /><Relationship Type="http://schemas.openxmlformats.org/officeDocument/2006/relationships/notesMaster" Target="/ppt/notesMasters/notesMaster1.xml" Id="R8a8c9ab0ad1b42e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封面（建议 25 秒）
开场一句：BAI Work 不是另一个聊天入口，而是面向真实项目交付的轻量桌面工作台。
核心差异是把执行链收敛到本地项目：配置更短、过程可见、产物可验收。
当前已有可运行应用、三平台构建路径和完整自动化验证。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产品问题与定义（建议 35 秒）
不要从功能数量开始，先说明真实项目任务为什么需要连续交付。
BAI Work 的目标函数是缩短任务到产物的闭环，而不是覆盖所有通信场景。
这条目标函数决定了后续的轻量架构、过程可观测和 Token Economy。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 秒演示目标（建议 45 秒）</a:t>
            </a:r>
          </a:p>
          <a:p xmlns:a="http://schemas.openxmlformats.org/drawingml/2006/main">
            <a:r>
              <a:t>用户只需提供 API Key，主进程完成服务探测、模型拉取、能力分类和保存。</a:t>
            </a:r>
          </a:p>
          <a:p xmlns:a="http://schemas.openxmlformats.org/drawingml/2006/main">
            <a:r>
              <a:t>技术上使用凭据隔离、端点规范化、能力感知发现与幂等集合合并。</a:t>
            </a:r>
          </a:p>
          <a:p xmlns:a="http://schemas.openxmlformats.org/drawingml/2006/main">
            <a:r>
              <a:t>30 秒是顺畅网络下的现场演示目标，不作为固定网络 SLA。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现场演示路径（建议 35 秒 + 3 分钟演示）
演示只跑一条主流程：选项目、发任务、展开步骤、打开产物。
每一步都说用户获得了什么信息，不在现场展开内部实现。
网络异常时切换到打包运行时健康检查、预生成产物与最新界面证据。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产品完成度（建议 40 秒）</a:t>
            </a:r>
          </a:p>
          <a:p xmlns:a="http://schemas.openxmlformats.org/drawingml/2006/main">
            <a:r>
              <a:t>完成度从用户生命周期衡量：配置、执行、观察、审阅、沉淀都在一个工作面完成。</a:t>
            </a:r>
          </a:p>
          <a:p xmlns:a="http://schemas.openxmlformats.org/drawingml/2006/main">
            <a:r>
              <a:t>三平台目标和稳定本地服务边界证明它不是一次性原型。</a:t>
            </a:r>
          </a:p>
          <a:p xmlns:a="http://schemas.openxmlformats.org/drawingml/2006/main">
            <a:r>
              <a:t>EBAI 的 Commands、Agents、Skills、Rules 和 Hooks 是 BAI Work 面向用户的产品能力；来源与安装不定义它的产品身份。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轻量 Runtime Host 架构（建议 50 秒）
核心创新不是桌面框架本身，而是单一 Runtime Host 对协议、凭据、文件和生命周期的收敛。
Renderer 只消费稳定事件模型，因此上游变化不会扩散到整个界面。
项目级状态和本机回环服务共同缩短了任务到产物的执行路径。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项目级 Runtime Host 数据链（建议 55 秒）</a:t>
            </a:r>
          </a:p>
          <a:p xmlns:a="http://schemas.openxmlformats.org/drawingml/2006/main">
            <a:r>
              <a:t>这一页只解释 BAI Work 自身的架构选择：把桌面复杂度集中在 Runtime Host。</a:t>
            </a:r>
          </a:p>
          <a:p xmlns:a="http://schemas.openxmlformats.org/drawingml/2006/main">
            <a:r>
              <a:t>工作台只消费稳定事件，项目上下文、状态、权限和产物则始终围绕 workspace 收敛。</a:t>
            </a:r>
          </a:p>
          <a:p xmlns:a="http://schemas.openxmlformats.org/drawingml/2006/main">
            <a:r>
              <a:t>从输入到验收的每一段都有明确边界，因此长任务可以被观察、恢复和验证。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可观测状态机（建议 45 秒）
事件流先去重、分类和清洗，再进入时间线和最终交付区。
过程区展示工具动作和可验证状态，不展示模型内部思维链。
错误与用量采用保守策略：不让堆栈污染界面，也不把缺失遥测当成零。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Token Economy 控制面（建议 50 秒）</a:t>
            </a:r>
          </a:p>
          <a:p xmlns:a="http://schemas.openxmlformats.org/drawingml/2006/main">
            <a:r>
              <a:t>这里展示的是当前代码中可复现的请求预算配置，不使用仓库里不存在的估算公式。</a:t>
            </a:r>
          </a:p>
          <a:p xmlns:a="http://schemas.openxmlformats.org/drawingml/2006/main">
            <a:r>
              <a:t>历史保护限制发送请求时的超长工具结果和参数，原始聊天记录保持不变。</a:t>
            </a:r>
          </a:p>
          <a:p xmlns:a="http://schemas.openxmlformats.org/drawingml/2006/main">
            <a:r>
              <a:t>当前适配层没有可用的节省遥测，因此界面明确显示不可用，不宣称节省百分比。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上下文治理契约（建议 55 秒）</a:t>
            </a:r>
          </a:p>
          <a:p xmlns:a="http://schemas.openxmlformats.org/drawingml/2006/main">
            <a:r>
              <a:t>第一层约束工具结果，第二层约束工具参数，第三层定义摘要阈值与资源预算。</a:t>
            </a:r>
          </a:p>
          <a:p xmlns:a="http://schemas.openxmlformats.org/drawingml/2006/main">
            <a:r>
              <a:t>这些默认值和输入上限都能从共享设置、IPC schema 与 normalizer 中复现。</a:t>
            </a:r>
          </a:p>
          <a:p xmlns:a="http://schemas.openxmlformats.org/drawingml/2006/main">
            <a:r>
              <a:t>我们把控制面和实际运行效果分开陈述；只有可用遥测才进入节省展示。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EBAI 产品能力体系（建议 60 秒）</a:t>
            </a:r>
          </a:p>
          <a:p xmlns:a="http://schemas.openxmlformats.org/drawingml/2006/main">
            <a:r>
              <a:t>EBAI 的产品定义是 BAI Work 面向用户的能力体系；来源与安装只属于内部交付方式。</a:t>
            </a:r>
          </a:p>
          <a:p xmlns:a="http://schemas.openxmlformats.org/drawingml/2006/main">
            <a:r>
              <a:t>当前 Commands 和 Skills 可被运行时加载，Agents 以命令工作流接入，Rules 以 Skill 指令接入。</a:t>
            </a:r>
          </a:p>
          <a:p xmlns:a="http://schemas.openxmlformats.org/drawingml/2006/main">
            <a:r>
              <a:t>Hooks 当前仅生成默认关闭的 manifest；来源与安装是内部交付方式，不定义 EBAI 的产品身份。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EBAI Hook 安全（建议 50 秒）</a:t>
            </a:r>
          </a:p>
          <a:p xmlns:a="http://schemas.openxmlformats.org/drawingml/2006/main">
            <a:r>
              <a:t>Hook 已作为 EBAI 产品能力之一被建模，覆盖消息、会话和工具调用生命周期。</a:t>
            </a:r>
          </a:p>
          <a:p xmlns:a="http://schemas.openxmlformats.org/drawingml/2006/main">
            <a:r>
              <a:t>当前交付范围是生成默认关闭的 manifest，设置页开关禁用，BAI Code 0.9.1 也没有 Hook 执行契约。</a:t>
            </a:r>
          </a:p>
          <a:p xmlns:a="http://schemas.openxmlformats.org/drawingml/2006/main">
            <a:r>
              <a:t>因此答辩只宣称能力定义、配置边界与安全策略已实现，不把 Hook 冒充为已执行。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执行闭环（建议 45 秒）
BAI Work 的 AI 应用不是单次接口调用，而是上下文、规划、工具、产物和验证的闭环。
验证门将“模型说完成了”转换为文件、差异、测试与运行证据。
可选的签名和发布溯源是后续生态方向，不作为当前完成度陈述。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端到端工程证据链（建议 55 秒）</a:t>
            </a:r>
          </a:p>
          <a:p xmlns:a="http://schemas.openxmlformats.org/drawingml/2006/main">
            <a:r>
              <a:t>这一页把前半段技术点收束为评委可以直接判断的证据链。</a:t>
            </a:r>
          </a:p>
          <a:p xmlns:a="http://schemas.openxmlformats.org/drawingml/2006/main">
            <a:r>
              <a:t>从配置到工程验收，每个用户价值都对应明确的系统机制和验证入口。</a:t>
            </a:r>
          </a:p>
          <a:p xmlns:a="http://schemas.openxmlformats.org/drawingml/2006/main">
            <a:r>
              <a:t>BAI Work 的优势来自完整闭环，不需要依赖外部产品比较。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工程验证证据（建议 40 秒）
四个数字证明项目已有真实工程规模和自动化验证。
Mac Intel 是当前迭代主版本，其他平台保持同源构建和原生 smoke。
商业发布仍需正式签名和公证凭据，这一风险在路线图中明确。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目标用户（建议 35 秒）
首批用户是有真实本地项目、长任务和产物验收需求的个人与小团队。
BAI 生态用户获得的是持续桌面入口和项目交付工作面。
切入策略先验证高频留存与任务完成率，再扩展更广泛场景。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首批商业推广（建议 50 秒）
建议采用限量、半价、封顶、限时的受控补贴方案，而不是无上限降价。
优惠在用户绑定有效 API Key 并完成首个项目任务后激活，确保补贴对应真实使用。
用首任务完成率、七日活跃项目和付费转化率决定是否扩大 Cohort。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十二周路线图（建议 45 秒）</a:t>
            </a:r>
          </a:p>
          <a:p xmlns:a="http://schemas.openxmlformats.org/drawingml/2006/main">
            <a:r>
              <a:t>前四周解决发布级稳定性，第二阶段验证首批 Cohort，第三阶段再决定规模化。</a:t>
            </a:r>
          </a:p>
          <a:p xmlns:a="http://schemas.openxmlformats.org/drawingml/2006/main">
            <a:r>
              <a:t>每个阶段用发布质量、真实激活、留存和单位经济验收，而不是继续堆叠功能数量。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收束（建议 30 秒）</a:t>
            </a:r>
          </a:p>
          <a:p xmlns:a="http://schemas.openxmlformats.org/drawingml/2006/main">
            <a:r>
              <a:t>最后一句：简单不是删掉能力，而是把架构、配置和安全复杂度留在系统内部。</a:t>
            </a:r>
          </a:p>
          <a:p xmlns:a="http://schemas.openxmlformats.org/drawingml/2006/main">
            <a:r>
              <a:t>BAI Work 通过轻量架构、Token Economy、EBAI 和工程验证形成完整交付闭环。</a:t>
            </a:r>
          </a:p>
          <a:p xmlns:a="http://schemas.openxmlformats.org/drawingml/2006/main">
            <a:r>
              <a:t>下一步是稳定签名发布并用首批真实用户数据验证留存与单位经济。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acda7c775647dc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4218b2dd7984408" /><Relationship Type="http://schemas.openxmlformats.org/officeDocument/2006/relationships/slideLayout" Target="/ppt/slideLayouts/slideLayout1.xml" Id="Rf484222b88c7434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484222b88c74348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354b26635240d5" /><Relationship Type="http://schemas.openxmlformats.org/officeDocument/2006/relationships/image" Target="/ppt/media/image.png" Id="R95bd07bad6a24f20" /><Relationship Type="http://schemas.openxmlformats.org/officeDocument/2006/relationships/image" Target="/ppt/media/image2.png" Id="Re06674cb0d654252" /><Relationship Type="http://schemas.openxmlformats.org/officeDocument/2006/relationships/notesSlide" Target="/ppt/notesSlides/notesSlide1.xml" Id="R05a83beb5638409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d253b68c914f91" /><Relationship Type="http://schemas.openxmlformats.org/officeDocument/2006/relationships/notesSlide" Target="/ppt/notesSlides/notesSlide2.xml" Id="R7b5052c0ccfa402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3765453f2748ba" /><Relationship Type="http://schemas.openxmlformats.org/officeDocument/2006/relationships/notesSlide" Target="/ppt/notesSlides/notesSlide3.xml" Id="R6039a2574621498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e9ca1a86b9481b" /><Relationship Type="http://schemas.openxmlformats.org/officeDocument/2006/relationships/image" Target="/ppt/media/image3.png" Id="R4d0578952fda48bd" /><Relationship Type="http://schemas.openxmlformats.org/officeDocument/2006/relationships/notesSlide" Target="/ppt/notesSlides/notesSlide4.xml" Id="R9d862696c01146f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8bd99a172a4f18" /><Relationship Type="http://schemas.openxmlformats.org/officeDocument/2006/relationships/notesSlide" Target="/ppt/notesSlides/notesSlide5.xml" Id="Rdaef6633e10f410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e4117eab0740d4" /><Relationship Type="http://schemas.openxmlformats.org/officeDocument/2006/relationships/notesSlide" Target="/ppt/notesSlides/notesSlide6.xml" Id="R598e143eab67428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b6dbeb8d51460e" /><Relationship Type="http://schemas.openxmlformats.org/officeDocument/2006/relationships/notesSlide" Target="/ppt/notesSlides/notesSlide7.xml" Id="R7f3016b701b5439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7538de8ad643af" /><Relationship Type="http://schemas.openxmlformats.org/officeDocument/2006/relationships/notesSlide" Target="/ppt/notesSlides/notesSlide8.xml" Id="Rada9f54a54a94ef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4cd05d9dd64ad5" /><Relationship Type="http://schemas.openxmlformats.org/officeDocument/2006/relationships/notesSlide" Target="/ppt/notesSlides/notesSlide9.xml" Id="Rb9da04f0740a4cf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cc97e7e86c415c" /><Relationship Type="http://schemas.openxmlformats.org/officeDocument/2006/relationships/notesSlide" Target="/ppt/notesSlides/notesSlide10.xml" Id="Rb35d919fcdec4d0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272526029f452e" /><Relationship Type="http://schemas.openxmlformats.org/officeDocument/2006/relationships/notesSlide" Target="/ppt/notesSlides/notesSlide11.xml" Id="Rc464865d54bf4b4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1af6efddc34bda" /><Relationship Type="http://schemas.openxmlformats.org/officeDocument/2006/relationships/notesSlide" Target="/ppt/notesSlides/notesSlide12.xml" Id="R3ffdf50e52c5408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ef473025984920" /><Relationship Type="http://schemas.openxmlformats.org/officeDocument/2006/relationships/notesSlide" Target="/ppt/notesSlides/notesSlide13.xml" Id="Ra2c6c6086b25406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0e5cfa5901429a" /><Relationship Type="http://schemas.openxmlformats.org/officeDocument/2006/relationships/notesSlide" Target="/ppt/notesSlides/notesSlide14.xml" Id="Rceda8e8c75e942e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45e4fa697c4ce2" /><Relationship Type="http://schemas.openxmlformats.org/officeDocument/2006/relationships/notesSlide" Target="/ppt/notesSlides/notesSlide15.xml" Id="R684ee72c5f3e4f6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e36e6a76754f04" /><Relationship Type="http://schemas.openxmlformats.org/officeDocument/2006/relationships/notesSlide" Target="/ppt/notesSlides/notesSlide16.xml" Id="R326a6a48f39d4ff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73286b8e6f488f" /><Relationship Type="http://schemas.openxmlformats.org/officeDocument/2006/relationships/notesSlide" Target="/ppt/notesSlides/notesSlide17.xml" Id="Ra240fa79edbb439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d779557b7141bf" /><Relationship Type="http://schemas.openxmlformats.org/officeDocument/2006/relationships/notesSlide" Target="/ppt/notesSlides/notesSlide18.xml" Id="Rd3ef1c5a260e496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20f5755e3e4df1" /><Relationship Type="http://schemas.openxmlformats.org/officeDocument/2006/relationships/image" Target="/ppt/media/image4.png" Id="Rf16fde8891d1457a" /><Relationship Type="http://schemas.openxmlformats.org/officeDocument/2006/relationships/notesSlide" Target="/ppt/notesSlides/notesSlide19.xml" Id="R7617c74ae2c542e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C0E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2D89CFD-1EA4-4442-8227-4F7A67864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0"/>
            <a:ext cx="52879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EFA"/>
          </a:solidFill>
          <a:ln xmlns:a="http://schemas.openxmlformats.org/drawingml/2006/main" w="12700">
            <a:solidFill>
              <a:srgbClr val="FFFEFA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898C9EA-1A09-4411-B625-AEBC834FE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5744" y="475488"/>
            <a:ext cx="4754880" cy="5074920"/>
          </a:xfrm>
          <a:prstGeom xmlns:a="http://schemas.openxmlformats.org/drawingml/2006/main" prst="roundRect">
            <a:avLst>
              <a:gd name="adj" fmla="val 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bd07bad6a24f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68896" y="1500759"/>
            <a:ext cx="4608576" cy="3024378"/>
          </a:xfrm>
          <a:prstGeom xmlns:a="http://schemas.openxmlformats.org/drawingml/2006/main" prst="rect">
            <a:avLst/>
          </a:prstGeom>
        </p:spPr>
      </p:pic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BC3BA958-FE36-40BA-9764-BF4355DBD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8896" y="3678311"/>
            <a:ext cx="4608576" cy="84682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EFA"/>
          </a:solidFill>
          <a:ln xmlns:a="http://schemas.openxmlformats.org/drawingml/2006/main" w="12700">
            <a:solidFill>
              <a:srgbClr val="FFFEFA"/>
            </a:solidFill>
            <a:prstDash val="solid"/>
          </a:ln>
        </p:spPr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383F5A-F50C-4BE1-A502-89DD98F36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1776" y="3973708"/>
            <a:ext cx="424281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BAI Work · 项目级桌面工作台</a:t>
            </a:r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D4428CFC-8822-4691-A852-752750195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5650992"/>
            <a:ext cx="5287975" cy="1207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048B475C-9FC6-4B3B-8BC2-D750CC90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32918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7EC5C1"/>
                </a:solidFill>
                <a:latin typeface="Aptos"/>
                <a:ea typeface="Aptos"/>
                <a:cs typeface="Aptos"/>
              </a:rPr>
              <a:t>GENESIS HACKATHON</a:t>
            </a:r>
          </a:p>
        </p:txBody>
      </p:sp>
      <p:pic>
        <p:nvPicPr>
          <p:cNvPr id="3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6674cb0d6542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792" y="1084955"/>
            <a:ext cx="5212080" cy="1359673"/>
          </a:xfrm>
          <a:prstGeom xmlns:a="http://schemas.openxmlformats.org/drawingml/2006/main" prst="rect">
            <a:avLst/>
          </a:prstGeom>
        </p:spPr>
      </p:pic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F0F6485E-1D44-4759-84A1-D679E3EB7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651760"/>
            <a:ext cx="57150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项目级轻量 Agent 工作台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A3E993E7-655E-4EEF-AB98-93B6DDD4E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364992"/>
            <a:ext cx="56235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>
                <a:solidFill>
                  <a:srgbClr val="C5CDD4"/>
                </a:solidFill>
                <a:latin typeface="PingFang SC"/>
                <a:ea typeface="PingFang SC"/>
                <a:cs typeface="PingFang SC"/>
              </a:rPr>
              <a:t>更短执行链 · 更小故障域 · 更清晰产物闭环</a:t>
            </a:r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287AA3E-C236-49EB-AAFA-74E30F35E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22452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EF24F5DC-BB76-4A6C-9E6B-C2F25B7F5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23367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30 秒路径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C4022C6F-5358-42E1-9642-D880BE7E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7128" y="422452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670A67C2-5235-45E1-9EEB-41E436A03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423367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单项目执行</a:t>
            </a:r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566B58DF-1767-44DD-A70E-0216C13D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422452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DE6664FD-CB1B-4588-8C98-6EE6C3468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0" y="423367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Token Economy</a:t>
            </a:r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35BE6B28-3193-4837-B50B-1613E2D29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2744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0123ED18-7666-4973-9FEF-D470C013F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3659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EBAI</a:t>
            </a:r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8B6D3B32-8010-4810-AA6D-7E62277CB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7128" y="472744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1633E2FD-5A57-40B0-B60D-3290AD821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473659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三平台交付</a:t>
            </a:r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1D8EBF0B-45AF-43FB-B3EC-54AFF66F5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199632"/>
            <a:ext cx="2834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89939D"/>
                </a:solidFill>
                <a:latin typeface="PingFang SC"/>
                <a:ea typeface="PingFang SC"/>
                <a:cs typeface="PingFang SC"/>
              </a:rPr>
              <a:t>项目答辩 · 2026.07</a:t>
            </a:r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D289C999-91FB-45A7-8CB0-AA066F956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912" y="5925312"/>
            <a:ext cx="42519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从 API Key 到可验收产物</a:t>
            </a:r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CCB11B92-FDE2-4C8A-BE4B-4194F6BAA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912" y="6291072"/>
            <a:ext cx="42519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C8D1D8"/>
                </a:solidFill>
                <a:latin typeface="Aptos"/>
                <a:ea typeface="Aptos"/>
                <a:cs typeface="Aptos"/>
              </a:rPr>
              <a:t>Mac Intel · Mac Apple Silicon · Windows x64</a:t>
            </a:r>
          </a:p>
        </p:txBody>
      </p:sp>
    </p:spTree>
    <p:extLst>
      <p:ext uri="{BB962C8B-B14F-4D97-AF65-F5344CB8AC3E}">
        <p14:creationId xmlns:p14="http://schemas.microsoft.com/office/powerpoint/2010/main" val="13907192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B2618D5-5737-47F5-B818-7354F1EE3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WHY BAI WORK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0B3CDA0-A51B-41CE-A4EA-966DA47B7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为什么需要 BAI Work：项目任务要求“连续交付”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F67EABC-B2F7-45C5-8626-4016EDE8C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AE6AD3F-5FCE-4C91-98BC-356E91889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产品定义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C75BD72-2791-4C51-84E5-2503D7631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F5CB970-7E2B-44C5-A810-998D2DD4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36192"/>
            <a:ext cx="105613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真实知识工作不是一次问答，而是上下文进入、工具执行、过程反馈、产物审阅与后续复用的连续系统。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43AE759-D986-4056-9516-EAEC39B70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395728"/>
            <a:ext cx="3456432" cy="2176272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DA2EA38-A1ED-4C18-81B0-0E9DAAED3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2633472"/>
            <a:ext cx="502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D8644D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217ECEF3-32DB-47C0-81B8-13E241EB1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3090672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上下文割裂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D4883462-E911-4197-B316-DB49E8F23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3657600"/>
            <a:ext cx="2971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项目、文件、版本状态与会话历史分散，重复传递成本高。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B1C4B6E8-1B4C-45D8-9489-6BFD7F80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696" y="2395728"/>
            <a:ext cx="3456432" cy="2176272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2766728-BEB4-4739-9FEE-CC84EF1FB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2633472"/>
            <a:ext cx="502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B87B16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FB8FC5C-4D86-4B78-9ED6-3051A2C8B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3090672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过程不可观测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4D0E6323-2706-483F-9F28-6C01DD1C4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3657600"/>
            <a:ext cx="2971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长任务只有等待或原始日志，难以判断当前状态和失败位置。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A438F063-4631-422F-B1FF-40435189A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395728"/>
            <a:ext cx="3456432" cy="2176272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2CCBA36-5F1A-4122-85B7-9C4018B4A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633472"/>
            <a:ext cx="502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3559C7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3663CC41-442B-4FC7-B785-DBAA4C843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090672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交付不可验收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2738A6C2-20A8-4495-ABBE-0F5332A53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657600"/>
            <a:ext cx="2971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回答与工具过程混在一起，产物、差异和验证证据缺少结构。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3B23ED07-9E04-41A1-9AA7-56422B2B4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074920"/>
            <a:ext cx="10076688" cy="841248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6C2AA38-2759-4FF8-868D-E0250AB36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5230368"/>
            <a:ext cx="9582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BAI Work = 项目上下文 + 本地执行 + 可观测状态机 + 可审阅产物 + 受信任能力层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FC1F0ADC-8A7C-4FA5-8159-4CE2247DE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产品原则：以任务到产物的闭环效率为主目标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B35106A-EEAE-43A3-B73A-988B41AAF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02 / 19</a:t>
            </a:r>
          </a:p>
        </p:txBody>
      </p:sp>
    </p:spTree>
    <p:extLst>
      <p:ext uri="{BB962C8B-B14F-4D97-AF65-F5344CB8AC3E}">
        <p14:creationId xmlns:p14="http://schemas.microsoft.com/office/powerpoint/2010/main" val="18444513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6C42B80-1064-443B-9139-041689ACC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THIRTY-SECOND ONBOARDING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B4AB622-A3BD-4A6A-9E98-DD2312FA0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30 秒演示目标：API Key 进入，模型能力自动就绪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EC982B3-7503-42D0-92EB-686FF5635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FCD255D-B978-4CA7-81C3-06E564590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极简上手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96180BD-44F2-490D-9975-25E34FABA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E0C9BC5-2BBA-4BAC-AE4D-B9FA94010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54480"/>
            <a:ext cx="98755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E5AFBD9-BB98-41CC-9FA9-20094DB03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63624"/>
            <a:ext cx="8412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现场路径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6081BE0A-2ABE-4D27-A1EE-EC839087A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412C49CA-EFB3-40A5-B6B0-F86BADB00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CF01293-4F12-4D9B-8716-F0D8A5EBD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输入 API Key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B2DAA83-9B33-489A-A72D-D6A44ED5D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Main-Process Credential Isolation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D78C338B-7318-44D8-889D-C8CF45864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2724912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F7033CB0-3FB4-4456-A480-3614A4021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B33B5FC9-40AA-4F04-A957-4EE164F21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384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8897091-A7D0-4B3A-AE9A-75CF52AEF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384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探测服务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BF636A7-8738-4855-AD0A-D94F61DBA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384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Endpoint Canonicalization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91479EB1-3CA0-4BB6-9DBA-E26C2E079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8032" y="2724912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9A0BCA1C-84BB-483F-ACC4-3DEB0FB3B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34E814A1-2E12-4494-8B2C-BEA6095A2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096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8625B4DE-DA62-4058-9598-528A4200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096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拉取模型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E81A464-FCA7-4FDA-9E31-7368B9001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096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GET /v1/models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B0AA411E-869E-4F97-ADBB-71F711777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5744" y="2724912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15BDE542-F841-43D2-A9BD-38E27AA7A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504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0649A177-9F5B-44D0-BC74-C4B5A7BEB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145FF7FE-DF51-4843-A70D-DC0434469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能力分类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EC78CAEE-DAEE-4228-851F-9AB737213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Capability-Aware Discovery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B3A92F5C-AD3C-4588-9942-F507FC8AA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2724912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D3960FF5-E216-422F-9FEF-D3A8D943D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9216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11638BF7-9B47-41E5-8D54-3A95BA63F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8D84014E-61B5-4DF3-AEE8-948AA71AB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保存并使用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51A6D951-AAF0-4B32-BCEB-6EB02B531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Idempotent Set Merge</a:t>
            </a:r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5B427737-2280-4898-8A6A-4440FD761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977640"/>
            <a:ext cx="6720840" cy="1600200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CC2D236F-B5CD-4D60-8991-4F2573466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224528"/>
            <a:ext cx="960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实现机制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D9A3591E-DC69-47C9-865D-E68D1718E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29768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B3CAA512-ECF4-4033-A2D9-618DAF049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160520"/>
            <a:ext cx="4956048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凭据只在主进程中参与请求，避免渲染层暴露与跨域约束。</a:t>
            </a:r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86412888-CEDA-40D5-8E9F-C56A3C70E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72744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CDC0812D-3FF2-4820-A86D-C15C389D7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590288"/>
            <a:ext cx="4956048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统一规范化 Base URL，8 秒模型列表超时与 10 秒连通性探测。</a:t>
            </a:r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634B91BD-1BC6-47E1-89A0-720960179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5157216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C1774DD4-63A6-4C27-A341-5F1B605C0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5020056"/>
            <a:ext cx="4956048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去重模型 ID，按文本对话能力过滤，并与已有配置幂等合并。</a:t>
            </a:r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012F5504-6B18-4EAB-AE43-C874E8A87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3977640"/>
            <a:ext cx="3886200" cy="1600200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2FC6CF10-C525-438D-A074-B16ABE5D8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6992" y="4224528"/>
            <a:ext cx="327355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用户感知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02B0BBD4-C27A-4794-9B8B-A328B1131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6992" y="4617720"/>
            <a:ext cx="3273552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无需编辑配置文件</a:t>
            </a:r>
          </a:p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无需手工录入模型</a:t>
            </a:r>
          </a:p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无需理解运行时参数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E34C6AAF-DC25-40A1-9B64-D89052BF5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925312"/>
            <a:ext cx="102870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实际完成时间取决于网络与 API 可用性；30 秒是典型配置目标，不是网络 SLA。</a:t>
            </a:r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13454E8A-60B9-426D-985D-6E3B2F628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实现证据：provider connection · model discovery · protocol URL normalization</a:t>
            </a:r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73879FC2-42CE-4BD0-B54A-40E19CBB3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03 / 19</a:t>
            </a:r>
          </a:p>
        </p:txBody>
      </p:sp>
    </p:spTree>
    <p:extLst>
      <p:ext uri="{BB962C8B-B14F-4D97-AF65-F5344CB8AC3E}">
        <p14:creationId xmlns:p14="http://schemas.microsoft.com/office/powerpoint/2010/main" val="3683044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FE05E9B-6C20-4368-89D5-12BE8356F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DEMO STORY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FE58A6F-79E5-482F-B987-0D393640A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现场演示：从一句任务到可验收产物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9ECCC12-875C-4BB1-B98A-A5484E4DA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C394C72-9410-4E17-A06E-AB32698E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用户流程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731AC8F-D246-4793-8706-97CCCFE7D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346D580-2F52-446D-AB11-B53C30272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1536192"/>
            <a:ext cx="6537960" cy="4462272"/>
          </a:xfrm>
          <a:prstGeom xmlns:a="http://schemas.openxmlformats.org/drawingml/2006/main" prst="roundRect">
            <a:avLst>
              <a:gd name="adj" fmla="val 16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pic>
        <p:nvPicPr>
          <p:cNvPr id="3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0578952fda48b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6656" y="1670066"/>
            <a:ext cx="6391656" cy="4194524"/>
          </a:xfrm>
          <a:prstGeom xmlns:a="http://schemas.openxmlformats.org/drawingml/2006/main" prst="rect">
            <a:avLst/>
          </a:prstGeom>
        </p:spPr>
      </p:pic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524CB63A-6B0B-4287-A7B1-741B0FE2F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4813030"/>
            <a:ext cx="6391656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EFA"/>
          </a:solidFill>
          <a:ln xmlns:a="http://schemas.openxmlformats.org/drawingml/2006/main" w="12700">
            <a:solidFill>
              <a:srgbClr val="FFFEFA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146DA3B-2694-4EC6-8E02-25A364B97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210794"/>
            <a:ext cx="60258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BAI Work · 项目级桌面工作台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5080E0D-DE93-4818-86CB-E0264B55B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1627632"/>
            <a:ext cx="96012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2D9CACA-3FD1-4182-AC63-677D88E96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2944" y="1636776"/>
            <a:ext cx="8138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演示任务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9538981B-78C0-4BEE-A190-C4C497CED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2011680"/>
            <a:ext cx="39776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“检查当前项目，持续展示推进过程，并交付可验证结果。”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0A7BD04E-744E-4F3C-BBB8-2E89B25BF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2907792"/>
            <a:ext cx="384048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4AA8D716-EEFE-42B3-A1DB-D5B4E2E79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2907792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9F59F5CD-15F7-404F-BEE8-79B0D5EC6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2880360"/>
            <a:ext cx="1234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选择项目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D43968AE-D68E-46AC-BA84-AD0F0E2CA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3163824"/>
            <a:ext cx="3246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项目、文件与版本状态进入上下文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1A6EC77D-F333-4079-A58B-C70F67122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3630168"/>
            <a:ext cx="384048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455DC8F6-7FBB-4AC8-9A2A-CA8BCA3F7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3630168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D304D0D3-C839-40D2-A9C4-CC13BDA73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3602736"/>
            <a:ext cx="1234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启动执行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340FB1CB-710A-4A8D-A361-4260166D5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3886200"/>
            <a:ext cx="3246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规划、工具动作与等待状态持续可见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2F5C127D-4225-4482-B006-116C92264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4352544"/>
            <a:ext cx="384048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601A43FD-AE7F-49A3-BF7A-40644CC36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4352544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93D5F10-1B85-4E62-97E7-76EF38DF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4325112"/>
            <a:ext cx="1234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审阅结果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ABBBE2A3-8F12-4A7B-83A3-1B5283BFA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4608576"/>
            <a:ext cx="3246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回答、产物、差异与验证证据分离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53292695-7996-4A0B-9B02-9AB383C63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5074920"/>
            <a:ext cx="384048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E82B573-7E7A-4A0C-874C-D70827578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507492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E47CC3AC-A957-4AA4-8490-6FE56DCA0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5047488"/>
            <a:ext cx="1234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沉淀能力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209BA258-97E7-4C95-9761-61E298932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5330952"/>
            <a:ext cx="3246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规则、技能与记忆进入后续任务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0DAD2772-838B-4DBF-AA23-DA662C495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现场演示使用当前 Mac Intel x86_64 构建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DB2172B6-8E02-4419-92EE-5FDC5F19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04 / 19</a:t>
            </a:r>
          </a:p>
        </p:txBody>
      </p:sp>
    </p:spTree>
    <p:extLst>
      <p:ext uri="{BB962C8B-B14F-4D97-AF65-F5344CB8AC3E}">
        <p14:creationId xmlns:p14="http://schemas.microsoft.com/office/powerpoint/2010/main" val="118986380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01FA0E6-8E7A-42F0-B887-A8F6FFB62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PRODUCT COMPLETENESS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DAF2FDF-A245-4DD3-B042-083F6E626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产品完成度：一个工作面覆盖完整任务生命周期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8367B06-768F-41F8-904C-BD29C7884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3AAE2F5-B658-4354-B94B-B43A6350B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产品能力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92BB15B-C244-47C7-B3C8-8027F87E9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F8DB26EE-6FC9-470C-A8F9-274C94568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4D9B2C4-BE72-4AA0-8B76-662089E3A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8288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0AB9138-03DB-4AD3-AFD5-FF9134DBB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18013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项目与会话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3B8C1C4-72D4-4D1F-8ACE-4ABA3D12B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585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Workspace、历史与版本上下文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EA00AE9-26D0-44E4-AEB9-C30744D2F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6642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1B86CAC-B929-47BA-94B9-45522D8E6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18288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D6A25835-74BD-48E4-9A34-7CE7E5FC1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18013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模型与服务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8807F5FD-4D79-4515-AC85-E4E006195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2585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BAI 默认与标准兼容协议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1EA4E188-1738-47ED-A664-A10048CE2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16642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05A7490-6C02-49D0-8EC3-5DB2062E6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18288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E07DB1E-7121-4144-A712-ECD8BCAD0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2" y="18013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实时进度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0265EAE-12A1-442F-A43B-8422A2031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22585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步骤、工具摘要与错误恢复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95CC7490-F960-4C04-AB29-6425EA387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0358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48E9995A-1FF3-4031-9604-B0B87D0EA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2004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A37EE258-A24F-4AAD-942A-656B5CF57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31729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文件与产物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71D34824-C994-4582-993E-A5FD1B8E3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6301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引用、预览、差异与文档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B8336945-5BA2-41F9-80E3-486908353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0358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5143D82-85D2-4D09-B96B-6A692642F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2004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88948990-D636-4B7D-BB5F-0461E2E44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31729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长期记忆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769033F6-9080-4983-9F72-A291EAD3D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6301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用户、工作区与项目作用域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5D911DA8-8851-4CC7-8294-A6749C30A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30358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55D001D2-5BBF-4993-94F7-C36BBD32F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32004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7A9C590E-2469-46D1-836E-F79D226F6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2" y="31729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产品能力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9D128355-68B2-4378-A3D2-EBE2C2873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36301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EBAI 命令、技能、规则与自动化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305F26A4-1430-4C0C-AA4B-7AB8BDC75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617720"/>
            <a:ext cx="10863072" cy="1298448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7890A773-22F1-493C-8E7C-B1F6F2A9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3559C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309A4FF1-2AF3-4480-9B6B-3D2025437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桌面目标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95D4EE09-07E6-4FB7-A329-31F222E8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mac-x64 / mac-arm64 / win-x64</a:t>
            </a: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2BD77709-F5B4-4EFF-98F9-FE1EFB203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2B7A78"/>
                </a:solidFill>
                <a:latin typeface="Aptos Display"/>
                <a:ea typeface="Aptos Display"/>
                <a:cs typeface="Aptos Display"/>
              </a:rPr>
              <a:t>168</a:t>
            </a:r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28D57732-E984-48BC-913E-39156BF67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测试文件</a:t>
            </a:r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38F03DAF-BB6E-47DD-82B9-DD527D191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main / runtime / renderer</a:t>
            </a: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ADC13613-851E-443B-B46C-82EE5F2B9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B87B16"/>
                </a:solidFill>
                <a:latin typeface="Aptos Display"/>
                <a:ea typeface="Aptos Display"/>
                <a:cs typeface="Aptos Display"/>
              </a:rPr>
              <a:t>/v1/*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4F3DEBBF-4466-412D-928F-E45360059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本地服务边界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B70113D6-4149-4B34-9165-ACD15C586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稳定桌面接口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538D353B-B426-4554-9631-537AE7848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336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D8644D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9621A4D6-1564-4BEC-95C8-855C52CD1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336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EBAI 能力形态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BAD37A0D-7AF6-4045-8A61-F2F851A05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336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Command · Agent · Skill · Rule · Hook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E758293B-053F-4CEA-997D-584AFA0A0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39775C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F99B03B2-BC45-4D5C-A63F-AE7E2640B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连续工作流</a:t>
            </a:r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43C6A9CE-B7B4-4279-BBCE-493697535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任务到产物再到复用</a:t>
            </a:r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2D002F5D-E0B4-42C5-9C30-168500BCF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当前实现证据：README · runtime adapter · EBAI capability tests</a:t>
            </a:r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B2E769D7-3715-4907-B4FD-56CF2CA79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05 / 19</a:t>
            </a:r>
          </a:p>
        </p:txBody>
      </p:sp>
    </p:spTree>
    <p:extLst>
      <p:ext uri="{BB962C8B-B14F-4D97-AF65-F5344CB8AC3E}">
        <p14:creationId xmlns:p14="http://schemas.microsoft.com/office/powerpoint/2010/main" val="136078413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42EA1A3-81FE-4DA4-8E99-A2A5645AB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LIGHTWEIGHT RUNTIME ARCHITECTURE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1E115F4-AC57-4F4E-9F9B-EAF6E140F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技术实现：单一 Runtime Host 收敛桌面复杂度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28F70A0-4549-47B8-B82E-13713ED18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82AD04D-6025-42ED-B2C6-3C34029EE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系统架构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4718F41B-1204-47FB-B44E-A35B082F0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3872348-ABFC-44D7-ACDB-2E30C69E9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86F39C3-3F2A-42AF-9163-E788CA7FA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Renderer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1B0CC4D-DDCE-49F0-8260-F9DB21CE0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工作台 UI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会话 / 设置 / 审阅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C9627F7-3553-4E8B-97DA-4D7C1D4C3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2888" y="2734056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F541698-99FD-4D21-8623-4E713913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936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B7F54D5-AF66-4BF0-A60C-5E4D61DAB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6664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Preload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98E094AF-C96B-4450-A219-E6791F81E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952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最小 IPC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受控桌面能力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3806B960-4FA0-4935-BADE-F6AE54862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456" y="2734056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33B725C9-60BF-4928-BDA3-D5B4587D9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5504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FEE2A05-213D-464C-B128-220F75136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5232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Main Host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19649A2-590C-49CC-8807-1BFE1C5E8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凭据 / 文件 / 生命周期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单一运行时入口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155F86C5-B920-4F84-A5A2-1D551562F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024" y="2734056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FEF2CDD8-8112-499B-81A1-134AE1E89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072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D67D7865-7656-4D09-96D8-695B2D475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Loopback API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9341F39C-2874-40DA-AA64-F1705D052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088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稳定 /v1/*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SSE 事件边界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A1F9157F-1721-4856-A64B-72F2C2875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2734056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52434F65-98BD-4E20-8485-8FE3AE102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82FFA292-F3ED-447B-B107-F0C4D32FE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368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BAI Code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C5350F36-6C89-42CE-8DA9-B4FCA4BB0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656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模型调用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工具执行 / 上下文压缩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D6249303-7616-43E0-AE68-F1D531E2F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078224"/>
            <a:ext cx="6903720" cy="1298448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D8E5E23E-1448-47A0-8798-FFA8FFD4B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315968"/>
            <a:ext cx="93268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协议隔离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BE67AC36-06CB-4394-8C4F-3E5E27143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4251960"/>
            <a:ext cx="5330952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上游 CLI 与服务契约的变化只进入 Runtime Host；Renderer 始终面对稳定的本地事件模型。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FFAF4D82-A313-49F2-ACCE-0920E71A1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828032"/>
            <a:ext cx="62636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结果：运行时可替换、桌面流程连续、错误可清洗、测试边界清晰。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ED3FFD65-2BDC-4C0F-BEBD-32BF67A99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4078224"/>
            <a:ext cx="3703320" cy="1298448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9883F265-7EB6-45D9-9CDB-191D0C5ED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4315968"/>
            <a:ext cx="309067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轻量拓扑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351C12BF-1071-4723-94D5-C409B08B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4645152"/>
            <a:ext cx="309067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单进程主机 · 本机回环</a:t>
            </a:r>
          </a:p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项目级状态 · 最短交付路径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64A02ECF-8A68-4741-AA2D-831691FA2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实现证据：runtime host · preload IPC · streaming adapter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E10B8644-9AB1-4716-AF6D-6112418AC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06 / 19</a:t>
            </a:r>
          </a:p>
        </p:txBody>
      </p:sp>
    </p:spTree>
    <p:extLst>
      <p:ext uri="{BB962C8B-B14F-4D97-AF65-F5344CB8AC3E}">
        <p14:creationId xmlns:p14="http://schemas.microsoft.com/office/powerpoint/2010/main" val="178640921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088BB25-0D71-4457-896D-E2E8F9239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RUNTIME DESIGN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C7C9AEB-817A-478D-BF13-460176C2C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架构选择：把复杂度收敛到项目级 Runtime Host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FAD4F85-F65F-44FD-B224-D78093680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4CF1232-7900-452D-B472-EA0312824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架构优势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35212E7-BC3D-4964-881F-373A4278F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6F65D79-2650-4753-8319-0AB169D49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517904"/>
            <a:ext cx="101498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系统复杂度集中处理，交付证据持续回到当前项目。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962A0703-231E-43D9-B71C-9D0ECA965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29968"/>
            <a:ext cx="5230368" cy="3493008"/>
          </a:xfrm>
          <a:prstGeom xmlns:a="http://schemas.openxmlformats.org/drawingml/2006/main" prst="roundRect">
            <a:avLst>
              <a:gd name="adj" fmla="val 2094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960D665-9080-4940-B654-93584E118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18288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27313A"/>
                </a:solidFill>
                <a:latin typeface="Aptos Display"/>
                <a:ea typeface="Aptos Display"/>
                <a:cs typeface="Aptos Display"/>
              </a:rPr>
              <a:t>控制边界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2CD4915-4E40-4DF5-AE86-EEDB60B17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5072" y="2313432"/>
            <a:ext cx="14813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7AE2753-7D3E-4107-A368-56DFA72D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8224" y="2322576"/>
            <a:ext cx="13350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Runtime Host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1CF5DE4A-2FAE-402C-93FA-1E002830A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08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584F1E0-A86F-4AC3-9EDB-8016ABD8F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85292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凭据、协议、文件访问和生命周期集中在主进程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780A03AC-D49D-439E-B78B-D0C1F2F0F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387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AEA1E2A-F2E8-4C1C-870E-AFD9C3ADF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40156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上游变化只进入适配层，不扩散到工作台界面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4269C6BF-333D-4D20-A4BB-B2EA2EC2C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8736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D5C8F411-06A9-4671-B5AB-0F416B7BC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95020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本机回环服务与稳定 /v1/* 构成清晰边界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978FA8C6-C7CA-42EF-BF6B-9B9CEBA4A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3600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BE1AB7C-E1E1-4F68-9F43-93EA346EE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49884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错误清洗、重试和事件归一化共享同一入口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45E403B5-EBBA-4FF7-A2AB-588935AB5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2029968"/>
            <a:ext cx="5230368" cy="3493008"/>
          </a:xfrm>
          <a:prstGeom xmlns:a="http://schemas.openxmlformats.org/drawingml/2006/main" prst="roundRect">
            <a:avLst>
              <a:gd name="adj" fmla="val 2094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A9FEC88-75A8-4821-9E4A-8E69C658D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2286000"/>
            <a:ext cx="19202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2B7A78"/>
                </a:solidFill>
                <a:latin typeface="Aptos Display"/>
                <a:ea typeface="Aptos Display"/>
                <a:cs typeface="Aptos Display"/>
              </a:rPr>
              <a:t>交付数据面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F5E5BDF4-B742-4D64-B6DB-1A0453A75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313432"/>
            <a:ext cx="14813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5DDF2DAD-FAA7-41D0-BEAF-0FD36E401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4352" y="2322576"/>
            <a:ext cx="13350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Workspace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3B74C874-B47B-4A64-9D16-E1CB9EF45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299008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51D79F1-0370-43C1-B0E1-81CF69BA2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285292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上下文、任务状态、权限与记忆围绕项目收敛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1F6C7F7A-220E-425D-9A9A-5EBDB0178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35387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8491932E-9A64-4E29-B66B-091047DE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340156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工具动作、等待、错误与完成进入统一时间线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B207D12E-A951-47D8-8969-DAB1E538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408736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33F037F3-DA59-433C-8B63-8FE4EAC67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395020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回答、文件、差异、截图与报告分区呈现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7C0A4CCC-AEB8-4310-B6D0-73FAA0479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463600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E84174FD-5DDD-48E9-81F1-FF441D6DD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449884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文件、测试、构建和运行证据共同完成验收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7A02FA8F-F30C-4496-B803-B5A767903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79008"/>
            <a:ext cx="9902952" cy="475488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91709F62-9776-447F-8BAF-348230C04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5852160"/>
            <a:ext cx="94823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Workspace Context → Runtime Host → Event Stream → Deliverables → Verification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A7547F5F-FE4B-4B04-86D7-4B59C5A3F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实现依据：runtime host · streaming adapter · project-scoped state</a:t>
            </a: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299A8192-D40F-4B0B-AE58-43F0A2337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07 / 19</a:t>
            </a:r>
          </a:p>
        </p:txBody>
      </p:sp>
    </p:spTree>
    <p:extLst>
      <p:ext uri="{BB962C8B-B14F-4D97-AF65-F5344CB8AC3E}">
        <p14:creationId xmlns:p14="http://schemas.microsoft.com/office/powerpoint/2010/main" val="14798476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40994E6-A29B-42B7-9854-F0145DAB0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RUNTIME OBSERVABILITY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34DA760-071A-49FB-8160-B309CBD36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可观测执行：把长任务转换为确定性状态机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73CD138-1597-4D6F-9765-729D19999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53A352F-473A-40A0-BA0C-C399D8DB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过程体验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6401345-8A21-4AE3-A16A-48CE12AD3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5807A04C-59E3-4582-8763-0F1320F37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FAC76977-5C0F-426A-A9CE-AF9C5FDE2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输入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66F54EB-5AF3-4C67-9101-CEB6ADBF4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目标与约束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A2C4B4D-62C6-4C7E-BBA2-48CE22DBA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1992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2986D58A-8B32-4C70-ABE8-9918CB4AF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C8347C3-349B-44D6-B249-9EE1F718F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4328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事件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4A80908-4575-4B74-B413-451466C80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4328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流式运行时输出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E9B5BAA5-5485-4465-8980-B8291550C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3944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61F50F80-0A7C-42DD-99AD-559BEC506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30787CE-338D-42AC-B861-5F8C18653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归一化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6E2D1A9-EA2E-4451-AECD-532DD897E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去重 / 分类 / 清洗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75BBA8DC-1162-4440-94C7-E11D44CB9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5896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04B7F8B6-17E3-45C6-9739-D8DD51BD5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A25D9BC-48BC-46C2-A6D8-D65BA4F6B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8232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时间线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458CAD39-0CC7-4872-8B5B-9FFE1DF81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8232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步骤 / 工具 / 等待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EF439926-3085-4872-A959-644E6A9EF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848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52A35EB1-3C1E-4074-87A2-62E1084B7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456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2E8ED0E-D268-41ED-93B7-A7FA1CADC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184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交付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530E3A22-7FE9-4372-96B6-F0A621F8B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184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摘要 / 产物 / 验证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0697A9E7-B5F1-4384-8C5A-4FF210C99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1B37C616-425E-45F0-8821-826141F1E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2408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AED1FE0A-77BE-40F9-B1C3-E8BE39332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2136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用量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E8474A74-7E80-4542-9F15-DE8735776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2136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可得则展示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1A2360EC-E5B1-4EC0-BB2E-657CF1AE1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0128"/>
            <a:ext cx="1325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A44747"/>
                </a:solidFill>
                <a:latin typeface="PingFang SC"/>
                <a:ea typeface="PingFang SC"/>
                <a:cs typeface="PingFang SC"/>
              </a:rPr>
              <a:t>原始输出问题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63F6D9EE-E060-4538-BBC4-C5C910169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639312"/>
            <a:ext cx="52120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1DEDE"/>
          </a:solidFill>
          <a:ln xmlns:a="http://schemas.openxmlformats.org/drawingml/2006/main" w="12700">
            <a:solidFill>
              <a:srgbClr val="F1DEDE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0C9693EB-CE03-42DE-876D-FBD0478A6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913632"/>
            <a:ext cx="4663440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A44747"/>
                </a:solidFill>
                <a:latin typeface="PingFang SC"/>
                <a:ea typeface="PingFang SC"/>
                <a:cs typeface="PingFang SC"/>
              </a:rPr>
              <a:t>工具语法与状态句混排</a:t>
            </a:r>
          </a:p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A44747"/>
                </a:solidFill>
                <a:latin typeface="PingFang SC"/>
                <a:ea typeface="PingFang SC"/>
                <a:cs typeface="PingFang SC"/>
              </a:rPr>
              <a:t>连接错误堆栈污染聊天</a:t>
            </a:r>
          </a:p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A44747"/>
                </a:solidFill>
                <a:latin typeface="PingFang SC"/>
                <a:ea typeface="PingFang SC"/>
                <a:cs typeface="PingFang SC"/>
              </a:rPr>
              <a:t>长时间无反馈，最终整段堆积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2F1CF9F8-5C98-4FDB-8A4A-B4C965CC8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3310128"/>
            <a:ext cx="1417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BAI Work 呈现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DDA8BB72-7409-4849-B631-68D8A16BF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639312"/>
            <a:ext cx="52120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1C708063-BE9B-4AB6-8390-F6968386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913632"/>
            <a:ext cx="4663440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正在检查工作区 → 已运行 6 条命令</a:t>
            </a:r>
          </a:p>
          <a:p xmlns:a="http://schemas.openxmlformats.org/drawingml/2006/main">
            <a:pPr marL="0" indent="0" algn="l">
              <a:buNone/>
            </a:pPr>
            <a:r>
              <a:rPr sz="14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连接中断：可重试并保留有效上下文</a:t>
            </a:r>
          </a:p>
          <a:p xmlns:a="http://schemas.openxmlformats.org/drawingml/2006/main">
            <a:pPr marL="0" indent="0" algn="l">
              <a:buNone/>
            </a:pPr>
            <a:r>
              <a:rPr sz="14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完成后只留下结论、产物与验证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C76F6698-ABB9-4637-BDA2-75244EA27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5532120"/>
            <a:ext cx="8119872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34150DA5-8791-49CC-BC6C-FC1D0AF7C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9424" y="5614416"/>
            <a:ext cx="76809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只展示可验证状态，不暴露模型内部推理；Telemetry 缺失时显示不可用，不伪造零值。</a:t>
            </a: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66601516-A054-4D87-B52A-09393B62D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实现证据：stream normalization · progress timeline · failure sanitization tests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5A9488B4-D4AC-4C06-8A57-B30BE91C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08 / 19</a:t>
            </a:r>
          </a:p>
        </p:txBody>
      </p:sp>
    </p:spTree>
    <p:extLst>
      <p:ext uri="{BB962C8B-B14F-4D97-AF65-F5344CB8AC3E}">
        <p14:creationId xmlns:p14="http://schemas.microsoft.com/office/powerpoint/2010/main" val="102337129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9DAC712-C3BC-469A-8FDC-3A1486071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CONTEXT BUDGET CONTROL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7C62D9A-6C3D-42B4-8C6E-A9600305A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Token Economy：先建立可配置预算，再谈节省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2371C1C-FDC8-45B1-99E7-4B072461C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B2A4CC2-8BFC-4CA8-8D37-AA6BB3AA2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上下文控制面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2C66256-6E2A-496F-8D4D-F60B9C311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691B4F5-0CA8-45A0-A0A2-284530EF0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3977640" cy="2084832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1CA3696-4572-4BBA-9300-03B72C958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938528"/>
            <a:ext cx="34290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2BE73"/>
                </a:solidFill>
                <a:latin typeface="PingFang SC"/>
                <a:ea typeface="PingFang SC"/>
                <a:cs typeface="PingFang SC"/>
              </a:rPr>
              <a:t>请求预算 ≠ 删除聊天记录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534541A-A27F-4692-AB82-2FDB5CE32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505456"/>
            <a:ext cx="342900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本次请求受限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3764058F-86B0-4D4B-8681-B6BB5C0F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127248"/>
            <a:ext cx="34290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C8D1D8"/>
                </a:solidFill>
                <a:latin typeface="Aptos"/>
                <a:ea typeface="Aptos"/>
                <a:cs typeface="Aptos"/>
              </a:rPr>
              <a:t>原始历史保留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752D767-2BE4-4ED6-9AC1-CB0B36063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1664208"/>
            <a:ext cx="6565392" cy="2084832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6AE2E0B-BE31-4F9C-A05F-6AAAEC6D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0368" y="1938528"/>
            <a:ext cx="60167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History Hygiene 默认预算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0F971F57-C4ED-46AF-8F94-B1304E410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0368" y="2542032"/>
            <a:ext cx="153619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8C1B3F4-3602-405A-85DA-2EBA71E96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551176"/>
            <a:ext cx="138988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320 行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E919219-9A29-4067-80E9-8AAA4CDD4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0368" y="2999232"/>
            <a:ext cx="15361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单次工具结果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9985525D-D92A-4E4E-B384-86B9A417F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542032"/>
            <a:ext cx="153619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EFFBA4E6-F27C-447F-B2DE-D15EC4E43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5472" y="2551176"/>
            <a:ext cx="138988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32 KiB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9A93D075-8F7B-414F-822B-E1D1B59F5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999232"/>
            <a:ext cx="15361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结果字节预算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A3805B86-7BCC-474D-9236-6647A180D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542032"/>
            <a:ext cx="153619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4901F3F0-C2E9-4484-9B49-EFA84E5D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4" y="2551176"/>
            <a:ext cx="138988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8K tokens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377B258E-4923-425A-B521-42558A15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999232"/>
            <a:ext cx="15361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结果 Token 预算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9891BE4D-826A-4C90-A6AC-88AD4FA88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160520"/>
            <a:ext cx="10863072" cy="1353312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9B8B1F59-7F7C-404F-8183-4342F8E7A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425696"/>
            <a:ext cx="10515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B87B16"/>
                </a:solidFill>
                <a:latin typeface="PingFang SC"/>
                <a:ea typeface="PingFang SC"/>
                <a:cs typeface="PingFang SC"/>
              </a:rPr>
              <a:t>控制契约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9062EE78-B13D-41FC-B757-363F4FEAC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4489704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B6DCEF8-C0A6-408C-9F97-F3E4246F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4352544"/>
            <a:ext cx="8823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工具参数字符串默认 8 KiB / 2K tokens，数组默认最多 80 项。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C5CEB66F-63EA-4C44-A705-B572F15B6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4873752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4C9949D5-DDFD-49F4-9FF5-656ABFA58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4736592"/>
            <a:ext cx="8823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共享类型、IPC schema 与 normalizer 共同限制非法或失控配置。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AC6DB3B1-4586-4D91-98BC-038355BE6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25780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7C8F19BE-3317-43CD-AE7B-06DE58557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5120640"/>
            <a:ext cx="8823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设置层保留压缩工具描述、工具结果和简洁回答的独立开关。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411FD9BE-1446-4C73-8D04-E474E2AF8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5852160"/>
            <a:ext cx="9601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遥测不可用时明确显示 unavailable，不把缺失数据包装成“节省 0%”。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2490FC08-DF08-4C21-BF96-D9DD8243C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实现证据：app settings · IPC schema · normalizer · usage telemetry guards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743AE35A-8993-475E-B3B4-53934C778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09 / 19</a:t>
            </a:r>
          </a:p>
        </p:txBody>
      </p:sp>
    </p:spTree>
    <p:extLst>
      <p:ext uri="{BB962C8B-B14F-4D97-AF65-F5344CB8AC3E}">
        <p14:creationId xmlns:p14="http://schemas.microsoft.com/office/powerpoint/2010/main" val="156249765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CE76CA1-D5B7-4FFD-A319-9A312C69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CONTEXT GOVERNANCE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E23DA71-36B4-4F3B-A909-969739E2E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双层上下文治理：历史卫生 + 压缩配置契约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5E6AA3A-E17A-4DBF-A9A3-4B4860CBA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3446072-09E7-44F1-9A25-1492AE72C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控制参数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8F1DC16E-67B2-412B-B213-1610C88E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17B3D367-2A49-4364-8AC3-9F0F8F894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1086307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B170D83-723D-45B3-8CD2-4D37ED4DF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1810512"/>
            <a:ext cx="5669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0DBDB81-FBE6-481C-A6FA-25EC44F30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1819656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L1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F2ED80D1-9B9A-4FC0-802A-32F45FA5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1792224"/>
            <a:ext cx="3291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History Hygiene / 工具结果预算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D300C368-06DE-49C5-B6A5-413B28440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2221992"/>
            <a:ext cx="3291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默认：320 行 · 32 KiB · 8K tokens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6541E52-3203-42E2-8EA9-5B70A012C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1792224"/>
            <a:ext cx="37490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定义工具结果上限；原始聊天记录保持不变。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CB38532-72DB-45B6-BB9C-60F93CBCF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56232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控制输入放大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588B004E-6567-4EC4-B98D-967FEA5C6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017520"/>
            <a:ext cx="1086307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30F8ED0C-5E8B-4676-8C2D-97B75C894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200400"/>
            <a:ext cx="5669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9842AC7-2FB2-48F7-8E59-274E92523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3209544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L2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5B25389-11E9-48CD-9CD9-B09C7DA44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3182112"/>
            <a:ext cx="3291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Tool Argument Guard / 工具参数预算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30311814-92D8-45E7-A6B4-F9B3D8A70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3611880"/>
            <a:ext cx="3291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默认：8 KiB · 2K tokens · 80 项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FC369838-84D0-4787-ADA5-07EEECAC8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3182112"/>
            <a:ext cx="37490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约束长字符串与数组展开；输入边界由 schema 和 normalizer 校验。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375445D-D7D7-4B31-8D5E-66CEBD090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4612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B87B16"/>
                </a:solidFill>
                <a:latin typeface="PingFang SC"/>
                <a:ea typeface="PingFang SC"/>
                <a:cs typeface="PingFang SC"/>
              </a:rPr>
              <a:t>降低结构冗余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EFB330A4-794C-4895-8312-122C3AF8F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407408"/>
            <a:ext cx="1086307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9B868407-914E-4378-9B33-4581EF12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590288"/>
            <a:ext cx="5669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EC31D20A-A9ED-4530-94B0-67C8B1698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4599432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L3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4F65BD5B-760D-47AC-B3B6-5772393C2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4572000"/>
            <a:ext cx="3291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Context Compaction / 摘要配置契约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CAE6B60D-4F71-4E42-8E9D-6726FFD4E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5001768"/>
            <a:ext cx="3291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默认：软阈值 16K · 硬阈值 24K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D243A666-ED3E-4B8E-BCDD-835875929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4572000"/>
            <a:ext cx="37490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启发式摘要；15 秒超时；摘要上限 1,200 tokens；输入 96 KiB。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1CD6DF83-80ED-40B6-8393-61939A34A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636008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为运行时留出空间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E20AE4C4-A4AB-4D22-8030-E3314E364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70448"/>
            <a:ext cx="10863072" cy="36576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0C8D647A-87D6-4881-8C2D-90A874C4C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925312"/>
            <a:ext cx="103784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证据边界：这是可配置控制面与压缩配置契约；实际节省量只在后端提供遥测时展示。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236C3E50-A06A-47A4-904D-98F39EB9F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实现证据：history hygiene defaults · compaction settings · validation bounds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E40970A2-39D4-4EA8-B130-7360D1230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10 / 19</a:t>
            </a:r>
          </a:p>
        </p:txBody>
      </p:sp>
    </p:spTree>
    <p:extLst>
      <p:ext uri="{BB962C8B-B14F-4D97-AF65-F5344CB8AC3E}">
        <p14:creationId xmlns:p14="http://schemas.microsoft.com/office/powerpoint/2010/main" val="86078992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3733925-5497-4B1D-95A6-611917543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EBAI PRODUCT CAPABILITY SYSTEM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14ECC31-805B-4995-B046-6AD42BBF4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EBAI：BAI Work 面向用户的能力体系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06CF888-F7EC-45AD-9833-611BCB0E3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9FB63D5-CE79-4550-AC74-B52ACF3D4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产品能力层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2B5806E-EEFF-46EA-B697-8C0B464BC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96633842-AB5A-4683-B083-05FF4FA10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10512"/>
            <a:ext cx="1554480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EE8B194-217A-44C2-879E-D9D09C52A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029968"/>
            <a:ext cx="1371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EBAI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820C096-B971-4868-B873-0B064F00C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2542032"/>
            <a:ext cx="133502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能力随应用呈现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统一产品身份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315D87D8-0F53-43D9-9C7A-BCD15C919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72" y="1810512"/>
            <a:ext cx="1554480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F1DEDE"/>
          </a:solidFill>
          <a:ln xmlns:a="http://schemas.openxmlformats.org/drawingml/2006/main" w="12700">
            <a:solidFill>
              <a:srgbClr val="F1DEDE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4F1D84C6-CD2C-4B73-B630-0A85D9917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6312" y="2029968"/>
            <a:ext cx="1371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A44747"/>
                </a:solidFill>
                <a:latin typeface="Aptos"/>
                <a:ea typeface="Aptos"/>
                <a:cs typeface="Aptos"/>
              </a:rPr>
              <a:t>Commands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DE21D3A-B8D2-421A-AF83-59FC3BD12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42032"/>
            <a:ext cx="133502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项目命令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运行时可加载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B0E4E309-7D5D-43EB-99EA-F8C41F239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24" y="1810512"/>
            <a:ext cx="1554480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CE026AE5-4470-40D9-866E-129839770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8264" y="2029968"/>
            <a:ext cx="1371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Agents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49B78527-5600-4613-B949-E24F7116A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2542032"/>
            <a:ext cx="133502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专业角色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以命令工作流接入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67FD65D2-10A0-4788-937D-4FB2001EB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8776" y="1810512"/>
            <a:ext cx="1554480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A93BC9F-5950-4482-BC8E-55CC56A73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216" y="2029968"/>
            <a:ext cx="1371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Skills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F558F476-6C67-44FB-A46A-22C6031DB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2542032"/>
            <a:ext cx="133502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任务方法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运行时可加载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1A056CDA-B07A-4454-973F-283F00770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1810512"/>
            <a:ext cx="1554480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3B6F5434-CD6C-4C7C-849E-46257311B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2168" y="2029968"/>
            <a:ext cx="1371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Rules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6079A1CA-FC66-4CE1-8AF4-8BF164F55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456" y="2542032"/>
            <a:ext cx="133502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行为约束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以 Skill 指令接入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48F113DA-9795-407A-B480-5535F7663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2680" y="1810512"/>
            <a:ext cx="1554480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FBB33A4C-AEB8-4B2E-AF09-6DE90460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4120" y="2029968"/>
            <a:ext cx="1371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Hooks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2462D1AF-5FE7-4B4F-88F2-C17E398F7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2408" y="2542032"/>
            <a:ext cx="133502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自动化契约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Manifest 已生成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698E8660-C155-4DF8-862C-91C471C70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94760"/>
            <a:ext cx="5212080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060F082D-0A5F-4E34-B177-FDBE80D2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059936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6172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用户可用能力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AD69CFD1-CC20-491C-9B77-917E44931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4123944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8A99F748-03F2-4EE4-B4C2-3535E18B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986784"/>
            <a:ext cx="347472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命令、技能与规则进入任务上下文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CE286534-98FB-42CB-9481-CB64764DB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4517136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C99BCE2D-CBA9-43AE-9F2F-BA4633E61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379976"/>
            <a:ext cx="347472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Agent 以专业命令工作流对用户呈现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ADCCE1CE-1047-44DF-85B0-8047FD7D3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49103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389144D2-E11A-4D03-8605-2B42404AD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773168"/>
            <a:ext cx="347472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Hooks 保留能力定义，执行契约待 Runtime 支持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A6D8B18E-95E3-4045-8ADE-38A091350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3794760"/>
            <a:ext cx="5376672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D1E2240F-C24F-4947-9492-F8DA316B9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4059936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当前状态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1854F9D1-ED81-471A-9954-31C44C272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3950208"/>
            <a:ext cx="3584448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FFFFFF"/>
                </a:solidFill>
                <a:latin typeface="Aptos"/>
                <a:ea typeface="Aptos"/>
                <a:cs typeface="Aptos"/>
              </a:rPr>
              <a:t>Commands · Skills：安装后可加载</a:t>
            </a:r>
          </a:p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FFFFFF"/>
                </a:solidFill>
                <a:latin typeface="Aptos"/>
                <a:ea typeface="Aptos"/>
                <a:cs typeface="Aptos"/>
              </a:rPr>
              <a:t>Agents：命令化接入</a:t>
            </a:r>
          </a:p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FFFFFF"/>
                </a:solidFill>
                <a:latin typeface="Aptos"/>
                <a:ea typeface="Aptos"/>
                <a:cs typeface="Aptos"/>
              </a:rPr>
              <a:t>Rules：Skill 化接入</a:t>
            </a:r>
          </a:p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FFFFFF"/>
                </a:solidFill>
                <a:latin typeface="Aptos"/>
                <a:ea typeface="Aptos"/>
                <a:cs typeface="Aptos"/>
              </a:rPr>
              <a:t>Hooks：默认关闭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A315F553-0EDF-48CA-A12F-FA55493E7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5797296"/>
            <a:ext cx="9966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这些能力就是 BAI Work 的产品能力；来源与安装只属于内部交付方式。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E89C3B55-F85B-48D6-A089-536C583B9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实现证据：runtime instruction loader · component install tests · hook manifest guard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3AD84616-08DB-4C3F-8694-1AAE0EF06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11 / 19</a:t>
            </a:r>
          </a:p>
        </p:txBody>
      </p:sp>
    </p:spTree>
    <p:extLst>
      <p:ext uri="{BB962C8B-B14F-4D97-AF65-F5344CB8AC3E}">
        <p14:creationId xmlns:p14="http://schemas.microsoft.com/office/powerpoint/2010/main" val="42306814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5F9999A-7FCC-41C6-B9C1-243E04062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HOOK CAPABILITY BOUNDARY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6242D65-3347-424E-A469-61629FA57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EBAI Hooks：能力已纳入产品体系，执行仍服从 Runtime 契约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2DF873E-EC85-4AD8-A04D-290230FC7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F3B8073-F891-4BDC-B0D1-B131D987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能力边界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89A8F59-7255-46E6-BAE5-00B8B4F9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AD5E47D-CDBF-4C2F-B81F-F331E7F7A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4983480" cy="4315968"/>
          </a:xfrm>
          <a:prstGeom xmlns:a="http://schemas.openxmlformats.org/drawingml/2006/main" prst="roundRect">
            <a:avLst>
              <a:gd name="adj" fmla="val 16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CC5C8CE-C01A-49CC-A5A4-203C1B194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74520"/>
            <a:ext cx="2011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B87B16"/>
                </a:solidFill>
                <a:latin typeface="PingFang SC"/>
                <a:ea typeface="PingFang SC"/>
                <a:cs typeface="PingFang SC"/>
              </a:rPr>
              <a:t>Hook 能力模型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D373C3C-2435-4678-9339-5ACBE64A3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3957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消息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FA7785A1-D9F5-4932-B590-6223C1F36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25237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A0FFEC23-EC8F-4310-8127-0A5626D01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23957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message_submit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352B81A-8DAC-44E2-BB02-75837EFE9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529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会话开始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A06C23C5-0EBD-4C1A-88AA-BC2D84649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29809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0E72801-8534-4278-85BC-C73DFD476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28529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session_start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13C2E25-DA17-4769-AA05-D0A90948F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101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工具调用前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B9C7A807-D334-44BA-A22C-BD5236D37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34381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40C07443-C562-4B94-9146-768CDEB2B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33101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tool_call_before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BF10FB04-3144-407B-B95A-960EB23F0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7673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工具调用后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F58466B1-C852-4926-A323-8C0B6B478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38953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39BF4744-02CF-4CBD-B4CC-B9F3AED9E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37673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tool_call_after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1BED6097-E53F-45E6-89A9-657505BD9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245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轮次结束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EEB60CE8-6956-432B-8768-5A04DEFDA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43525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7430D43-98F2-4B73-A35B-C4AF3B2A9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42245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turn_end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38C5E674-8CAD-489E-8AE8-3C918AA70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6817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会话结束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593436B4-73E4-40E2-8893-5DF746238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48097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98551763-E42C-4E00-93DC-032971DE0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46817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session_end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D13A4C90-B8AF-4A2E-BC70-48D1E55F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1888" y="1627632"/>
            <a:ext cx="5559552" cy="4315968"/>
          </a:xfrm>
          <a:prstGeom xmlns:a="http://schemas.openxmlformats.org/drawingml/2006/main" prst="roundRect">
            <a:avLst>
              <a:gd name="adj" fmla="val 1695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46676A10-0553-469A-9C52-24567A93D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874520"/>
            <a:ext cx="21031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F2BE73"/>
                </a:solidFill>
                <a:latin typeface="PingFang SC"/>
                <a:ea typeface="PingFang SC"/>
                <a:cs typeface="PingFang SC"/>
              </a:rPr>
              <a:t>当前交付状态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9F7DB116-12C5-435C-8A02-73E162B8B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6243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A0F879A5-28EF-41AE-AF5D-4080E6271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48716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生成的全局 manifest 始终 enabled = false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13F544A2-BDC9-4CBC-9EE6-E7E8C2A97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12724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1CE6E8FE-85E1-419F-B1A4-F99E9E2D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99008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当前设置页 Hook 开关保持禁用</a:t>
            </a:r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FA64B9CF-6CD2-43AD-BC48-A43BCC7DC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63016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DF14CD99-1E96-4958-B1FE-1FC390FDD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49300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BAI Code 0.9.1 尚无 Hook 执行契约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E869ED17-B03A-4EBD-B167-BA858214A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13308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A57514F2-E353-428D-BD3D-A478FF90B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9592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只有显式工作区才允许生成项目配置</a:t>
            </a:r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FFB0A800-FC52-46F8-83BC-877C3252E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63600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45147916-910C-4977-A55E-A6E300D8B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49884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不安全路径与符号链接会被拒绝</a:t>
            </a:r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D7CD96E0-16C4-4B56-B02F-4BB4168A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51389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E4405770-88EA-4D7F-A3FD-119191AD1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00176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未支持事件被记录，不伪装为已执行</a:t>
            </a:r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6551CEF4-668C-48F3-9866-B29AE0A10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5468112"/>
            <a:ext cx="123444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A44747"/>
          </a:solidFill>
          <a:ln xmlns:a="http://schemas.openxmlformats.org/drawingml/2006/main" w="12700">
            <a:solidFill>
              <a:srgbClr val="A44747"/>
            </a:solidFill>
            <a:prstDash val="solid"/>
          </a:ln>
        </p:spPr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A7CAAFD3-266F-4BB0-951A-6519DBA0B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77256"/>
            <a:ext cx="108813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能力已建模</a:t>
            </a:r>
          </a:p>
        </p:txBody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24EAB360-986D-4D99-A7F4-C36B1D920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2" y="5468112"/>
            <a:ext cx="135331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A13CCAF1-7267-403B-B766-D7FA7CC0C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424" y="5477256"/>
            <a:ext cx="120700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执行未开放</a:t>
            </a:r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257C4771-1522-4D8C-A190-2CAB46B12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2328" y="5468112"/>
            <a:ext cx="123444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BC6D9B51-4D52-43F9-B462-F0DC818CC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5477256"/>
            <a:ext cx="108813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边界可验证</a:t>
            </a:r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8BDCD775-94BE-4781-A2D3-16D259BA9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交付原则：产品能力与当前可执行状态分开陈述；未开放能力不冒充为已生效</a:t>
            </a:r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1CF4EF38-5482-4897-B929-C6A8068A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12 / 19</a:t>
            </a:r>
          </a:p>
        </p:txBody>
      </p:sp>
    </p:spTree>
    <p:extLst>
      <p:ext uri="{BB962C8B-B14F-4D97-AF65-F5344CB8AC3E}">
        <p14:creationId xmlns:p14="http://schemas.microsoft.com/office/powerpoint/2010/main" val="106370922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3A37539-3968-49BB-9111-9ABA0265D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AGENT EXECUTION LOOP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F2120B7-15C3-4AB9-8B70-264AC3E29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AI 深度：上下文、工具、产物与验证构成闭环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7D1ACC5-8F8F-4E10-840F-65E7374BA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D9B7C32-577B-48BB-9642-4BFBC9915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Agent 系统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4D5E22B-B54A-4740-9159-45D8C29A7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988F5DE-83CC-4F4F-BCA0-6936FFB5E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00200"/>
            <a:ext cx="6748272" cy="4462272"/>
          </a:xfrm>
          <a:prstGeom xmlns:a="http://schemas.openxmlformats.org/drawingml/2006/main" prst="roundRect">
            <a:avLst>
              <a:gd name="adj" fmla="val 16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6ECCCDF6-89A4-4152-B36D-F199F7B2E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1993392"/>
            <a:ext cx="2331720" cy="932688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873307B-AD38-4CA8-8BBE-CAA1635E7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2139696"/>
            <a:ext cx="65836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上下文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408073A-0065-4D9D-9411-675A619C7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251460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Workspace · 文件 · 版本 · 记忆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EACB37F0-FD48-42FC-BD0F-3A776849D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993392"/>
            <a:ext cx="2331720" cy="932688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5703D0B-6A5F-4072-9F3B-33B9A35F2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2139696"/>
            <a:ext cx="65836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规划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EEA9614-F0FD-498C-851A-13CA966FB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251460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目标拆解与约束解析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026FB301-8E39-4874-8671-2FE4D6A38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4005072"/>
            <a:ext cx="2331720" cy="932688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1D317BC-B010-416E-89DE-C6D9D5906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4151376"/>
            <a:ext cx="65836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工具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9D2BF24-9CF0-4392-A66F-2EB28D7A1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452628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命令 · 文件 · 检索 · 技能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8D0B49E5-D5C6-425D-A7C4-077FEFB15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005072"/>
            <a:ext cx="2331720" cy="932688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EDE1FCC-902F-4BE2-ACE5-E35681B39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4151376"/>
            <a:ext cx="65836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产物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6E587F2-6595-491C-B66F-6A6253E30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452628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代码 · 文档 · 图表 · 差异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7685A0F3-D10C-413A-B634-B0C2F507F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468880"/>
            <a:ext cx="84124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AB15C7CC-03BB-49D1-83A5-62DA62E78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7568" y="2962656"/>
            <a:ext cx="0" cy="93268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AFB3604F-47B2-4811-A67E-21A49B487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3611880" y="4480560"/>
            <a:ext cx="84124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CFB5EDF2-A5E7-46F4-BCD2-B2902EFDF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395728" y="3035808"/>
            <a:ext cx="0" cy="89611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0D616701-BCDA-4972-91C8-E64C1F112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145536"/>
            <a:ext cx="2606040" cy="64008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09E9A6CA-9702-44AA-A189-24A0AF984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216" y="3236976"/>
            <a:ext cx="23500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验证门：结果一致 · 文件存在 · 测试/运行证据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4A9794AD-6153-4730-AF8D-AD34B80DA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1600200"/>
            <a:ext cx="3794760" cy="4462272"/>
          </a:xfrm>
          <a:prstGeom xmlns:a="http://schemas.openxmlformats.org/drawingml/2006/main" prst="roundRect">
            <a:avLst>
              <a:gd name="adj" fmla="val 1928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934D3542-0AEE-4906-9255-85B8A0129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920240"/>
            <a:ext cx="318211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系统级 AI 应用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359B3BFA-710F-49BC-BA39-5FF4E191C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69748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4952394D-BC40-47A4-9F66-13DC0144B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56032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多轮上下文与自动压缩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FC5EFCB4-2CA8-4ECC-A9D4-7EC0975C5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20040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0D692C3D-7C13-4DA8-A8DB-CD19826A3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06324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基于事件流的工具执行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CE2498D4-7A5C-4047-AD53-FE1F63898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0332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4D7A42EF-FA32-44DA-A521-57A709A14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56616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项目级权限与工作区边界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2DB8EB61-4806-4561-9217-8B442A68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20624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18B1CF6E-93FD-4F7B-97E8-544381C8F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06908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产物生成后的验证与摘要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58A9A8F0-F2C5-46D9-A848-EDFC6D762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70916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835F19B9-11DA-4732-8EBB-126D8C047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57200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长期记忆与能力复用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1C90AFDE-3450-4F9B-8514-BF2A4FDD2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521208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73ADE29B-C244-430C-8A56-3D76611E0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07492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可选的签名与发布溯源方向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D96492D4-F2DA-48EE-8BA1-6741C9603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AI 的价值通过任务闭环证明；生态溯源作为未来方向，不包装为当前能力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99E20924-7674-45BD-B59B-A6A49372E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13 / 19</a:t>
            </a:r>
          </a:p>
        </p:txBody>
      </p:sp>
    </p:spTree>
    <p:extLst>
      <p:ext uri="{BB962C8B-B14F-4D97-AF65-F5344CB8AC3E}">
        <p14:creationId xmlns:p14="http://schemas.microsoft.com/office/powerpoint/2010/main" val="61014195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B73DC85-B551-4A8D-B243-52B134DE7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BAI WORK EVIDENCE CHAIN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E88E82E-1EFF-4BB2-9F93-AB0D8CC50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交付闭环：从输入到验收，每一步都有工程证据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95581FC-ACB6-4278-A7C9-50F14C6DC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119595E-07D9-400C-92E8-829C3614A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综合证据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23C8DA4-FE7C-40C2-B5EA-386FFDCCC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5A5004A3-2BF8-41BE-9AC7-723771B85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2029968" cy="493776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7B12A13-6B7D-4910-B81F-CAE6B94C5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55648"/>
            <a:ext cx="184708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交付阶段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B49463E-C467-442A-8766-CFA19E015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8336" y="1664208"/>
            <a:ext cx="2926080" cy="493776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6EF5026-1BE2-42CB-BEF8-EA8828991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9776" y="1755648"/>
            <a:ext cx="2743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用户价值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3DCB78C9-E0F8-46C6-AE2E-9F72C7AB6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1664208"/>
            <a:ext cx="2743200" cy="493776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F7D17E40-AC99-40D8-84CE-B7476053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755648"/>
            <a:ext cx="25603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系统机制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48EBFD5-D7A0-4F14-9399-561D614D5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9056" y="1664208"/>
            <a:ext cx="3072384" cy="493776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71DCF8BC-9528-4B1B-A590-949C8E101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0496" y="1755648"/>
            <a:ext cx="288950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可验证证据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8337EB54-37CB-43DF-8600-9C09B903D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304288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6575CEB-7254-4367-B4C7-7F24DF058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395728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配置进入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8983B725-49E6-4299-BD07-1B997869F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2395728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完成服务与模型就绪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B750D2AD-C91D-48BA-9202-867B27931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2395728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凭据隔离 · 探测 · 能力发现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F2970AD-9DDC-4C32-93B3-17AC794CB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2395728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连接与模型发现测试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F8C17BE2-081E-49CA-9E73-4BBCE3C60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889504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7B452F1-EF70-43B3-AC84-AD48DC4E4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980944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任务执行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C4965E0-3ADC-43DF-BFF9-4F31B82B9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2980944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项目内发起并持续看见推进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CFC0968A-F791-4522-9EE1-1746DB2A6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2980944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Runtime Host · SSE 归一化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20205AD8-9B87-4977-B5A0-E3A387203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2980944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适配器与流式事件测试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3EE1D081-C312-487F-AEBC-3ABBCACFE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474720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874ADFC1-9D6D-45BD-AFAB-6E1A1E083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566160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上下文经济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DAF35205-C71E-41ED-A5BE-DD4A843B3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3566160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请求预算与摘要边界可配置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B8415DB4-8674-4F37-AB12-200455426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3566160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历史卫生 · 压缩配置契约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E3BEAE3C-1D72-433F-B99E-C1ACC5CB0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3566160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默认值与输入边界测试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3726103B-4D79-4111-BED3-6BB62EC0D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059936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81A6E6C3-0228-4308-BFC7-12F4297A7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151376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能力体系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C19984EA-0009-49B4-9B43-CA4B0F4EF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4151376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五类能力归入 BAI Work 产品体验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5E666A3E-925D-48B1-B053-D7FE2C864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4151376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347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命令/技能加载 · Rule 指令 · Hook manifest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33D9EF85-5889-4009-9B0E-6460245BC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4151376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加载与 manifest 安全测试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D90359F8-7E34-4610-B7AB-77B1F3DBC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645152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BFDB9EA6-2261-4546-9E69-45D7C05F1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736592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产物交付</a:t>
            </a:r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06E0CCBF-809A-4B69-A150-658FC2033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4736592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回答、文件、差异与摘要分区</a:t>
            </a: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0E44E18B-1636-426D-98F8-DF313425D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4736592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结果区与项目文件联动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E19F6D27-F01B-4A2F-A87B-9767584C3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4736592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文件存在性与差异证据</a:t>
            </a:r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99248C4F-60BD-470E-956C-39B834BC8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230368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62716077-965F-4876-902E-3A153A40F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321808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工程验收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02EF7568-13FB-4DE6-94F6-6F9FD6074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5321808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从代码验证到桌面包体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6A7790C6-9833-4EA2-B34E-BAA61A51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5321808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类型检查 · 测试 · 构建 · 打包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86144529-7118-4D52-99A8-76020887D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5321808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自动化测试与运行 smoke</a:t>
            </a:r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F1A1BFA3-7F6D-404B-B86A-0A4D2DEBB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961888"/>
            <a:ext cx="10168128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C56B72D4-9F4B-4EFE-97BB-2141A601E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6007608"/>
            <a:ext cx="9765792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上手、执行、上下文、安全、交付、验收——每个价值点都能回到实现与现场证据。</a:t>
            </a:r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C63E27C0-CC62-4BE3-B73A-E5D79946D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证据来源：BAI Work 当前代码 · 自动化测试 · 构建与运行结果</a:t>
            </a:r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16585625-DB1E-4603-B165-1AA20CE40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14 / 19</a:t>
            </a:r>
          </a:p>
        </p:txBody>
      </p:sp>
    </p:spTree>
    <p:extLst>
      <p:ext uri="{BB962C8B-B14F-4D97-AF65-F5344CB8AC3E}">
        <p14:creationId xmlns:p14="http://schemas.microsoft.com/office/powerpoint/2010/main" val="523960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91B8F6F-03DE-47D3-9314-08CA8EF9A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ENGINEERING PROOF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D45C8AB-A112-437A-86E7-DE84B83D5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工程证据：不是原型截图，而是可构建的软件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F5F9B6A-BB03-4598-A617-337C5325D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24B4B50-2B60-4AB7-BCA6-42039E800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交付验证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929B08B-0177-4ED5-81EC-D003998BB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14ED56D4-769F-4466-B0C5-750F03E23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2450592" cy="1536192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4562A19-F393-490F-826A-BE65DAEB8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1865376"/>
            <a:ext cx="2048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3559C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96C3642-FAC8-4B91-B5DA-F31E22328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340864"/>
            <a:ext cx="20482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桌面平台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D50D222-5992-4F04-8FAD-D654D2AF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633472"/>
            <a:ext cx="204825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Mac Intel / Apple Silicon / Windows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C8295612-39B5-46B1-9AC0-BBE29DE5E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1664208"/>
            <a:ext cx="2450592" cy="1536192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599D4C6-E1D4-43EC-B705-0C5435A24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1865376"/>
            <a:ext cx="2048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2B7A78"/>
                </a:solidFill>
                <a:latin typeface="Aptos Display"/>
                <a:ea typeface="Aptos Display"/>
                <a:cs typeface="Aptos Display"/>
              </a:rPr>
              <a:t>168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09D7D2C-A8A5-4387-9F31-D6C4B922D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340864"/>
            <a:ext cx="20482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测试文件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552B776D-4B2A-41D4-A9C1-B612521F3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633472"/>
            <a:ext cx="204825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覆盖 main、runtime、renderer 与服务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77D49F28-B718-4F8B-844E-404F22A93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1664208"/>
            <a:ext cx="2450592" cy="1536192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91D0773-55C9-483C-85B1-BEA351A31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865376"/>
            <a:ext cx="2048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39775C"/>
                </a:solidFill>
                <a:latin typeface="Aptos Display"/>
                <a:ea typeface="Aptos Display"/>
                <a:cs typeface="Aptos Display"/>
              </a:rPr>
              <a:t>1,144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241A2E6-1E5A-48F8-8DEC-1A24E66CC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340864"/>
            <a:ext cx="20482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自动化测试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D26629BE-D111-4DDA-98CE-22B657FB2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633472"/>
            <a:ext cx="204825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完整测试基线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5A23A21D-DFBA-4B35-9CE0-36D481420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7968" y="1664208"/>
            <a:ext cx="2450592" cy="1536192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13F73AF6-5E72-40D7-A5D3-3C67A12B6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865376"/>
            <a:ext cx="2048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D8644D"/>
                </a:solidFill>
                <a:latin typeface="Aptos Display"/>
                <a:ea typeface="Aptos Display"/>
                <a:cs typeface="Aptos Display"/>
              </a:rPr>
              <a:t>0.9.1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70A24FF-A6AB-4B5F-A9BE-2987B85F6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340864"/>
            <a:ext cx="20482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BAI Code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D7ADA91D-DCBA-4C25-ACEC-CA63F9A2A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633472"/>
            <a:ext cx="204825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Mac Intel packaged runtime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A497EC2B-7BDE-40C6-8266-FFAECCBB4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675888"/>
            <a:ext cx="2331720" cy="512064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096DB532-7B2E-40AB-B09B-0D21290F4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758184"/>
            <a:ext cx="199339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macOS Intel x64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B94B980-F7BF-4D31-93C1-B45DEEF50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3730752"/>
            <a:ext cx="50292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自包含 Python 3.11 + BAI Code runtime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44374C33-4773-43FF-91E7-D5C243990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3767328"/>
            <a:ext cx="26517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B9B1343F-4DEE-47B9-8C3D-C07BD745C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0224" y="3776472"/>
            <a:ext cx="25054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本机构建与运行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AC069ABB-2039-4863-8EC7-B785FE68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370832"/>
            <a:ext cx="2331720" cy="512064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02F03BB9-6C1F-4CC7-9E35-B050E63C6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453128"/>
            <a:ext cx="199339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macOS arm64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5246182A-67EE-4D71-9834-5D50DA072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425696"/>
            <a:ext cx="50292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官方运行时 wheelhouse + 用户目录环境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C25C4B80-FAE4-4F8D-86C4-4B96B0CF5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4462272"/>
            <a:ext cx="26517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3154CBD1-1F04-4F54-A91F-DDBCD1C8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0224" y="4471416"/>
            <a:ext cx="25054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原生构建与 smoke</a:t>
            </a:r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FAF1A933-AB74-411F-8F4F-D89358A84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065776"/>
            <a:ext cx="2331720" cy="512064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CFCAE51D-D5BB-4244-93FB-F39021500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48072"/>
            <a:ext cx="199339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Windows x64</a:t>
            </a: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EF0C13AB-8782-40D8-8748-752A6D1AE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5120640"/>
            <a:ext cx="50292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官方 win_amd64 wheelhouse + 安装包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732B88B7-58D3-4360-BE93-145FB8ADD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5157216"/>
            <a:ext cx="26517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B6E306D2-DC3F-4E2A-A501-8C2A5D796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0224" y="5166360"/>
            <a:ext cx="25054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原生构建与 smoke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F81A47B3-F4B9-4050-B4EF-C823043BA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863072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AA63ADD0-4149-4E83-9E15-A41DDE113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943600"/>
            <a:ext cx="103784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验证链：typecheck → lint → unit tests → production build → desktop package → packaged runtime smoke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32A8B628-F64F-423C-A2AA-6DFD49024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当前主版本：Mac Intel x86_64；其余平台保持同源实现与原生验证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54487264-5CE4-4F2B-8F30-5B92A503F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15 / 19</a:t>
            </a:r>
          </a:p>
        </p:txBody>
      </p:sp>
    </p:spTree>
    <p:extLst>
      <p:ext uri="{BB962C8B-B14F-4D97-AF65-F5344CB8AC3E}">
        <p14:creationId xmlns:p14="http://schemas.microsoft.com/office/powerpoint/2010/main" val="210336836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B22ADC5-7F44-43A5-91D1-CABF7557C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TARGET USERS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98B714B-C854-4321-AAE8-F6124888D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目标用户：先占领高频、长链路的项目工作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D7B0B91-C89E-4A2C-A62E-02D9321B9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CBC0E2A-2B07-49FD-B247-F2C91438E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市场切入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4F8F3F8-98C0-4861-B4DF-4474D9F63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FC29BA3B-E3D8-40D1-8087-586DB5181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91640"/>
            <a:ext cx="3364992" cy="3584448"/>
          </a:xfrm>
          <a:prstGeom xmlns:a="http://schemas.openxmlformats.org/drawingml/2006/main" prst="roundRect">
            <a:avLst>
              <a:gd name="adj" fmla="val 2174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2727EC9-C70E-434F-BD18-C8BB00FA7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1901952"/>
            <a:ext cx="457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7A1999D-9870-49B9-8D5F-EC06817F9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2267712"/>
            <a:ext cx="2880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个人开发者 / 研究者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A2F221B-1B41-4083-8D3D-2588588AA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3035808"/>
            <a:ext cx="1005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核心摩擦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8E6FBA7-B359-4E71-8D5E-EF907D5CB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3364992"/>
            <a:ext cx="28712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本地项目任务长、文件多、上下文重复传递。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8E7821B-1140-4F5E-904D-103274364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4224528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BAI Work 价值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7C37BD5-8E3F-4900-8BAB-30A65E442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4553712"/>
            <a:ext cx="287121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从问题到代码、文档和图表的一站式交付。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EA142BF4-383B-441C-9A8C-67C09C659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691640"/>
            <a:ext cx="3364992" cy="3584448"/>
          </a:xfrm>
          <a:prstGeom xmlns:a="http://schemas.openxmlformats.org/drawingml/2006/main" prst="roundRect">
            <a:avLst>
              <a:gd name="adj" fmla="val 2174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90BB813-5E7D-420B-A39E-D41067F8E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1901952"/>
            <a:ext cx="457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1D496BC-5E90-495F-BBCD-CF840AD02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2267712"/>
            <a:ext cx="2880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小型研发团队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F1F4F1D1-B532-49B3-928F-C42ABC26D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3035808"/>
            <a:ext cx="1005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核心摩擦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9FA70BB9-6525-4337-955F-5735F3480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3364992"/>
            <a:ext cx="28712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流程难复用，Agent 行为和权限口径难统一。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7A364E1-3FC9-4F80-8537-FB7407C5F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4224528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BAI Work 价值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BABB09D-71C1-4B63-B231-B8B0FD672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4553712"/>
            <a:ext cx="287121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共享技能、规则、服务配置与审阅标准。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5095A1CF-1F26-4016-A83A-B64D896C9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691640"/>
            <a:ext cx="3364992" cy="3584448"/>
          </a:xfrm>
          <a:prstGeom xmlns:a="http://schemas.openxmlformats.org/drawingml/2006/main" prst="roundRect">
            <a:avLst>
              <a:gd name="adj" fmla="val 2174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AFF340B-D94C-4B0C-87BD-D35DE745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1901952"/>
            <a:ext cx="457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0D5C5777-C3BB-4DC5-A0B2-0B6301D2F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2267712"/>
            <a:ext cx="2880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BAI 生态用户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D37EA724-C738-4A21-9729-0DDE8322E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3035808"/>
            <a:ext cx="1005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核心摩擦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D4B8F7AF-EE9C-485B-8937-106488951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3364992"/>
            <a:ext cx="28712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底层执行能力缺少持续桌面入口与产物工作面。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4A3B81E9-7C22-44AB-91A4-49BC61678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4224528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BAI Work 价值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4349B414-519E-4388-880B-CAEEA0FB0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4553712"/>
            <a:ext cx="287121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模型、运行时与生态能力进入日常项目流程。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5111D179-69AB-4ED7-A2EC-E6EB1BCFA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05856"/>
            <a:ext cx="10332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首批验证不追求覆盖所有 AI 用户，而聚焦已有本地项目、愿意把完整任务交给 Agent 的用户。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EADF8675-637D-49A9-8EC1-264989028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市场判断基于 Jobs-to-be-Done；不使用未经验证的市场规模数字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DF75E552-E8C7-44DC-94F8-96CC327B8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16 / 19</a:t>
            </a:r>
          </a:p>
        </p:txBody>
      </p:sp>
    </p:spTree>
    <p:extLst>
      <p:ext uri="{BB962C8B-B14F-4D97-AF65-F5344CB8AC3E}">
        <p14:creationId xmlns:p14="http://schemas.microsoft.com/office/powerpoint/2010/main" val="133706486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18ECF08-68EA-4867-99C0-81DC43CFB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CONTROLLED SUBSIDY ACQUISITION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8E51069-ABA2-4DBF-82CB-92F4DC08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商业推广：受控补贴驱动首批高质量激活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9F8ACF9-6334-4B6A-B79F-DE3ED0822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D9E1892-B38C-4AC8-8257-CC36F5762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商业增长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BDD9EFD-8B16-4045-B7C9-ACA5C6B71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1DC3EEF-4520-43DC-A4EA-E919FBF2D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72768"/>
            <a:ext cx="1243584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3B231F8-8430-4A5D-A9FF-45DAF76E4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81912"/>
            <a:ext cx="1097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建议实验方案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3E7B5D27-FDD2-4595-9289-10BE43F72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29968"/>
            <a:ext cx="24688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4B11EA11-90E2-49D6-82DB-773F2FA8F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249424"/>
            <a:ext cx="2103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限量 Cohort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7999904-9A70-4056-8B84-AF11CA6CA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706624"/>
            <a:ext cx="21031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首批限量名额</a:t>
            </a:r>
          </a:p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按批次开放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86D4F1DF-7FB2-4249-86E0-3E6D45DD2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856" y="2029968"/>
            <a:ext cx="24688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85ACF7C-FA8F-472A-9FDA-2E4DA0E43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249424"/>
            <a:ext cx="2103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半价折扣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F9DF9F3-D18D-48C2-9583-F8512E24E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706624"/>
            <a:ext cx="21031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模型使用费用</a:t>
            </a:r>
          </a:p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提供 50% 优惠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6B8E2E07-B53D-46F3-B48A-8A7965F64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029968"/>
            <a:ext cx="24688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B813EC4-E60B-4199-89DB-A17E09BF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2249424"/>
            <a:ext cx="2103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B87B16"/>
                </a:solidFill>
                <a:latin typeface="PingFang SC"/>
                <a:ea typeface="PingFang SC"/>
                <a:cs typeface="PingFang SC"/>
              </a:rPr>
              <a:t>额度封顶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63FD3AEB-2799-4C81-B1A6-140F25F03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2706624"/>
            <a:ext cx="21031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单账户月度上限</a:t>
            </a:r>
          </a:p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控制补贴敞口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060F3F41-4A7E-4AD4-AD92-2272E259B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029968"/>
            <a:ext cx="24688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56B7DF3-456E-4437-A5AF-4B60299EB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2249424"/>
            <a:ext cx="2103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限时验证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DBA0ED0B-1239-4729-813A-4821F67BB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2706624"/>
            <a:ext cx="21031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持续 8–12 周</a:t>
            </a:r>
          </a:p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到期自动复核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F0ECFA6E-A4DE-4DEA-B598-F2DC42E59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86200"/>
            <a:ext cx="6583680" cy="150876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ED75F819-5DA5-4C50-963A-4EE1D79BF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133088"/>
            <a:ext cx="23317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Activation-Gated Subsidy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0523680C-5DAE-4750-B56B-14E96EBEB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17880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106BC66-FC6A-417C-BE52-A2C3EB1D6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41648"/>
            <a:ext cx="342900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绑定有效 API Key 并完成首个项目任务后激活优惠。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4BE52F97-2803-41F0-88BF-E168B401D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57200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72C09CD1-2B73-4960-A031-3BF800884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434840"/>
            <a:ext cx="342900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按账户、设备与异常使用信号控制重复领取。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7B0D8088-6781-43EF-978B-1525DB6F6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965192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99DCFC0D-7274-4CBE-BF49-81DAE6D7E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828032"/>
            <a:ext cx="342900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补贴只覆盖真实使用量，未使用额度不沉淀、不转售。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9980A3F8-22E6-4193-A703-1987C8985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886200"/>
            <a:ext cx="3977640" cy="150876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95210854-D878-4980-A307-806EE4A7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5552" y="4133088"/>
            <a:ext cx="33832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单位经济门槛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EC951A5C-F160-482B-AD4F-B79DACE98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5552" y="4572000"/>
            <a:ext cx="33832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Subsidy CAC ≤ Cohort LTV ×</a:t>
            </a:r>
          </a:p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目标回收系数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89BB2863-150A-4D09-8AA4-5DD402EC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DBC7D35D-441A-4F5E-B2FC-7046A19F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API Key 绑定率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98C34AA6-CD4E-4105-8511-ACA17CF47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08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3690568E-2F7A-4490-B81A-B088E60F3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首任务完成率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B6134FC9-34E4-4066-9705-B190EFFF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036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FBA35FBC-D175-4163-8EAE-5C2131158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D7 活跃项目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4AFB2CAE-9E41-48AB-9ABB-0A4D55BA2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64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91F0DD81-4A65-4CA0-88A7-E7636A445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付费转化率</a:t>
            </a:r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2B8D8DCA-A79D-43AB-B87E-6256B6B1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AEB44D9B-A003-486E-B6BC-28B72003E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补贴效率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89B8F6C9-C9F2-4246-BE72-A3BA85D00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商业方案为待验证实验；额度、周期和风控阈值需按 Cohort 数据迭代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4240EEB9-4E45-46DA-9259-C07FB10FE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17 / 19</a:t>
            </a:r>
          </a:p>
        </p:txBody>
      </p:sp>
    </p:spTree>
    <p:extLst>
      <p:ext uri="{BB962C8B-B14F-4D97-AF65-F5344CB8AC3E}">
        <p14:creationId xmlns:p14="http://schemas.microsoft.com/office/powerpoint/2010/main" val="37396803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5C5F3BD-A939-449B-B852-661DB8C72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12-WEEK ROADMAP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68A92E0-CCB2-4E75-9454-1CD5EB297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12 周推进：先稳定发布，再验证增长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C1CAF14-2BC3-4135-82B3-6A49183A3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B017735-B066-440E-80DC-E68CE0DD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执行计划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4F4A3BD7-45D1-4587-A14F-362EE3F0E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C416996-5138-48FA-B6A6-3C1B0EB37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2487168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05D28A6A-4D33-4BF0-ABE3-C948A60E8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1874520"/>
            <a:ext cx="8412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6ACE6FB-6A9A-46E2-BC57-59D843391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883664"/>
            <a:ext cx="6949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NOW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600D403-8F24-486B-A5D6-CD25E09E0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395728"/>
            <a:ext cx="208483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稳定基线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01E21C9-0563-487D-B768-975F51260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944368"/>
            <a:ext cx="2084832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Mac Intel 主版本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Token Economy / EBAI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当前自动化验证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E30F693F-07E5-406C-944A-B17941064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2889504"/>
            <a:ext cx="21945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D3681828-72DE-4503-A255-3EB6CF041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856" y="1664208"/>
            <a:ext cx="2487168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AA228C96-C3ED-4B51-8383-F4B143850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024" y="1874520"/>
            <a:ext cx="8412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56936A5E-8343-4DD0-BE18-8583AE4AB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4176" y="1883664"/>
            <a:ext cx="6949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W1–4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97554EF-F02A-4415-B4D7-57085653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024" y="2395728"/>
            <a:ext cx="208483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发布级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0845E6E-9496-4C5D-A7C5-19851F29A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024" y="2944368"/>
            <a:ext cx="2084832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正式签名与公证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运行时契约对齐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崩溃与恢复遥测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143D9E73-7FCD-421E-A73B-9A79AF765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456" y="2889504"/>
            <a:ext cx="21945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7764F4E0-0935-4DB4-AB80-6BC020106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664208"/>
            <a:ext cx="2487168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7F018030-8922-4B60-B2EE-D20395E4C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874520"/>
            <a:ext cx="8412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E99ECA6B-7DB7-4205-B0EA-A010B3712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1883664"/>
            <a:ext cx="6949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W5–8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53CAA980-24FB-4885-9E70-5FC7AE662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2395728"/>
            <a:ext cx="208483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试点级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7268A070-D999-4474-94F3-B15C613E9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2944368"/>
            <a:ext cx="2084832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首批限量 Cohort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30 秒上手漏斗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真实任务回归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A904B965-5612-40CC-BB15-35A7E8077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5944" y="2889504"/>
            <a:ext cx="21945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AB87A5AB-3CBA-4344-A5BB-F5EBB0429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1664208"/>
            <a:ext cx="2487168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5374DA6D-E819-4BC4-BBB2-1E7B27962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74520"/>
            <a:ext cx="8412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51E78484-0111-447B-A19C-3A69697A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7152" y="1883664"/>
            <a:ext cx="6949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W9–12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3E652872-E58D-46F8-A1F4-4DEC92994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395728"/>
            <a:ext cx="208483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规模化判断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2F5F5E98-B154-47C5-90DF-71137FFAE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944368"/>
            <a:ext cx="2084832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留存与单位经济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团队策略复用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生态能力审核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F01F7E3C-3C01-49D4-9C72-650DDEA9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4983480"/>
            <a:ext cx="96469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12 周内只验证三件事：稳定发布、真实激活、单位经济成立。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23073CB7-FE5D-4932-87EA-461B7A3C5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路线图优先级：稳定发布 → 真实激活 → 留存与单位经济</a:t>
            </a:r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9D2DC193-50F5-4DA0-850B-BCBE9DDEC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18 / 19</a:t>
            </a:r>
          </a:p>
        </p:txBody>
      </p:sp>
    </p:spTree>
    <p:extLst>
      <p:ext uri="{BB962C8B-B14F-4D97-AF65-F5344CB8AC3E}">
        <p14:creationId xmlns:p14="http://schemas.microsoft.com/office/powerpoint/2010/main" val="65215590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C0E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6fde8891d145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8368" y="531545"/>
            <a:ext cx="3566160" cy="930303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68CDF199-6674-4336-A248-5AE731E4D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47088"/>
            <a:ext cx="47091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简单，不代表能力少。</a:t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92C4494-BCE1-4624-8A64-D63B7960D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578608"/>
            <a:ext cx="498348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而是把复杂度留在系统里。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2DF1FF0C-588F-4819-9850-F8ED8D6A4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3566160"/>
            <a:ext cx="512064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CDD4DB"/>
                </a:solidFill>
                <a:latin typeface="PingFang SC"/>
                <a:ea typeface="PingFang SC"/>
                <a:cs typeface="PingFang SC"/>
              </a:rPr>
              <a:t>30 秒配置目标；过程可见；产物可验收。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159A06CB-3911-4C66-B599-644AB1415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713232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8FFB7DA3-C7F5-47BF-A76B-D1DEAEB05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713232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2FBB4BAF-1225-4FBA-A06F-10FFF0A8B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832104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轻量架构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85714D4D-9220-4B7E-B873-6A9005F3C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813816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项目级 Runtime Host 与最短执行链</a:t>
            </a:r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96DD37A8-E53B-4CEB-95B0-D6E4ACDCC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645920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4FEA4248-8DD3-4AED-A0EB-EECFE4AD3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645920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F0E10884-95AF-4E9F-B494-8812765D0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1764792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Token Economy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4F011477-37C1-4293-9E3B-C59D80E00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1746504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请求预算与上下文治理契约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C8DC5CCD-CC0E-4F6A-88AE-11FEF8CD0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578608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8BD79A78-2C42-429D-8FE5-27C007F50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578608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86119427-B0FA-4F4C-B917-95A05D189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2697480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EBAI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7F655FC9-7149-41EF-A914-AEB084717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2679192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产品能力体系与清晰执行边界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5A634518-EB60-40A3-9BA6-B65B7133C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511296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4908C437-238A-49B2-A408-759071040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511296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B655FB28-8F68-42DF-8F41-2EF1B272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3630168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产品交付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00266209-FBCE-4E69-9659-CC98C180D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3611880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三平台路径、自动化测试与运行证据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CDE4EFD3-16E2-4721-8924-361E8C94A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443984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1B3FDA5-89FD-4E75-8A1A-6F2BAA936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443984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8A131DBA-FE11-4AEB-A43B-FFCBAE327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4562856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商业增长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70525E39-C0BB-448C-9244-23A0F6433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4544568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限量半价、额度封顶与 Cohort 验证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4D26F448-7D5C-4F43-84AF-8B37DADB9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5504688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12700">
            <a:solidFill>
              <a:srgbClr val="FFFEFA"/>
            </a:solidFill>
            <a:prstDash val="solid"/>
          </a:ln>
        </p:spPr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B531ADF-1055-48F7-879B-061B599EC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641848"/>
            <a:ext cx="55321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下一步：稳定签名发布 · 首批用户验证 · 项目级生态扩展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ABAF0C7-2E2E-4C37-862B-2C6E15702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6144768"/>
            <a:ext cx="4160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8FD4CF"/>
                </a:solidFill>
                <a:latin typeface="Aptos"/>
                <a:ea typeface="Aptos"/>
                <a:cs typeface="Aptos"/>
              </a:rPr>
              <a:t>github.com/2830500285/BAI-Work</a:t>
            </a:r>
          </a:p>
        </p:txBody>
      </p:sp>
    </p:spTree>
    <p:extLst>
      <p:ext uri="{BB962C8B-B14F-4D97-AF65-F5344CB8AC3E}">
        <p14:creationId xmlns:p14="http://schemas.microsoft.com/office/powerpoint/2010/main" val="107923171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2026-07-22T06:29:43.6650000Z</dcterms:created>
  <dcterms:modified xsi:type="dcterms:W3CDTF">2026-07-22T06:29:43.6650000Z</dcterms:modified>
</coreProperties>
</file>