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290da5be8e44cdc" /><Relationship Type="http://schemas.openxmlformats.org/officeDocument/2006/relationships/extended-properties" Target="/docProps/app.xml" Id="Re25a134ddca84266" /><Relationship Type="http://schemas.openxmlformats.org/officeDocument/2006/relationships/officeDocument" Target="/ppt/presentation.xml" Id="Re8acbda5a2b8449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51c8cb52c25498b"/>
  </p:sldMasterIdLst>
  <p:notesMasterIdLst>
    <p:notesMasterId xmlns:r="http://schemas.openxmlformats.org/officeDocument/2006/relationships" r:id="Rf3dac73567314d31"/>
  </p:notesMasterIdLst>
  <p:sldIdLst>
    <p:sldId xmlns:r="http://schemas.openxmlformats.org/officeDocument/2006/relationships" id="256" r:id="R3d6d1a3f25004809"/>
    <p:sldId xmlns:r="http://schemas.openxmlformats.org/officeDocument/2006/relationships" id="257" r:id="Rbcef86a7b90449a7"/>
    <p:sldId xmlns:r="http://schemas.openxmlformats.org/officeDocument/2006/relationships" id="258" r:id="R9c23a4e4c2ea4d48"/>
    <p:sldId xmlns:r="http://schemas.openxmlformats.org/officeDocument/2006/relationships" id="259" r:id="Rda2c94cf675a4236"/>
    <p:sldId xmlns:r="http://schemas.openxmlformats.org/officeDocument/2006/relationships" id="260" r:id="R85545c0d381a4eb4"/>
    <p:sldId xmlns:r="http://schemas.openxmlformats.org/officeDocument/2006/relationships" id="261" r:id="Rba5d354a0be548f9"/>
    <p:sldId xmlns:r="http://schemas.openxmlformats.org/officeDocument/2006/relationships" id="262" r:id="R38b7c07771b34042"/>
    <p:sldId xmlns:r="http://schemas.openxmlformats.org/officeDocument/2006/relationships" id="263" r:id="R7d13729fa85e4bd8"/>
    <p:sldId xmlns:r="http://schemas.openxmlformats.org/officeDocument/2006/relationships" id="264" r:id="R5d3e5a81770a436d"/>
    <p:sldId xmlns:r="http://schemas.openxmlformats.org/officeDocument/2006/relationships" id="265" r:id="R238bd042b9d94eb1"/>
    <p:sldId xmlns:r="http://schemas.openxmlformats.org/officeDocument/2006/relationships" id="266" r:id="R91b39da2ecd744e9"/>
    <p:sldId xmlns:r="http://schemas.openxmlformats.org/officeDocument/2006/relationships" id="267" r:id="R7cafb154789e481a"/>
    <p:sldId xmlns:r="http://schemas.openxmlformats.org/officeDocument/2006/relationships" id="268" r:id="R69754fc845fe4c2b"/>
    <p:sldId xmlns:r="http://schemas.openxmlformats.org/officeDocument/2006/relationships" id="269" r:id="Rce5eda3158204eee"/>
    <p:sldId xmlns:r="http://schemas.openxmlformats.org/officeDocument/2006/relationships" id="270" r:id="R9b3e4b14be214fe7"/>
    <p:sldId xmlns:r="http://schemas.openxmlformats.org/officeDocument/2006/relationships" id="271" r:id="R026fba3bb06b47c0"/>
    <p:sldId xmlns:r="http://schemas.openxmlformats.org/officeDocument/2006/relationships" id="272" r:id="Rda4343208e7f4861"/>
    <p:sldId xmlns:r="http://schemas.openxmlformats.org/officeDocument/2006/relationships" id="273" r:id="R3f3921dde19e419f"/>
    <p:sldId xmlns:r="http://schemas.openxmlformats.org/officeDocument/2006/relationships" id="274" r:id="R78bdbf2c98774503"/>
    <p:sldId xmlns:r="http://schemas.openxmlformats.org/officeDocument/2006/relationships" id="275" r:id="R71f9b9aa0fe44ab7"/>
    <p:sldId xmlns:r="http://schemas.openxmlformats.org/officeDocument/2006/relationships" id="276" r:id="R9f8199efcd254619"/>
    <p:sldId xmlns:r="http://schemas.openxmlformats.org/officeDocument/2006/relationships" id="277" r:id="Rbddbf31f2578428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62112143a864f8d" /><Relationship Type="http://schemas.openxmlformats.org/officeDocument/2006/relationships/slideMaster" Target="/ppt/slideMasters/slideMaster1.xml" Id="Ra51c8cb52c25498b" /><Relationship Type="http://schemas.openxmlformats.org/officeDocument/2006/relationships/notesMaster" Target="/ppt/notesMasters/notesMaster1.xml" Id="Rf3dac73567314d31" /><Relationship Type="http://schemas.openxmlformats.org/officeDocument/2006/relationships/presProps" Target="/ppt/presProps.xml" Id="R679a05e1499845b2" /><Relationship Type="http://schemas.openxmlformats.org/officeDocument/2006/relationships/tableStyles" Target="/ppt/tableStyles.xml" Id="R599e5e27832f4c2b" /><Relationship Type="http://schemas.openxmlformats.org/officeDocument/2006/relationships/slide" Target="/ppt/slides/slide1.xml" Id="R3d6d1a3f25004809" /><Relationship Type="http://schemas.openxmlformats.org/officeDocument/2006/relationships/slide" Target="/ppt/slides/slide2.xml" Id="Rbcef86a7b90449a7" /><Relationship Type="http://schemas.openxmlformats.org/officeDocument/2006/relationships/slide" Target="/ppt/slides/slide3.xml" Id="R9c23a4e4c2ea4d48" /><Relationship Type="http://schemas.openxmlformats.org/officeDocument/2006/relationships/slide" Target="/ppt/slides/slide4.xml" Id="Rda2c94cf675a4236" /><Relationship Type="http://schemas.openxmlformats.org/officeDocument/2006/relationships/slide" Target="/ppt/slides/slide5.xml" Id="R85545c0d381a4eb4" /><Relationship Type="http://schemas.openxmlformats.org/officeDocument/2006/relationships/slide" Target="/ppt/slides/slide6.xml" Id="Rba5d354a0be548f9" /><Relationship Type="http://schemas.openxmlformats.org/officeDocument/2006/relationships/slide" Target="/ppt/slides/slide7.xml" Id="R38b7c07771b34042" /><Relationship Type="http://schemas.openxmlformats.org/officeDocument/2006/relationships/slide" Target="/ppt/slides/slide8.xml" Id="R7d13729fa85e4bd8" /><Relationship Type="http://schemas.openxmlformats.org/officeDocument/2006/relationships/slide" Target="/ppt/slides/slide9.xml" Id="R5d3e5a81770a436d" /><Relationship Type="http://schemas.openxmlformats.org/officeDocument/2006/relationships/slide" Target="/ppt/slides/slide10.xml" Id="R238bd042b9d94eb1" /><Relationship Type="http://schemas.openxmlformats.org/officeDocument/2006/relationships/slide" Target="/ppt/slides/slide11.xml" Id="R91b39da2ecd744e9" /><Relationship Type="http://schemas.openxmlformats.org/officeDocument/2006/relationships/slide" Target="/ppt/slides/slide12.xml" Id="R7cafb154789e481a" /><Relationship Type="http://schemas.openxmlformats.org/officeDocument/2006/relationships/slide" Target="/ppt/slides/slide13.xml" Id="R69754fc845fe4c2b" /><Relationship Type="http://schemas.openxmlformats.org/officeDocument/2006/relationships/slide" Target="/ppt/slides/slide14.xml" Id="Rce5eda3158204eee" /><Relationship Type="http://schemas.openxmlformats.org/officeDocument/2006/relationships/slide" Target="/ppt/slides/slide15.xml" Id="R9b3e4b14be214fe7" /><Relationship Type="http://schemas.openxmlformats.org/officeDocument/2006/relationships/slide" Target="/ppt/slides/slide16.xml" Id="R026fba3bb06b47c0" /><Relationship Type="http://schemas.openxmlformats.org/officeDocument/2006/relationships/slide" Target="/ppt/slides/slide17.xml" Id="Rda4343208e7f4861" /><Relationship Type="http://schemas.openxmlformats.org/officeDocument/2006/relationships/slide" Target="/ppt/slides/slide18.xml" Id="R3f3921dde19e419f" /><Relationship Type="http://schemas.openxmlformats.org/officeDocument/2006/relationships/slide" Target="/ppt/slides/slide19.xml" Id="R78bdbf2c98774503" /><Relationship Type="http://schemas.openxmlformats.org/officeDocument/2006/relationships/slide" Target="/ppt/slides/slide20.xml" Id="R71f9b9aa0fe44ab7" /><Relationship Type="http://schemas.openxmlformats.org/officeDocument/2006/relationships/slide" Target="/ppt/slides/slide21.xml" Id="R9f8199efcd254619" /><Relationship Type="http://schemas.openxmlformats.org/officeDocument/2006/relationships/slide" Target="/ppt/slides/slide22.xml" Id="Rbddbf31f2578428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3fee28bdc4946c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9f70c3e1eca47b6" /><Relationship Type="http://schemas.openxmlformats.org/officeDocument/2006/relationships/notesMaster" Target="/ppt/notesMasters/notesMaster1.xml" Id="Rae10dbf3809048e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b502f690d5b46a6" /><Relationship Type="http://schemas.openxmlformats.org/officeDocument/2006/relationships/notesMaster" Target="/ppt/notesMasters/notesMaster1.xml" Id="R7d049805364e4b3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8243ee63f9345c2" /><Relationship Type="http://schemas.openxmlformats.org/officeDocument/2006/relationships/notesMaster" Target="/ppt/notesMasters/notesMaster1.xml" Id="R888f6201b197429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0def986bf3545b8" /><Relationship Type="http://schemas.openxmlformats.org/officeDocument/2006/relationships/notesMaster" Target="/ppt/notesMasters/notesMaster1.xml" Id="R8607681bc10841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559f03a073a4260" /><Relationship Type="http://schemas.openxmlformats.org/officeDocument/2006/relationships/notesMaster" Target="/ppt/notesMasters/notesMaster1.xml" Id="R697e3ff4ef3f4a8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5891d1229e4424d" /><Relationship Type="http://schemas.openxmlformats.org/officeDocument/2006/relationships/notesMaster" Target="/ppt/notesMasters/notesMaster1.xml" Id="Rdcd6993eac88404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d926ddf8d9e4b83" /><Relationship Type="http://schemas.openxmlformats.org/officeDocument/2006/relationships/notesMaster" Target="/ppt/notesMasters/notesMaster1.xml" Id="R360377f7d171471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090ed76423b4975" /><Relationship Type="http://schemas.openxmlformats.org/officeDocument/2006/relationships/notesMaster" Target="/ppt/notesMasters/notesMaster1.xml" Id="Re393ba6d3f2d4ce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002f156396a431b" /><Relationship Type="http://schemas.openxmlformats.org/officeDocument/2006/relationships/notesMaster" Target="/ppt/notesMasters/notesMaster1.xml" Id="R4e8b0c0fb7014ac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92adfedd9c14e93" /><Relationship Type="http://schemas.openxmlformats.org/officeDocument/2006/relationships/notesMaster" Target="/ppt/notesMasters/notesMaster1.xml" Id="Rdf94ddc92ea74c5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e26e9b8d9114c9c" /><Relationship Type="http://schemas.openxmlformats.org/officeDocument/2006/relationships/notesMaster" Target="/ppt/notesMasters/notesMaster1.xml" Id="R8be2698d10dc4c3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86e13e48ec1427d" /><Relationship Type="http://schemas.openxmlformats.org/officeDocument/2006/relationships/notesMaster" Target="/ppt/notesMasters/notesMaster1.xml" Id="Rd65c71079497473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434a1d4d8714052" /><Relationship Type="http://schemas.openxmlformats.org/officeDocument/2006/relationships/notesMaster" Target="/ppt/notesMasters/notesMaster1.xml" Id="Rfd930070afc944e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49dc2d07264488a" /><Relationship Type="http://schemas.openxmlformats.org/officeDocument/2006/relationships/notesMaster" Target="/ppt/notesMasters/notesMaster1.xml" Id="R72db7e5677e1407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05f19fa73ec460a" /><Relationship Type="http://schemas.openxmlformats.org/officeDocument/2006/relationships/notesMaster" Target="/ppt/notesMasters/notesMaster1.xml" Id="R7e49219426ae465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e813a9d7a3f4752" /><Relationship Type="http://schemas.openxmlformats.org/officeDocument/2006/relationships/notesMaster" Target="/ppt/notesMasters/notesMaster1.xml" Id="R62d4a525922442e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e1fa91146094084" /><Relationship Type="http://schemas.openxmlformats.org/officeDocument/2006/relationships/notesMaster" Target="/ppt/notesMasters/notesMaster1.xml" Id="Rdd7bf78475534fe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06d5851f9534ec6" /><Relationship Type="http://schemas.openxmlformats.org/officeDocument/2006/relationships/notesMaster" Target="/ppt/notesMasters/notesMaster1.xml" Id="Re88a2082ea494bb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82bb16127c34377" /><Relationship Type="http://schemas.openxmlformats.org/officeDocument/2006/relationships/notesMaster" Target="/ppt/notesMasters/notesMaster1.xml" Id="Rf5c508d563ac4da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c8b119039a44163" /><Relationship Type="http://schemas.openxmlformats.org/officeDocument/2006/relationships/notesMaster" Target="/ppt/notesMasters/notesMaster1.xml" Id="Reb7b1fe7282443f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fe8da37621c4a32" /><Relationship Type="http://schemas.openxmlformats.org/officeDocument/2006/relationships/notesMaster" Target="/ppt/notesMasters/notesMaster1.xml" Id="Rbcc988a1bf68495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b33830ddb18401e" /><Relationship Type="http://schemas.openxmlformats.org/officeDocument/2006/relationships/notesMaster" Target="/ppt/notesMasters/notesMaster1.xml" Id="R33765bacdd534c2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6c4fa048d743d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8e9d88d39244b68" /><Relationship Type="http://schemas.openxmlformats.org/officeDocument/2006/relationships/slideLayout" Target="/ppt/slideLayouts/slideLayout1.xml" Id="Rc44680824878465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44680824878465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43264251c54c9a" /><Relationship Type="http://schemas.openxmlformats.org/officeDocument/2006/relationships/image" Target="/ppt/media/image.png" Id="R65ef781e0c344e52" /><Relationship Type="http://schemas.openxmlformats.org/officeDocument/2006/relationships/notesSlide" Target="/ppt/notesSlides/notesSlide1.xml" Id="Rfeed85ef10684a6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e0f39c97a74718" /><Relationship Type="http://schemas.openxmlformats.org/officeDocument/2006/relationships/image" Target="/ppt/media/image2.png" Id="R5dace8200dfc4253" /><Relationship Type="http://schemas.openxmlformats.org/officeDocument/2006/relationships/notesSlide" Target="/ppt/notesSlides/notesSlide2.xml" Id="R674832eba1d84f0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e05004b8384385" /><Relationship Type="http://schemas.openxmlformats.org/officeDocument/2006/relationships/image" Target="/ppt/media/image3.png" Id="R6f34c0dfe75d40a6" /><Relationship Type="http://schemas.openxmlformats.org/officeDocument/2006/relationships/notesSlide" Target="/ppt/notesSlides/notesSlide3.xml" Id="R33a997d24b9b4f9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b10cad36a74d28" /><Relationship Type="http://schemas.openxmlformats.org/officeDocument/2006/relationships/image" Target="/ppt/media/image4.png" Id="R77bfcb40c6364fd8" /><Relationship Type="http://schemas.openxmlformats.org/officeDocument/2006/relationships/notesSlide" Target="/ppt/notesSlides/notesSlide4.xml" Id="R9afd56a97899430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71b82ebdf04cb8" /><Relationship Type="http://schemas.openxmlformats.org/officeDocument/2006/relationships/image" Target="/ppt/media/image5.png" Id="R4b6d5b95e8ea41d3" /><Relationship Type="http://schemas.openxmlformats.org/officeDocument/2006/relationships/notesSlide" Target="/ppt/notesSlides/notesSlide5.xml" Id="Rab682b7b1529493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dd35bb7799480b" /><Relationship Type="http://schemas.openxmlformats.org/officeDocument/2006/relationships/image" Target="/ppt/media/image6.png" Id="Rd4778fbbc44049d9" /><Relationship Type="http://schemas.openxmlformats.org/officeDocument/2006/relationships/notesSlide" Target="/ppt/notesSlides/notesSlide6.xml" Id="R30f8552b0b1248f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d58aeaaaab44bb" /><Relationship Type="http://schemas.openxmlformats.org/officeDocument/2006/relationships/image" Target="/ppt/media/image7.png" Id="R7e2b82a43d9d4b4a" /><Relationship Type="http://schemas.openxmlformats.org/officeDocument/2006/relationships/notesSlide" Target="/ppt/notesSlides/notesSlide7.xml" Id="R86eff076ced142a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90564922ca4118" /><Relationship Type="http://schemas.openxmlformats.org/officeDocument/2006/relationships/image" Target="/ppt/media/image8.png" Id="R1eba8f7d89d142ca" /><Relationship Type="http://schemas.openxmlformats.org/officeDocument/2006/relationships/notesSlide" Target="/ppt/notesSlides/notesSlide8.xml" Id="Rb6c28b25f8e747b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51dfa4347e4455" /><Relationship Type="http://schemas.openxmlformats.org/officeDocument/2006/relationships/image" Target="/ppt/media/image9.png" Id="R8f5c32abad56449b" /><Relationship Type="http://schemas.openxmlformats.org/officeDocument/2006/relationships/notesSlide" Target="/ppt/notesSlides/notesSlide9.xml" Id="R31b37021ddc142c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09890904184e73" /><Relationship Type="http://schemas.openxmlformats.org/officeDocument/2006/relationships/image" Target="/ppt/media/image10.png" Id="R6e4b073dcc3b44c2" /><Relationship Type="http://schemas.openxmlformats.org/officeDocument/2006/relationships/notesSlide" Target="/ppt/notesSlides/notesSlide10.xml" Id="R9694c4e87e71460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adda3173a44360" /><Relationship Type="http://schemas.openxmlformats.org/officeDocument/2006/relationships/image" Target="/ppt/media/image11.png" Id="Rea1dbbd5747d432c" /><Relationship Type="http://schemas.openxmlformats.org/officeDocument/2006/relationships/notesSlide" Target="/ppt/notesSlides/notesSlide11.xml" Id="Ree25133d23b2481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8fcba6dbc54915" /><Relationship Type="http://schemas.openxmlformats.org/officeDocument/2006/relationships/image" Target="/ppt/media/image12.png" Id="Rc11299c3132042b0" /><Relationship Type="http://schemas.openxmlformats.org/officeDocument/2006/relationships/notesSlide" Target="/ppt/notesSlides/notesSlide12.xml" Id="R318c0166d3b4401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dd6ad8ea8a4c89" /><Relationship Type="http://schemas.openxmlformats.org/officeDocument/2006/relationships/image" Target="/ppt/media/image13.png" Id="Reaf5b17595704321" /><Relationship Type="http://schemas.openxmlformats.org/officeDocument/2006/relationships/notesSlide" Target="/ppt/notesSlides/notesSlide13.xml" Id="R96e3c464195d47c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6a3211a3464d2c" /><Relationship Type="http://schemas.openxmlformats.org/officeDocument/2006/relationships/image" Target="/ppt/media/image14.png" Id="R1fe23bb13c5a4be0" /><Relationship Type="http://schemas.openxmlformats.org/officeDocument/2006/relationships/notesSlide" Target="/ppt/notesSlides/notesSlide14.xml" Id="Rab03f181ad69401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1bc158d3494f11" /><Relationship Type="http://schemas.openxmlformats.org/officeDocument/2006/relationships/image" Target="/ppt/media/image15.png" Id="R20f55d58092c4c37" /><Relationship Type="http://schemas.openxmlformats.org/officeDocument/2006/relationships/notesSlide" Target="/ppt/notesSlides/notesSlide15.xml" Id="Rebc4ec8dfb1942c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f3c7c4a2d24ebf" /><Relationship Type="http://schemas.openxmlformats.org/officeDocument/2006/relationships/image" Target="/ppt/media/image16.png" Id="R2d387e67187f4365" /><Relationship Type="http://schemas.openxmlformats.org/officeDocument/2006/relationships/notesSlide" Target="/ppt/notesSlides/notesSlide16.xml" Id="R0d362742f7954b3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c6723baa2b4fa2" /><Relationship Type="http://schemas.openxmlformats.org/officeDocument/2006/relationships/image" Target="/ppt/media/image17.png" Id="R29ac850648a948b1" /><Relationship Type="http://schemas.openxmlformats.org/officeDocument/2006/relationships/notesSlide" Target="/ppt/notesSlides/notesSlide17.xml" Id="R54b5944407e74cd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0f2e6ea4c94ad9" /><Relationship Type="http://schemas.openxmlformats.org/officeDocument/2006/relationships/image" Target="/ppt/media/image18.png" Id="R6759dacc0d1c4734" /><Relationship Type="http://schemas.openxmlformats.org/officeDocument/2006/relationships/notesSlide" Target="/ppt/notesSlides/notesSlide18.xml" Id="R7d7541d0473448a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7d2e6b51ca4b00" /><Relationship Type="http://schemas.openxmlformats.org/officeDocument/2006/relationships/image" Target="/ppt/media/image19.png" Id="R49e0895385b342b8" /><Relationship Type="http://schemas.openxmlformats.org/officeDocument/2006/relationships/notesSlide" Target="/ppt/notesSlides/notesSlide19.xml" Id="R1c6cec466933401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c1f9d86aa843d4" /><Relationship Type="http://schemas.openxmlformats.org/officeDocument/2006/relationships/image" Target="/ppt/media/image20.png" Id="R9aca5759bde84fff" /><Relationship Type="http://schemas.openxmlformats.org/officeDocument/2006/relationships/notesSlide" Target="/ppt/notesSlides/notesSlide20.xml" Id="R227ef53008b44cf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f9c2e239ab408c" /><Relationship Type="http://schemas.openxmlformats.org/officeDocument/2006/relationships/image" Target="/ppt/media/image21.png" Id="Re2209435afc74c46" /><Relationship Type="http://schemas.openxmlformats.org/officeDocument/2006/relationships/notesSlide" Target="/ppt/notesSlides/notesSlide21.xml" Id="R881b6d551dc3481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f9f77728454f55" /><Relationship Type="http://schemas.openxmlformats.org/officeDocument/2006/relationships/image" Target="/ppt/media/image22.png" Id="R178c84f177884773" /><Relationship Type="http://schemas.openxmlformats.org/officeDocument/2006/relationships/notesSlide" Target="/ppt/notesSlides/notesSlide22.xml" Id="Rb172c9a7a6c449a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09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945D80-AD52-4EDA-AD85-248C46751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9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0939F2-E6F4-4709-A56A-A9DAADFF6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ef781e0c344e52"/>
          <a:stretch xmlns:a="http://schemas.openxmlformats.org/drawingml/2006/main"/>
        </p:blipFill>
        <p:spPr>
          <a:xfrm xmlns:a="http://schemas.openxmlformats.org/drawingml/2006/main">
            <a:off x="857250" y="876300"/>
            <a:ext cx="1066800" cy="1066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E42ABC-F47A-4DAB-8222-060164C20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EDAE1"/>
                </a:solidFill>
              </a:defRPr>
            </a:pPr>
            <a:r>
              <a:rPr sz="1125" b="1">
                <a:solidFill>
                  <a:srgbClr val="9EDAE1"/>
                </a:solidFill>
              </a:rPr>
              <a:t>PROJECT DECK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053C32-A51A-4BE5-A4D6-4CC987D71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43200"/>
            <a:ext cx="619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FFFFF"/>
                </a:solidFill>
              </a:defRPr>
            </a:pPr>
            <a:r>
              <a:rPr sz="4800" b="1">
                <a:solidFill>
                  <a:srgbClr val="FFFFFF"/>
                </a:solidFill>
              </a:rPr>
              <a:t>BAI Work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AA3A7D-43C3-40C6-B13C-4C24103A0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86200"/>
            <a:ext cx="657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8E7EA"/>
                </a:solidFill>
              </a:defRPr>
            </a:pPr>
            <a:r>
              <a:rPr sz="1875" b="0">
                <a:solidFill>
                  <a:srgbClr val="D8E7EA"/>
                </a:solidFill>
              </a:rPr>
              <a:t>面向 BAI / BAI Code 统一品牌的桌面 AI 工作台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D90310-96B8-4282-B887-84A1649F8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626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CA3AF"/>
                </a:solidFill>
              </a:defRPr>
            </a:pPr>
            <a:r>
              <a:rPr sz="1350" b="0">
                <a:solidFill>
                  <a:srgbClr val="9CA3AF"/>
                </a:solidFill>
              </a:rPr>
              <a:t>July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8AD6BB-C42E-4F83-B4A7-AB429304C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0"/>
            <a:ext cx="37719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C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C7D749-C42D-45BD-9628-E676CC1EE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876300"/>
            <a:ext cx="19050" cy="478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46D5B8-4922-4001-A576-CD628CAA0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66900"/>
            <a:ext cx="23241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Desktop workbench</a:t>
            </a:r>
          </a:p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BAI Code runtime</a:t>
            </a:r>
          </a:p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Cross-platform release</a:t>
            </a:r>
          </a:p>
        </p:txBody>
      </p:sp>
    </p:spTree>
    <p:extLst>
      <p:ext uri="{BB962C8B-B14F-4D97-AF65-F5344CB8AC3E}">
        <p14:creationId xmlns:p14="http://schemas.microsoft.com/office/powerpoint/2010/main" val="8970718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D827A8-AB68-4A39-B1FB-363795409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B864C3-C486-4411-883B-A325D262D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当前状态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C629B2-7E55-4BDF-9F79-8D536448D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BAI Work 已从品牌、运行时和交付链路上独立成型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5DDBAB-1595-4F4E-B02C-7AA736619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81200"/>
            <a:ext cx="48577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54A1F5-EAF9-403F-A711-DDDF7E671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098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E6374"/>
                </a:solidFill>
              </a:defRPr>
            </a:pPr>
            <a:r>
              <a:rPr sz="1725" b="1">
                <a:solidFill>
                  <a:srgbClr val="0E6374"/>
                </a:solidFill>
              </a:rPr>
              <a:t>产品定位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3795C4-2B5F-46E4-A788-847B4AD0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90800"/>
            <a:ext cx="4191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完成 BAI Work 独立品牌整理，围绕 BAI Code 构建桌面工作台。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E94826-B0E0-44DE-B91D-873386C06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81200"/>
            <a:ext cx="48577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0B57BF-4078-4FB3-9ACC-153500A01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2098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E6374"/>
                </a:solidFill>
              </a:defRPr>
            </a:pPr>
            <a:r>
              <a:rPr sz="1725" b="1">
                <a:solidFill>
                  <a:srgbClr val="0E6374"/>
                </a:solidFill>
              </a:rPr>
              <a:t>已交付构建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8D91D6-427A-4742-A6D4-EC921A192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590800"/>
            <a:ext cx="4191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Mac Intel x64、Mac Apple Silicon arm64、Windows x64 均已有 0.1.0 构建产物。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D968EB-2845-4F51-8817-E2DCFB3F8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0"/>
            <a:ext cx="48577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11D42E-467E-49EE-ADB7-EE0617079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291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E6374"/>
                </a:solidFill>
              </a:defRPr>
            </a:pPr>
            <a:r>
              <a:rPr sz="1725" b="1">
                <a:solidFill>
                  <a:srgbClr val="0E6374"/>
                </a:solidFill>
              </a:rPr>
              <a:t>运行时策略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905B85-971B-4785-98E1-3CCA2AC06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610100"/>
            <a:ext cx="4191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Intel Mac 内置 BAI-Code-Runtime；arm64 Mac / Windows 使用官方 BAI Code 0.9.1 wheelhouse。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2C6511-1C16-4A81-B8B0-BE39EC4BC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0"/>
            <a:ext cx="48577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45A1DA-2AFE-4DA4-85EA-DBEA83646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2291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E6374"/>
                </a:solidFill>
              </a:defRPr>
            </a:pPr>
            <a:r>
              <a:rPr sz="1725" b="1">
                <a:solidFill>
                  <a:srgbClr val="0E6374"/>
                </a:solidFill>
              </a:rPr>
              <a:t>关键缺口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72A4B5-8297-44C7-AF69-9F8EFF61C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610100"/>
            <a:ext cx="4191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官方文档尚未公开桌面本地 service/session/event/permission/question 协议。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F2A7C8-AFF3-4E67-8FDB-5E738E1DB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ace8200dfc4253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2AB0E7-F9C1-46FE-A73C-DA117C257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8D082E-A359-420E-8969-C8EAA17E8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2696231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094B2B-A2D3-4161-B582-C4F110C7A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2684E8-B571-478A-AEE5-90E64784C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WHY IT MATTERS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0CD30D-8A25-46AF-958A-2E3DA31A9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单独的 CLI 不能覆盖桌面工程工作流的完整闭环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8DBF00-BECE-4F3A-A854-A4EC8656E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90700"/>
            <a:ext cx="6096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F2933"/>
                </a:solidFill>
              </a:defRPr>
            </a:pPr>
            <a:r>
              <a:rPr sz="1800" b="0">
                <a:solidFill>
                  <a:srgbClr val="1F2933"/>
                </a:solidFill>
              </a:rPr>
              <a:t>BAI Code 已提供可用的命令行入口，但桌面工作台需要把项目上下文、会话、审批和产物组织成连续体验。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7B898F-2C41-478D-80E9-55BDAF622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562100"/>
            <a:ext cx="28575" cy="350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73DF0C-46BB-4467-B383-157350386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383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D1117"/>
                </a:solidFill>
              </a:defRPr>
            </a:pPr>
            <a:r>
              <a:rPr sz="1800" b="1">
                <a:solidFill>
                  <a:srgbClr val="0D1117"/>
                </a:solidFill>
              </a:rPr>
              <a:t>桌面工作台必须补齐的能力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DB0E06-8B2D-459E-8EC6-10F3B3D5C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3336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874A17-7C82-4C6D-8CCA-1990FFF8A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47900"/>
            <a:ext cx="31051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项目选择、文件引用、Git 上下文和长会话管理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3F1C7E-A4BB-4393-8B5F-291827FE3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194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70728E-F04F-4209-91D8-71E300DD4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933700"/>
            <a:ext cx="31051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运行状态、错误提示、日志定位和可恢复的 runtime 配置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5A5D4D-A12D-4A48-B002-0E23903D4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7052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E75770-44D8-4706-9CEC-7E34564BA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619500"/>
            <a:ext cx="31051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权限审批、用户问题、工具调用和产物预览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431790-41AE-4F2B-890B-D68B1614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3910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939360-9CA3-443D-B16C-5CB466E17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305300"/>
            <a:ext cx="31051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跨平台打包、桌面安装、品牌资产和更新通道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00C5F7-FC29-4EDE-891A-4863DE15D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34c0dfe75d40a6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D75AB5-7B13-486E-8288-C1C65A4F4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D317D3-6A54-421B-B6EE-4374A0A7D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097689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E47C29-9F40-4900-9204-25631A5CC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4412EE-B6C7-4BB0-8149-D826CCF6A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PRODUCT POSITION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70EDF3-9278-48AA-9756-32794A8BD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BAI Work 的定位是 BAI Code 的桌面工作台层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65104D-4359-4383-8832-044E4116F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1450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F2933"/>
                </a:solidFill>
              </a:defRPr>
            </a:pPr>
            <a:r>
              <a:rPr sz="1800" b="0">
                <a:solidFill>
                  <a:srgbClr val="1F2933"/>
                </a:solidFill>
              </a:rPr>
              <a:t>它不替代 BAI Code 核心，而是在本地桌面边界上统一用户体验、配置、安全和发布。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C6A9E4-9B43-427F-B8F7-0F55A7F34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2724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587BE8-69B2-44E3-BA73-F1B665CDF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2724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D1117"/>
                </a:solidFill>
              </a:defRPr>
            </a:pPr>
            <a:r>
              <a:rPr sz="1875" b="1">
                <a:solidFill>
                  <a:srgbClr val="0D1117"/>
                </a:solidFill>
              </a:rPr>
              <a:t>面向用户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0F1868-0453-449B-BB37-93BBDB596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27241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673"/>
                </a:solidFill>
              </a:defRPr>
            </a:pPr>
            <a:r>
              <a:rPr sz="1500" b="0">
                <a:solidFill>
                  <a:srgbClr val="5B6673"/>
                </a:solidFill>
              </a:rPr>
              <a:t>桌面 AI 工作台，承载项目、会话、文件、审阅和自动化。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E0BC2A-816D-4970-8118-180841E4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971800"/>
            <a:ext cx="2724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42B0F3-AB50-4FED-9E22-9C5B9DC60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219450"/>
            <a:ext cx="2724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D1117"/>
                </a:solidFill>
              </a:defRPr>
            </a:pPr>
            <a:r>
              <a:rPr sz="1875" b="1">
                <a:solidFill>
                  <a:srgbClr val="0D1117"/>
                </a:solidFill>
              </a:rPr>
              <a:t>面向 runtime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A35DDC-EC30-447E-9935-D05B4E65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695700"/>
            <a:ext cx="27241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673"/>
                </a:solidFill>
              </a:defRPr>
            </a:pPr>
            <a:r>
              <a:rPr sz="1500" b="0">
                <a:solidFill>
                  <a:srgbClr val="5B6673"/>
                </a:solidFill>
              </a:rPr>
              <a:t>通过本地 /v1/* 兼容边界连接 BAI Code CLI / 后续 service。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8AAB86-795B-4E56-9809-C397D544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971800"/>
            <a:ext cx="2724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992E89-A628-433A-8143-5574843C6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219450"/>
            <a:ext cx="2724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D1117"/>
                </a:solidFill>
              </a:defRPr>
            </a:pPr>
            <a:r>
              <a:rPr sz="1875" b="1">
                <a:solidFill>
                  <a:srgbClr val="0D1117"/>
                </a:solidFill>
              </a:rPr>
              <a:t>面向发布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B1509A-B39C-481A-8C1F-FF17EBC42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695700"/>
            <a:ext cx="27241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673"/>
                </a:solidFill>
              </a:defRPr>
            </a:pPr>
            <a:r>
              <a:rPr sz="1500" b="0">
                <a:solidFill>
                  <a:srgbClr val="5B6673"/>
                </a:solidFill>
              </a:rPr>
              <a:t>把官方 wheels、Intel runtime、技能和安装器纳入可验证包体。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5FBD66-AA5F-4D97-B36A-AE1A60856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bfcb40c6364fd8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050D88-1278-4A88-ABDB-997DC14A0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D56507-34C5-4D2A-BA3C-8FB9DAFBC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50233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DBBDCD-70B3-46D6-B2AD-F3653ACFA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78FC75-3116-4FAF-83A8-0B72C3313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PRODUCT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A2BCD7-82C2-4BE5-AC9F-1DB5DAE48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核心用户路径围绕项目会话，而不是孤立提示词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39F205-3892-450E-9932-EF4FEC4EA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3F5"/>
          </a:solidFill>
          <a:ln xmlns:a="http://schemas.openxmlformats.org/drawingml/2006/main" w="9525">
            <a:solidFill>
              <a:srgbClr val="1C8FA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E6B111-6DD3-48F9-95DB-472FB3A70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0505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E6374"/>
                </a:solidFill>
              </a:defRPr>
            </a:pPr>
            <a:r>
              <a:rPr sz="1500" b="1">
                <a:solidFill>
                  <a:srgbClr val="0E6374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A3DDE6-CD69-43D3-9991-094E668F4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76475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D2D8DE"/>
                </a:solidFill>
              </a:defRPr>
            </a:pPr>
            <a:r>
              <a:rPr sz="2100" b="1">
                <a:solidFill>
                  <a:srgbClr val="D2D8DE"/>
                </a:solidFill>
              </a:rPr>
              <a:t>&gt;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D92F6F-CEBD-4C36-9280-5D36AEFE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956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D1117"/>
                </a:solidFill>
              </a:defRPr>
            </a:pPr>
            <a:r>
              <a:rPr sz="1800" b="1">
                <a:solidFill>
                  <a:srgbClr val="0D1117"/>
                </a:solidFill>
              </a:rPr>
              <a:t>打开项目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260963-A6F8-40DB-9FE3-D3F873B70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33750"/>
            <a:ext cx="1638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673"/>
                </a:solidFill>
              </a:defRPr>
            </a:pPr>
            <a:r>
              <a:rPr sz="1350" b="0">
                <a:solidFill>
                  <a:srgbClr val="5B6673"/>
                </a:solidFill>
              </a:rPr>
              <a:t>选择 workspace，读取 Git 和文件上下文。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379C0D-764F-4AF3-BEA3-812DF1525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2098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3F5"/>
          </a:solidFill>
          <a:ln xmlns:a="http://schemas.openxmlformats.org/drawingml/2006/main" w="9525">
            <a:solidFill>
              <a:srgbClr val="1C8FA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C5BD32-174E-4CC1-A5F4-8902F10CD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30505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E6374"/>
                </a:solidFill>
              </a:defRPr>
            </a:pPr>
            <a:r>
              <a:rPr sz="1500" b="1">
                <a:solidFill>
                  <a:srgbClr val="0E6374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53EE2C-60DC-40D3-BC18-621416C0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276475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D2D8DE"/>
                </a:solidFill>
              </a:defRPr>
            </a:pPr>
            <a:r>
              <a:rPr sz="2100" b="1">
                <a:solidFill>
                  <a:srgbClr val="D2D8DE"/>
                </a:solidFill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DED71E-5083-4A08-9B2E-072EFFC5D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8956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D1117"/>
                </a:solidFill>
              </a:defRPr>
            </a:pPr>
            <a:r>
              <a:rPr sz="1800" b="1">
                <a:solidFill>
                  <a:srgbClr val="0D1117"/>
                </a:solidFill>
              </a:rPr>
              <a:t>配置模型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9F648C-F7BC-47B6-A3A1-383BE1276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333750"/>
            <a:ext cx="1638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673"/>
                </a:solidFill>
              </a:defRPr>
            </a:pPr>
            <a:r>
              <a:rPr sz="1350" b="0">
                <a:solidFill>
                  <a:srgbClr val="5B6673"/>
                </a:solidFill>
              </a:rPr>
              <a:t>使用 BAI 默认端点或自定义 provider。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95A170-FFC1-417E-9588-FE9D42148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2098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1FA"/>
          </a:solidFill>
          <a:ln xmlns:a="http://schemas.openxmlformats.org/drawingml/2006/main" w="9525">
            <a:solidFill>
              <a:srgbClr val="1C8FA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3815D0-9864-40A1-953C-77C6D62FE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0505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E6374"/>
                </a:solidFill>
              </a:defRPr>
            </a:pPr>
            <a:r>
              <a:rPr sz="1500" b="1">
                <a:solidFill>
                  <a:srgbClr val="0E6374"/>
                </a:solidFill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A03FBE-356D-474B-8784-DD0C5B848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76475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D2D8DE"/>
                </a:solidFill>
              </a:defRPr>
            </a:pPr>
            <a:r>
              <a:rPr sz="2100" b="1">
                <a:solidFill>
                  <a:srgbClr val="D2D8DE"/>
                </a:solidFill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517271-AF70-45AD-A014-25BABA86F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956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D1117"/>
                </a:solidFill>
              </a:defRPr>
            </a:pPr>
            <a:r>
              <a:rPr sz="1800" b="1">
                <a:solidFill>
                  <a:srgbClr val="0D1117"/>
                </a:solidFill>
              </a:rPr>
              <a:t>运行会话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D225F3-E30D-4010-A899-E081EC5A6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333750"/>
            <a:ext cx="1638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673"/>
                </a:solidFill>
              </a:defRPr>
            </a:pPr>
            <a:r>
              <a:rPr sz="1350" b="0">
                <a:solidFill>
                  <a:srgbClr val="5B6673"/>
                </a:solidFill>
              </a:rPr>
              <a:t>发送任务，接收流式进度、工具摘要和变更。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A30AEA-1C40-49FF-9D97-B72BCCC6B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2098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3F5"/>
          </a:solidFill>
          <a:ln xmlns:a="http://schemas.openxmlformats.org/drawingml/2006/main" w="9525">
            <a:solidFill>
              <a:srgbClr val="1C8FA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BFC9D1-0C93-46E4-B9BC-52F73EC7D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30505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E6374"/>
                </a:solidFill>
              </a:defRPr>
            </a:pPr>
            <a:r>
              <a:rPr sz="1500" b="1">
                <a:solidFill>
                  <a:srgbClr val="0E6374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D1ED85-34A0-457F-AEC0-40B931BC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76475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D2D8DE"/>
                </a:solidFill>
              </a:defRPr>
            </a:pPr>
            <a:r>
              <a:rPr sz="2100" b="1">
                <a:solidFill>
                  <a:srgbClr val="D2D8DE"/>
                </a:solidFill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3B59A7-6B4C-46CB-96A7-1B5B7E40A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8956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D1117"/>
                </a:solidFill>
              </a:defRPr>
            </a:pPr>
            <a:r>
              <a:rPr sz="1800" b="1">
                <a:solidFill>
                  <a:srgbClr val="0D1117"/>
                </a:solidFill>
              </a:rPr>
              <a:t>处理交互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A2FBAF-9B52-43A2-AB60-5FF56EAD3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333750"/>
            <a:ext cx="1638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673"/>
                </a:solidFill>
              </a:defRPr>
            </a:pPr>
            <a:r>
              <a:rPr sz="1350" b="0">
                <a:solidFill>
                  <a:srgbClr val="5B6673"/>
                </a:solidFill>
              </a:rPr>
              <a:t>审批敏感操作，回答 agent 问题，追踪运行时状态。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C8C279-25B1-4B08-8110-EB374A2F3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2098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3F5"/>
          </a:solidFill>
          <a:ln xmlns:a="http://schemas.openxmlformats.org/drawingml/2006/main" w="9525">
            <a:solidFill>
              <a:srgbClr val="1C8FA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79A071-4AF4-47D3-A221-07F24437D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30505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E6374"/>
                </a:solidFill>
              </a:defRPr>
            </a:pPr>
            <a:r>
              <a:rPr sz="1500" b="1">
                <a:solidFill>
                  <a:srgbClr val="0E6374"/>
                </a:solidFill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10C94A-3661-446E-A401-B30B8B74B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8956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D1117"/>
                </a:solidFill>
              </a:defRPr>
            </a:pPr>
            <a:r>
              <a:rPr sz="1800" b="1">
                <a:solidFill>
                  <a:srgbClr val="0D1117"/>
                </a:solidFill>
              </a:rPr>
              <a:t>交付产物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47E1C7E-7ED7-45CA-AC57-749ABF841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333750"/>
            <a:ext cx="1638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673"/>
                </a:solidFill>
              </a:defRPr>
            </a:pPr>
            <a:r>
              <a:rPr sz="1350" b="0">
                <a:solidFill>
                  <a:srgbClr val="5B6673"/>
                </a:solidFill>
              </a:rPr>
              <a:t>审阅 diff、导出文档、保留会话和检查点。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D44710-782C-4BAD-A06F-693EA7869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6d5b95e8ea41d3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A83613-2AA3-482A-AA2C-6A6FC1E65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AAC0A7A-97D6-4652-9A11-891AD89D7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727743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D371E9-91E0-4B31-AAD8-EFB784BC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DAECF3-7697-4BBF-B0A4-0BD96E061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PRODUCT SURFACE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4B3019-3C66-4147-B515-B2B06CE87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产品体验把工作台、会话和运行时提示放在同一个操作面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3B4043-73E5-4BD7-8132-CDD2BA83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572250" cy="3714750"/>
          </a:xfrm>
          <a:prstGeom xmlns:a="http://schemas.openxmlformats.org/drawingml/2006/main" prst="roundRect">
            <a:avLst>
              <a:gd name="adj" fmla="val 20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9E83D6-6C5C-4A29-A3C7-64042138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572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CFEC18-75FF-46B0-BE1D-2D7B540C3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240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BAI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78139F-564E-45DB-A26D-E20558C36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1524000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BAF56B-9B9E-4865-B81D-5D527ADF2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228850"/>
            <a:ext cx="3429000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2AAF29-68EF-4ABD-A292-A9D1BA17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228850"/>
            <a:ext cx="1619250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033173-589F-4AFB-B7A9-C1713A457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52700"/>
            <a:ext cx="1047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Projects</a:t>
            </a:r>
          </a:p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Sessions</a:t>
            </a:r>
          </a:p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Archive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C96CDB-BA66-4561-B653-44BB173C9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647950"/>
            <a:ext cx="2381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2933"/>
                </a:solidFill>
              </a:defRPr>
            </a:pPr>
            <a:r>
              <a:rPr sz="1500" b="1">
                <a:solidFill>
                  <a:srgbClr val="1F2933"/>
                </a:solidFill>
              </a:rPr>
              <a:t>Message timeline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1">
                <a:solidFill>
                  <a:srgbClr val="1F2933"/>
                </a:solidFill>
              </a:defRPr>
            </a:pPr>
            <a:r>
              <a:rPr sz="1500" b="1">
                <a:solidFill>
                  <a:srgbClr val="1F2933"/>
                </a:solidFill>
              </a:rPr>
              <a:t>Runtime status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1">
                <a:solidFill>
                  <a:srgbClr val="1F2933"/>
                </a:solidFill>
              </a:defRPr>
            </a:pPr>
            <a:r>
              <a:rPr sz="1500" b="1">
                <a:solidFill>
                  <a:srgbClr val="1F2933"/>
                </a:solidFill>
              </a:rPr>
              <a:t>Composer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90E43F-B0DD-4AC0-980B-DECADC7D3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47950"/>
            <a:ext cx="95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673"/>
                </a:solidFill>
              </a:defRPr>
            </a:pPr>
            <a:r>
              <a:rPr sz="1350" b="0">
                <a:solidFill>
                  <a:srgbClr val="5B6673"/>
                </a:solidFill>
              </a:rPr>
              <a:t>Plan</a:t>
            </a:r>
          </a:p>
          <a:p xmlns:a="http://schemas.openxmlformats.org/drawingml/2006/main">
            <a:pPr algn="l">
              <a:defRPr sz="1350" b="0">
                <a:solidFill>
                  <a:srgbClr val="5B6673"/>
                </a:solidFill>
              </a:defRPr>
            </a:pPr>
            <a:r>
              <a:rPr sz="1350" b="0">
                <a:solidFill>
                  <a:srgbClr val="5B6673"/>
                </a:solidFill>
              </a:rPr>
              <a:t>Diff</a:t>
            </a:r>
          </a:p>
          <a:p xmlns:a="http://schemas.openxmlformats.org/drawingml/2006/main">
            <a:pPr algn="l">
              <a:defRPr sz="1350" b="0">
                <a:solidFill>
                  <a:srgbClr val="5B6673"/>
                </a:solidFill>
              </a:defRPr>
            </a:pPr>
            <a:r>
              <a:rPr sz="1350" b="0">
                <a:solidFill>
                  <a:srgbClr val="5B6673"/>
                </a:solidFill>
              </a:rPr>
              <a:t>Preview</a:t>
            </a:r>
          </a:p>
          <a:p xmlns:a="http://schemas.openxmlformats.org/drawingml/2006/main">
            <a:pPr algn="l">
              <a:defRPr sz="1350" b="0">
                <a:solidFill>
                  <a:srgbClr val="5B6673"/>
                </a:solidFill>
              </a:defRPr>
            </a:pPr>
            <a:r>
              <a:rPr sz="1350" b="0">
                <a:solidFill>
                  <a:srgbClr val="5B6673"/>
                </a:solidFill>
              </a:rPr>
              <a:t>Files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5D8335-D2B8-4E66-B8B9-AA5DEBEE0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8764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C178D6-3A4E-4DD8-A5A5-73541EBBC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8097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项目/会话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35069B-C695-4123-A90C-BF89272FE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336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侧边栏聚合项目、线程、历史和归档。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DC978D-E310-43BD-8BAF-4D8FA27AF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527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B3B26F-CAF2-414E-A570-B4CD378B3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6860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模型配置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FEA8FD-FD94-405F-B4EC-0E990E540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0099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composer 与设置页共享 provider/model 选择。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CE098C-ECA4-4E9D-B9F1-A33D1A293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6290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80C6B2-4F4E-45B0-8BC4-4FBE008D3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5623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运行时提示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5FB8A4-92B8-4A1A-9F24-CAB5E12AB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8862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Runtime banner 暴露错误、日志路径、重试和设置入口。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F98D94-E599-4DEA-A7C7-49B80D8BD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5053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B4192C-95C0-4AED-B214-59A748E17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386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审阅面板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7E0E9B-9C40-4EA4-ACBC-DC31DCBB1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7625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变更、计划、预览和文件引用作为右侧工作面。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9E1346-AED2-4C99-80F7-2E1361D9D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778fbbc44049d9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32D0C5-4D17-4C5A-8CB1-04F4182D0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E1B1B12-76C8-4C6C-99A7-B75641C2D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84583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404B0D-7F78-4FBC-A559-2C2640A88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6DCF94-F419-4674-852B-006F0FAA1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RUNTIME EXPERIENCE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4E22BC-55CA-4C77-ABEF-57A7F064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Runtime UX 明确区分“可运行”和“缺协议”两类问题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1B8D3C-3E16-4DA2-9602-2C4A8A2FB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00250"/>
            <a:ext cx="4762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923F82-FD12-41D4-A18E-53435FC5D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09800"/>
            <a:ext cx="430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运行能力探测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29D6AD-82B2-46AA-A028-62B5C5752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09850"/>
            <a:ext cx="430530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探测 baicode --version 与 app-local runtime</a:t>
            </a:r>
          </a:p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Mac Intel 可直接使用内置 BAI-Code-Runtime</a:t>
            </a:r>
          </a:p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arm64 / Windows 可从 wheelhouse 创建本地 venv</a:t>
            </a:r>
          </a:p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失败时提示安装 Python 3.10-3.13 或配置现有 baicode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8C972A-C1A6-43A7-A11F-8195C28B6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00250"/>
            <a:ext cx="4762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77C3CC-A874-431F-BE4E-611ED5C91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09800"/>
            <a:ext cx="430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协议缺口提示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7AC7FD-D9C3-4CDC-B90C-4B3325839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609850"/>
            <a:ext cx="430530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CLI 可用不等于桌面 service contract 可用</a:t>
            </a:r>
          </a:p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session / event / permission / question 缺口在错误中显式暴露</a:t>
            </a:r>
          </a:p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当前桥接层先保障基本 chat/completions 路径</a:t>
            </a:r>
          </a:p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后续接入官方协议时保持 renderer 边界稳定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C304A9-3705-44F6-9289-B22FDABF3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0030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FA7F27-2C0B-44CD-B44E-B3485BFAE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3241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D3EA7A-4F2D-46F5-AEF7-29824DA4B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2b82a43d9d4b4a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806FC-80C2-45F3-B810-27D24CF30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CD2BDB-B001-46AC-9269-393F1B18B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037588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BADE4D2-1014-4DE2-97D8-F0AC4863A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99DD89-6E0B-4D28-9AA0-9EBF83A0F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B2AFAB-1832-4971-98CE-BBCE4CB78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架构选择保留 Electron 桌面边界，同时替换 runtime 核心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40FD01-7322-4520-9C52-1A4D81B7E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71450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CD9A7E-D98F-4F9D-BB70-CA247B17C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336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Renderer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62D8A9-D750-4189-BC59-2AA8B29A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90850"/>
            <a:ext cx="1371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B6673"/>
                </a:solidFill>
              </a:defRPr>
            </a:pPr>
            <a:r>
              <a:rPr sz="1200" b="0">
                <a:solidFill>
                  <a:srgbClr val="5B6673"/>
                </a:solidFill>
              </a:rPr>
              <a:t>React / TypeScript</a:t>
            </a:r>
          </a:p>
          <a:p xmlns:a="http://schemas.openxmlformats.org/drawingml/2006/main">
            <a:pPr algn="ctr">
              <a:defRPr sz="1200" b="0">
                <a:solidFill>
                  <a:srgbClr val="5B6673"/>
                </a:solidFill>
              </a:defRPr>
            </a:pPr>
            <a:r>
              <a:rPr sz="1200" b="0">
                <a:solidFill>
                  <a:srgbClr val="5B6673"/>
                </a:solidFill>
              </a:rPr>
              <a:t>Workbench UI, settings, chat store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B83B64-10BF-4653-B3A7-7FD0FFA5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914650"/>
            <a:ext cx="342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C8FA3"/>
                </a:solidFill>
              </a:defRPr>
            </a:pPr>
            <a:r>
              <a:rPr sz="2400" b="1">
                <a:solidFill>
                  <a:srgbClr val="1C8FA3"/>
                </a:solidFill>
              </a:rPr>
              <a:t>&gt;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885A43-A561-41BE-A853-5D489CCE9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305050"/>
            <a:ext cx="171450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6A1916-6561-4DF4-B00D-CB1E428A5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5336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Preload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B945F3-83E4-469C-BCEC-CEB988ECD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990850"/>
            <a:ext cx="1371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B6673"/>
                </a:solidFill>
              </a:defRPr>
            </a:pPr>
            <a:r>
              <a:rPr sz="1200" b="0">
                <a:solidFill>
                  <a:srgbClr val="5B6673"/>
                </a:solidFill>
              </a:rPr>
              <a:t>受控 IPC bridge</a:t>
            </a:r>
          </a:p>
          <a:p xmlns:a="http://schemas.openxmlformats.org/drawingml/2006/main">
            <a:pPr algn="ctr">
              <a:defRPr sz="1200" b="0">
                <a:solidFill>
                  <a:srgbClr val="5B6673"/>
                </a:solidFill>
              </a:defRPr>
            </a:pPr>
            <a:r>
              <a:rPr sz="1200" b="0">
                <a:solidFill>
                  <a:srgbClr val="5B6673"/>
                </a:solidFill>
              </a:rPr>
              <a:t>runtime events, desktop commands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E7AE50-3ABD-4AC9-8B5A-81C7BEA15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914650"/>
            <a:ext cx="342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C8FA3"/>
                </a:solidFill>
              </a:defRPr>
            </a:pPr>
            <a:r>
              <a:rPr sz="2400" b="1">
                <a:solidFill>
                  <a:srgbClr val="1C8FA3"/>
                </a:solidFill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E742E6-6E39-4B78-8E87-B78B8904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305050"/>
            <a:ext cx="171450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2A7BFC-29E0-4823-ABA7-26247CF97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5336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Main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ECFB7C-01F3-46A7-BF06-895068489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90850"/>
            <a:ext cx="1371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B6673"/>
                </a:solidFill>
              </a:defRPr>
            </a:pPr>
            <a:r>
              <a:rPr sz="1200" b="0">
                <a:solidFill>
                  <a:srgbClr val="5B6673"/>
                </a:solidFill>
              </a:rPr>
              <a:t>Electron host</a:t>
            </a:r>
          </a:p>
          <a:p xmlns:a="http://schemas.openxmlformats.org/drawingml/2006/main">
            <a:pPr algn="ctr">
              <a:defRPr sz="1200" b="0">
                <a:solidFill>
                  <a:srgbClr val="5B6673"/>
                </a:solidFill>
              </a:defRPr>
            </a:pPr>
            <a:r>
              <a:rPr sz="1200" b="0">
                <a:solidFill>
                  <a:srgbClr val="5B6673"/>
                </a:solidFill>
              </a:rPr>
              <a:t>settings, packaging,</a:t>
            </a:r>
          </a:p>
          <a:p xmlns:a="http://schemas.openxmlformats.org/drawingml/2006/main">
            <a:pPr algn="ctr">
              <a:defRPr sz="1200" b="0">
                <a:solidFill>
                  <a:srgbClr val="5B6673"/>
                </a:solidFill>
              </a:defRPr>
            </a:pPr>
            <a:r>
              <a:rPr sz="1200" b="0">
                <a:solidFill>
                  <a:srgbClr val="5B6673"/>
                </a:solidFill>
              </a:rPr>
              <a:t>local adapter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8F896F-C638-4F08-B6F6-7848D0AAB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914650"/>
            <a:ext cx="342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C8FA3"/>
                </a:solidFill>
              </a:defRPr>
            </a:pPr>
            <a:r>
              <a:rPr sz="2400" b="1">
                <a:solidFill>
                  <a:srgbClr val="1C8FA3"/>
                </a:solidFill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5812F6-A10D-4FD9-BC5F-869622E66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305050"/>
            <a:ext cx="171450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B48DEE-2A03-4323-A158-088CAA077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5336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Runtime adapter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FB9933-77D6-415C-949B-072DA268C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990850"/>
            <a:ext cx="1371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B6673"/>
                </a:solidFill>
              </a:defRPr>
            </a:pPr>
            <a:r>
              <a:rPr sz="1200" b="0">
                <a:solidFill>
                  <a:srgbClr val="5B6673"/>
                </a:solidFill>
              </a:rPr>
              <a:t>BAI Work adapter</a:t>
            </a:r>
          </a:p>
          <a:p xmlns:a="http://schemas.openxmlformats.org/drawingml/2006/main">
            <a:pPr algn="ctr">
              <a:defRPr sz="1200" b="0">
                <a:solidFill>
                  <a:srgbClr val="5B6673"/>
                </a:solidFill>
              </a:defRPr>
            </a:pPr>
            <a:r>
              <a:rPr sz="1200" b="0">
                <a:solidFill>
                  <a:srgbClr val="5B6673"/>
                </a:solidFill>
              </a:rPr>
              <a:t>/v1/*, SSE,</a:t>
            </a:r>
          </a:p>
          <a:p xmlns:a="http://schemas.openxmlformats.org/drawingml/2006/main">
            <a:pPr algn="ctr">
              <a:defRPr sz="1200" b="0">
                <a:solidFill>
                  <a:srgbClr val="5B6673"/>
                </a:solidFill>
              </a:defRPr>
            </a:pPr>
            <a:r>
              <a:rPr sz="1200" b="0">
                <a:solidFill>
                  <a:srgbClr val="5B6673"/>
                </a:solidFill>
              </a:rPr>
              <a:t>provider config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9EC42E-E1DF-4011-AC05-47AF95B67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914650"/>
            <a:ext cx="342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C8FA3"/>
                </a:solidFill>
              </a:defRPr>
            </a:pPr>
            <a:r>
              <a:rPr sz="2400" b="1">
                <a:solidFill>
                  <a:srgbClr val="1C8FA3"/>
                </a:solidFill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0DA11E-79A6-4870-83F4-4083005C9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305050"/>
            <a:ext cx="171450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0D1117"/>
          </a:solidFill>
          <a:ln xmlns:a="http://schemas.openxmlformats.org/drawingml/2006/main" w="9525">
            <a:solidFill>
              <a:srgbClr val="0D111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B27474-B6BE-417E-8FA7-CB47BD731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5336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BAI 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36224C-1512-4F1E-934B-54E6AC352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990850"/>
            <a:ext cx="1371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CDECEF"/>
                </a:solidFill>
              </a:defRPr>
            </a:pPr>
            <a:r>
              <a:rPr sz="1200" b="0">
                <a:solidFill>
                  <a:srgbClr val="CDECEF"/>
                </a:solidFill>
              </a:rPr>
              <a:t>baicode CLI today</a:t>
            </a:r>
          </a:p>
          <a:p xmlns:a="http://schemas.openxmlformats.org/drawingml/2006/main">
            <a:pPr algn="ctr">
              <a:defRPr sz="1200" b="0">
                <a:solidFill>
                  <a:srgbClr val="CDECEF"/>
                </a:solidFill>
              </a:defRPr>
            </a:pPr>
            <a:r>
              <a:rPr sz="1200" b="0">
                <a:solidFill>
                  <a:srgbClr val="CDECEF"/>
                </a:solidFill>
              </a:rPr>
              <a:t>future service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808DB2-01D2-4B57-9729-5DC4DB091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910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E6374"/>
                </a:solidFill>
              </a:defRPr>
            </a:pPr>
            <a:r>
              <a:rPr sz="1800" b="1">
                <a:solidFill>
                  <a:srgbClr val="0E6374"/>
                </a:solidFill>
              </a:rPr>
              <a:t>稳定的桌面边界让 runtime 核心可以逐步从 CLI bridge 迁移到官方 service。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945FC8-85D1-4E40-9449-A4C6C1042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ba8f7d89d142ca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C5AAF0-F6F4-4DE6-BFD4-A8D8F8F72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8F64EFF-CFB1-48D5-A182-989B9632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41377605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4EE09C-DC69-4190-B543-B029F119D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8255C7-0F8B-4CC3-AC35-CEEBA4777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RESPONSIBILITIES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4C922F-7BF1-41E1-A203-E6C6D11C5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main / preload / renderer 的职责分层降低替换风险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93E582-46D1-4968-AC04-FAE679681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621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D1117"/>
                </a:solidFill>
              </a:defRPr>
            </a:pPr>
            <a:r>
              <a:rPr sz="2025" b="1">
                <a:solidFill>
                  <a:srgbClr val="0D1117"/>
                </a:solidFill>
              </a:rPr>
              <a:t>Renderer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CD41AD-85B0-49EB-A522-652AB9F49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193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23234F-5640-4D18-938C-DFC7001B5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670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3F4A46-C8B4-426F-8DBD-BDAD22EAA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81300"/>
            <a:ext cx="2714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工作台 UI 与状态管理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075523-9666-47CE-8BA1-3FAF2CCDB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147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017AEC-334D-44AA-BC48-A2FB3B9CA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29000"/>
            <a:ext cx="2714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composer、会话、设置、右侧面板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49C4BB-4CD2-454F-98A2-EAF7A20E8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624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0FCBB0-780A-42D9-A333-4BAE5600A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76700"/>
            <a:ext cx="2714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只依赖稳定 runtime-client contract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2EB28D-CD44-4E62-88C8-AE17C6A5D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9621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D1117"/>
                </a:solidFill>
              </a:defRPr>
            </a:pPr>
            <a:r>
              <a:rPr sz="2025" b="1">
                <a:solidFill>
                  <a:srgbClr val="0D1117"/>
                </a:solidFill>
              </a:rPr>
              <a:t>Preload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A17247-9360-472E-9753-D00449E8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193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A1888D-44D3-49C0-829A-2344C569D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8670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2E1604-1A5C-4E11-B9B3-1FDCFDB0C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781300"/>
            <a:ext cx="2714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暴露最小 IPC 能力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9A9433-1E00-48D5-AB98-8F8B3971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5147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E56683-44DB-468D-B0DE-F18A0DF6E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429000"/>
            <a:ext cx="2714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转发 runtime:sse-event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396A5A-64C8-4A8F-991B-2564C9F7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1624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A31711-E09D-490C-B56D-4E2D255CE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076700"/>
            <a:ext cx="2714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避免 renderer 直接接触 Node 权限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815F48-66B7-4992-9FC7-DD8D46F06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9621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D1117"/>
                </a:solidFill>
              </a:defRPr>
            </a:pPr>
            <a:r>
              <a:rPr sz="2025" b="1">
                <a:solidFill>
                  <a:srgbClr val="0D1117"/>
                </a:solidFill>
              </a:rPr>
              <a:t>Main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B6CADE-7AB4-41FB-BB23-22C28560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193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EB057C-2247-4338-B5AC-E87B5132A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670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162104-4F7D-4776-8B86-A9ABF80C8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781300"/>
            <a:ext cx="2714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维护设置、文件、Git、packaging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6A4E85-A4B0-4003-9A24-5FE2F6297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5147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E79A55-6FAE-4262-9C41-C5ECCBD03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429000"/>
            <a:ext cx="2714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启动并代理 runtime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D14469-A40C-42A3-86DC-2961E4AF1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1624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5197C3-1448-4703-9596-8164A61DC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076700"/>
            <a:ext cx="2714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把桌面能力收敛到本地服务边界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9FD88E6-C1D6-4B56-9DA7-3F317EF0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5c32abad56449b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A004670-FB73-4F80-888A-50310946C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80F2A73-22B8-4B7C-B630-A61F9C2B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5476789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E5D00E-F002-46F2-9941-F3836A585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E2B98C-0A79-44AA-A1E8-68780224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RUNTIME ADAPTER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01D443-9909-4B76-A4C5-3CAC9D35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Runtime adapter 用兼容层吸收官方协议尚未稳定的风险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D42378-02CD-4AD7-8477-5E28FB228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669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E6374"/>
                </a:solidFill>
              </a:defRPr>
            </a:pPr>
            <a:r>
              <a:rPr sz="1725" b="1">
                <a:solidFill>
                  <a:srgbClr val="0E6374"/>
                </a:solidFill>
              </a:rPr>
              <a:t>稳定边界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B627EF-E4B0-44D1-AB96-DD2FAD7C9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00025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4030EF-11CB-44D2-9526-E4366A4E5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847850"/>
            <a:ext cx="685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renderer 继续访问 /v1/runtime、/v1/threads、/v1/skills、/v1/usage 等桌面接口。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07A43B-0AF6-44E8-B066-24CB7D663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432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E6374"/>
                </a:solidFill>
              </a:defRPr>
            </a:pPr>
            <a:r>
              <a:rPr sz="1725" b="1">
                <a:solidFill>
                  <a:srgbClr val="0E6374"/>
                </a:solidFill>
              </a:rPr>
              <a:t>桥接策略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E59677-3438-48C1-B041-B4314C064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87655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910145-04DD-43B9-B983-B95B8918C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724150"/>
            <a:ext cx="685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当前实现内存线程与 SSE，调用 BAI OpenAI-compatible chat/completions 完成基础对话。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C80BF4-613C-4E13-B7D6-F8F8AFD5C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E6374"/>
                </a:solidFill>
              </a:defRPr>
            </a:pPr>
            <a:r>
              <a:rPr sz="1725" b="1">
                <a:solidFill>
                  <a:srgbClr val="0E6374"/>
                </a:solidFill>
              </a:rPr>
              <a:t>显式缺口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2A2A9F-F2A8-40E1-8DFB-D2CBD940F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75285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4C7B31-A371-48AC-844B-A74AC33C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600450"/>
            <a:ext cx="685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resume-session、approval、user-input 等依赖官方 local service contract 的接口返回明确错误。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A9A01B-93D0-4642-9B99-AD0FD4D61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958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E6374"/>
                </a:solidFill>
              </a:defRPr>
            </a:pPr>
            <a:r>
              <a:rPr sz="1725" b="1">
                <a:solidFill>
                  <a:srgbClr val="0E6374"/>
                </a:solidFill>
              </a:rPr>
              <a:t>迁移路径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A7F86E-7974-40D5-BDCD-3D69B2F95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62915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31A388-619F-4D3E-96D3-43B6E3520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476750"/>
            <a:ext cx="685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当 BAI 发布 service contract 后，只需要替换 adapter 内部实现，不扰动桌面 UI。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4D1505-74BB-43AA-B536-B86900F68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4b073dcc3b44c2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37EB1E-5BFF-4403-8F8B-20417E554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89B0F2-A241-402E-BF4B-6B3CCC82E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4257501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98ACDD-2517-44B4-94CA-928EF73DB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A70E16-D106-4250-B016-CF14A32C0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BAI CODE ADAPTATION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8D5378-8A3B-4655-B23C-88C779E89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BAI Code 适配采用“可内置则内置，可 bootstrap 则 bootstrap”的分发策略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7D7C15-52B9-4BD7-BA40-3B2B6183D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38350"/>
            <a:ext cx="3143250" cy="2800350"/>
          </a:xfrm>
          <a:prstGeom xmlns:a="http://schemas.openxmlformats.org/drawingml/2006/main" prst="roundRect">
            <a:avLst>
              <a:gd name="adj" fmla="val 2721"/>
            </a:avLst>
          </a:prstGeom>
          <a:solidFill xmlns:a="http://schemas.openxmlformats.org/drawingml/2006/main">
            <a:srgbClr val="E8F1FA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3AECD7-B713-4D9E-8A47-78045BBD1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24100"/>
            <a:ext cx="2647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D1117"/>
                </a:solidFill>
              </a:defRPr>
            </a:pPr>
            <a:r>
              <a:rPr sz="1950" b="1">
                <a:solidFill>
                  <a:srgbClr val="0D1117"/>
                </a:solidFill>
              </a:rPr>
              <a:t>Mac Intel x64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3CD14B-C22D-4D59-BE50-E62CB2CA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2609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随包包含 BAI-Code-Runtime</a:t>
            </a:r>
          </a:p>
          <a:p xmlns:a="http://schemas.openxmlformats.org/drawingml/2006/main">
            <a:pPr algn="ctr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CPython 3.11.15 + BAI Code 0.9.1</a:t>
            </a:r>
          </a:p>
          <a:p xmlns:a="http://schemas.openxmlformats.org/drawingml/2006/main">
            <a:pPr algn="ctr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bin/baicode 使用相对路径选择运行时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C9F303-20A4-44D2-97FC-75B68CDE1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38350"/>
            <a:ext cx="3143250" cy="2800350"/>
          </a:xfrm>
          <a:prstGeom xmlns:a="http://schemas.openxmlformats.org/drawingml/2006/main" prst="roundRect">
            <a:avLst>
              <a:gd name="adj" fmla="val 2721"/>
            </a:avLst>
          </a:prstGeom>
          <a:solidFill xmlns:a="http://schemas.openxmlformats.org/drawingml/2006/main">
            <a:srgbClr val="E7F5EE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0E2F85-46DE-492F-889D-3704F325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324100"/>
            <a:ext cx="2647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D1117"/>
                </a:solidFill>
              </a:defRPr>
            </a:pPr>
            <a:r>
              <a:rPr sz="1950" b="1">
                <a:solidFill>
                  <a:srgbClr val="0D1117"/>
                </a:solidFill>
              </a:rPr>
              <a:t>Mac Apple Silicon arm64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DA676B-4DB6-4365-ADF1-40D6234AE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952750"/>
            <a:ext cx="2609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随包包含 BAI-Code-Official</a:t>
            </a:r>
          </a:p>
          <a:p xmlns:a="http://schemas.openxmlformats.org/drawingml/2006/main">
            <a:pPr algn="ctr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官方 macOS arm64 cp310-cp313 wheels</a:t>
            </a:r>
          </a:p>
          <a:p xmlns:a="http://schemas.openxmlformats.org/drawingml/2006/main">
            <a:pPr algn="ctr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目标机用 Python 3.10-3.13 创建本地 venv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1C5FDF-A4F5-4CA7-83D6-8673F888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38350"/>
            <a:ext cx="3143250" cy="2800350"/>
          </a:xfrm>
          <a:prstGeom xmlns:a="http://schemas.openxmlformats.org/drawingml/2006/main" prst="roundRect">
            <a:avLst>
              <a:gd name="adj" fmla="val 2721"/>
            </a:avLst>
          </a:prstGeom>
          <a:solidFill xmlns:a="http://schemas.openxmlformats.org/drawingml/2006/main">
            <a:srgbClr val="F8EFE0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A5B309-710A-4980-B355-69EECA303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324100"/>
            <a:ext cx="2647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D1117"/>
                </a:solidFill>
              </a:defRPr>
            </a:pPr>
            <a:r>
              <a:rPr sz="1950" b="1">
                <a:solidFill>
                  <a:srgbClr val="0D1117"/>
                </a:solidFill>
              </a:rPr>
              <a:t>Windows x64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BE91EB-DB87-44E2-9111-0CD06266F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952750"/>
            <a:ext cx="2609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随包包含 BAI-Code-Official</a:t>
            </a:r>
          </a:p>
          <a:p xmlns:a="http://schemas.openxmlformats.org/drawingml/2006/main">
            <a:pPr algn="ctr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官方 win_amd64 cp310-cp313 wheels</a:t>
            </a:r>
          </a:p>
          <a:p xmlns:a="http://schemas.openxmlformats.org/drawingml/2006/main">
            <a:pPr algn="ctr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在用户数据目录创建 venv 后运行 baicode.exe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DBA9AA-C3E5-4D33-B70E-3C593015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1dbbd5747d432c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D245BD-5D21-417F-88D6-92B2ABD87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4EA8C1-EFCD-484F-9FFE-FF54D214C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08401524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D27141-B6D1-43AA-9AD3-8353D3732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2F8308-D5A3-4C60-B3DE-21F4E736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SERVICE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9486F7-35BA-45BC-94C7-B782E619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官方公开能力与桌面所需协议之间仍有一个待确认缺口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864AC3-A1F7-49E0-93EB-EAED9DFA3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9431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E6374"/>
                </a:solidFill>
              </a:defRPr>
            </a:pPr>
            <a:r>
              <a:rPr sz="1875" b="1">
                <a:solidFill>
                  <a:srgbClr val="0E6374"/>
                </a:solidFill>
              </a:rPr>
              <a:t>官方已公开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49BC7B-34F4-49F2-94F6-48606DCF8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9431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D1117"/>
                </a:solidFill>
              </a:defRPr>
            </a:pPr>
            <a:r>
              <a:rPr sz="1875" b="1">
                <a:solidFill>
                  <a:srgbClr val="0D1117"/>
                </a:solidFill>
              </a:rPr>
              <a:t>桌面仍待确认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D82853-2E98-40E5-AE26-43A2465D8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193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C7DC43-77F9-4280-9C7A-AFF0580BE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533650"/>
            <a:ext cx="342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baicode CLI 安装与运行方式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F9E5B2-C4D2-4416-A261-06253C2EA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718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A912C7-9747-4DC0-8909-C7D3426D5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086100"/>
            <a:ext cx="342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Python wheel / wheelhouse 分发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EDEB83-0274-4639-9C2C-8227719EF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442765-4271-41C3-9217-9C12CD7E8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638550"/>
            <a:ext cx="342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OpenAI-compatible LLM 参数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AA56CC-094E-4A99-B903-1AAFC6C4E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6193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1C382F-14DF-4ED8-A1F9-001D200FD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533650"/>
            <a:ext cx="3562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本地 service 启动与健康检查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0920AC-E807-4DD1-BDE6-A97084DCE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1718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8A6D3B-4A80-4BBB-A391-DF693B9B4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86100"/>
            <a:ext cx="3562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session create/list/read/resume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3388FE-5230-4D25-A15B-0CA55F808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724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612111-2AC8-4CFC-A9D5-AFEBE3337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638550"/>
            <a:ext cx="3562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event stream / SSE 语义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365A18-B7F6-4B2B-9FB5-01139B8C7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2767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F1903A-C88B-4C91-BD26-EE99B26E6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191000"/>
            <a:ext cx="3562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</a:defRPr>
            </a:pPr>
            <a:r>
              <a:rPr sz="1500" b="0">
                <a:solidFill>
                  <a:srgbClr val="1F2933"/>
                </a:solidFill>
              </a:rPr>
              <a:t>permission reply 与 question reply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B64565-3DE4-4F44-AD38-D57F97368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095500"/>
            <a:ext cx="190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25EF83-B7B0-40C1-A243-6C770BF99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6D12E5-B704-41CF-B997-2E984B1F3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3400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E6374"/>
                </a:solidFill>
              </a:defRPr>
            </a:pPr>
            <a:r>
              <a:rPr sz="1500" b="1">
                <a:solidFill>
                  <a:srgbClr val="0E6374"/>
                </a:solidFill>
              </a:rPr>
              <a:t>BAI Work 当前把缺口作为产品风险显式管理：代码、错误信息和路线图都指向同一个 service contract 待确认项。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E9420F-7CAF-4793-8DD9-ED2903E8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1299c3132042b0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DF4744-260E-4C57-A8E5-EA92B724B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AD6D86-6B7F-48C7-B9AE-93D1DC55B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25111048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A649A1-384E-497C-83A8-F5620FEB2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C06F5E-4AFE-46FE-9961-01311FDD2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PROVIDER SETTINGS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FD6AF9-7EEB-4EFA-92D3-B48B6F8DD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模型配置默认 BAI，但不把凭据或端点写死在包体里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84F4A4-9622-4AD9-95B4-92DE1229F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24050"/>
            <a:ext cx="39052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0D1117"/>
          </a:solidFill>
          <a:ln xmlns:a="http://schemas.openxmlformats.org/drawingml/2006/main" w="9525">
            <a:solidFill>
              <a:srgbClr val="0D111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1357A3-6180-4EA6-A01C-58A0C4CD6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479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BAI default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CD3D98-B8D2-421D-8DEC-1594BDE3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00350"/>
            <a:ext cx="285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DF3F5"/>
                </a:solidFill>
              </a:defRPr>
            </a:pPr>
            <a:r>
              <a:rPr sz="1575" b="0">
                <a:solidFill>
                  <a:srgbClr val="DDF3F5"/>
                </a:solidFill>
              </a:rPr>
              <a:t>https://api.b.ai/v1</a:t>
            </a:r>
          </a:p>
          <a:p xmlns:a="http://schemas.openxmlformats.org/drawingml/2006/main">
            <a:pPr algn="l">
              <a:defRPr sz="1575" b="0">
                <a:solidFill>
                  <a:srgbClr val="DDF3F5"/>
                </a:solidFill>
              </a:defRPr>
            </a:pPr>
            <a:r>
              <a:rPr sz="1575" b="0">
                <a:solidFill>
                  <a:srgbClr val="DDF3F5"/>
                </a:solidFill>
              </a:rPr>
              <a:t>chat_completions</a:t>
            </a:r>
          </a:p>
          <a:p xmlns:a="http://schemas.openxmlformats.org/drawingml/2006/main">
            <a:pPr algn="l">
              <a:defRPr sz="1575" b="0">
                <a:solidFill>
                  <a:srgbClr val="DDF3F5"/>
                </a:solidFill>
              </a:defRPr>
            </a:pPr>
            <a:r>
              <a:rPr sz="1575" b="0">
                <a:solidFill>
                  <a:srgbClr val="DDF3F5"/>
                </a:solidFill>
              </a:rPr>
              <a:t>custom providers allowed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B0A949-AA78-44D6-B089-FC2DD84F6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009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06AFF1-3255-44B0-AF2D-1F198A7B9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924050"/>
            <a:ext cx="5334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默认 provider 为 BAI，baseUrl 为 https://api.b.ai/v1，endpointFormat 为 chat_completions。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999EA9-8583-4984-9A8C-9329FBC01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95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46A87A-3D47-40C0-8B7A-4012C3EA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609850"/>
            <a:ext cx="5334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模型列表由 preset 管理，支持 BAI 默认模型与自定义 OpenAI-compatible providers。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4920D7-59C9-46EC-A1F5-6F3C3CC61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3813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A45A10-98C2-4462-9A01-F3C943FBA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295650"/>
            <a:ext cx="5334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API key 只来自用户设置、本地运行环境或 provider profile，代码和资源包不包含真实凭据。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230F5A-B866-4967-947D-4DD20062D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671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377639-8684-4E5A-A2D6-BF904EC89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981450"/>
            <a:ext cx="5334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运行时信息只暴露 apiKeyConfigured 布尔状态，不回显 key 内容。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ECA754-AAA0-4ED3-ADA4-33D145B4D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f5b17595704321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5D7230-16CE-4113-9353-6122E01EF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352F50-9A0D-4863-A337-F0CDEA775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63949794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C35B750-99EC-4037-A488-C895BC11B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8AE966-AB8F-4371-B924-20C31CAA0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EBAI MAPPING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9E967B-2899-4063-BC1D-2664F087D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EBAI 能力已内化为 BAI 原生目录和命令形态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399E46-2841-41C1-BF8A-4A30933E1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621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D1117"/>
                </a:solidFill>
              </a:defRPr>
            </a:pPr>
            <a:r>
              <a:rPr sz="1800" b="1">
                <a:solidFill>
                  <a:srgbClr val="0D1117"/>
                </a:solidFill>
              </a:rPr>
              <a:t>commands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4B8A2E-A01D-444D-964B-E2AD0E54B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924050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C8FA3"/>
                </a:solidFill>
              </a:defRPr>
            </a:pPr>
            <a:r>
              <a:rPr sz="2250" b="1">
                <a:solidFill>
                  <a:srgbClr val="1C8FA3"/>
                </a:solidFill>
              </a:rPr>
              <a:t>&gt;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95471F-FA6C-4F1B-A874-8E3B8285D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9621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E6374"/>
                </a:solidFill>
              </a:defRPr>
            </a:pPr>
            <a:r>
              <a:rPr sz="1575" b="1">
                <a:solidFill>
                  <a:srgbClr val="0E6374"/>
                </a:solidFill>
              </a:rPr>
              <a:t>~/.bai/commands/*.md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D6CDCD-E7A2-42AD-93FE-DFCE9DE13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52625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保持 slash command 可发现、可覆盖。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3887E1-21FD-40AE-A607-E6ADD37A3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302C3A-7A1F-4033-A03F-2156849AA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03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D1117"/>
                </a:solidFill>
              </a:defRPr>
            </a:pPr>
            <a:r>
              <a:rPr sz="1800" b="1">
                <a:solidFill>
                  <a:srgbClr val="0D1117"/>
                </a:solidFill>
              </a:rPr>
              <a:t>agents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3E072F-0919-4A1C-B258-9B70906F0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762250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C8FA3"/>
                </a:solidFill>
              </a:defRPr>
            </a:pPr>
            <a:r>
              <a:rPr sz="2250" b="1">
                <a:solidFill>
                  <a:srgbClr val="1C8FA3"/>
                </a:solidFill>
              </a:rPr>
              <a:t>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5DB668-78EA-41C2-B9A9-6F2DC5C9B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800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E6374"/>
                </a:solidFill>
              </a:defRPr>
            </a:pPr>
            <a:r>
              <a:rPr sz="1575" b="1">
                <a:solidFill>
                  <a:srgbClr val="0E6374"/>
                </a:solidFill>
              </a:rPr>
              <a:t>~/.bai/commands/ebai-agent-*.md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0C9BAE-3010-439F-B843-7F041E8F9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90825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把 agent 规格转为 BAI slash command。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8BBDAC-229F-4715-8E1B-C9DBA3080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14700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62F5AB-8674-45A0-B66F-722B1118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385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D1117"/>
                </a:solidFill>
              </a:defRPr>
            </a:pPr>
            <a:r>
              <a:rPr sz="1800" b="1">
                <a:solidFill>
                  <a:srgbClr val="0D1117"/>
                </a:solidFill>
              </a:rPr>
              <a:t>rules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6551FA-A005-4DC2-A0F1-25D8D7B5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600450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C8FA3"/>
                </a:solidFill>
              </a:defRPr>
            </a:pPr>
            <a:r>
              <a:rPr sz="2250" b="1">
                <a:solidFill>
                  <a:srgbClr val="1C8FA3"/>
                </a:solidFill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AE0A6D-C99F-484F-B37E-D579EBD1D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6385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E6374"/>
                </a:solidFill>
              </a:defRPr>
            </a:pPr>
            <a:r>
              <a:rPr sz="1575" b="1">
                <a:solidFill>
                  <a:srgbClr val="0E6374"/>
                </a:solidFill>
              </a:rPr>
              <a:t>~/.bai/skills/ebai-rules/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F6786A-3445-4DED-8836-94F508C88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29025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以 skill 形式安装 common rules，可选全量规则。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DF2433-724E-4BC8-9B67-CFB13E95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52900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E1FB50-10E7-46A5-94B4-96DA23796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767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D1117"/>
                </a:solidFill>
              </a:defRPr>
            </a:pPr>
            <a:r>
              <a:rPr sz="1800" b="1">
                <a:solidFill>
                  <a:srgbClr val="0D1117"/>
                </a:solidFill>
              </a:rPr>
              <a:t>hooks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3020BE-A3A7-46A6-966D-71B63D7A8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438650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C8FA3"/>
                </a:solidFill>
              </a:defRPr>
            </a:pPr>
            <a:r>
              <a:rPr sz="2250" b="1">
                <a:solidFill>
                  <a:srgbClr val="1C8FA3"/>
                </a:solidFill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4522FC-EA77-42A6-B9C9-0888F577E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4767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E6374"/>
                </a:solidFill>
              </a:defRPr>
            </a:pPr>
            <a:r>
              <a:rPr sz="1575" b="1">
                <a:solidFill>
                  <a:srgbClr val="0E6374"/>
                </a:solidFill>
              </a:rPr>
              <a:t>~/.bai/ebai/hooks/hooks.toml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D37E9E-2BB8-474E-A258-57936EDDE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467225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F2933"/>
                </a:solidFill>
              </a:defRPr>
            </a:pPr>
            <a:r>
              <a:rPr sz="1425" b="0">
                <a:solidFill>
                  <a:srgbClr val="1F2933"/>
                </a:solidFill>
              </a:rPr>
              <a:t>生成 BAI hooks.toml，默认 enabled = false。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3D8788-3D64-493A-BA4B-C76AB861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5F3A24-581D-4D29-AE10-37771E30A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e23bb13c5a4be0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A4A5D4-68B9-4675-A9AA-A747669FA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B6C53B-2AA2-41AB-B037-7B0F9F2E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94138923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4D8B5A4-9799-4A4D-9254-A5F854139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9F77DE-4868-4389-B832-5D194BAEE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EBAI SAFETY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DFEF49-ADCB-4DCF-8A7A-05F60D3EC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EBAI hooks 的安全策略是先生成、后审阅、再按 workspace 启用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AE0A19-060A-4EE7-9198-929437A50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24050"/>
            <a:ext cx="44767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DDF3F5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D3EDB7-C48F-4260-BF66-4597B1F25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955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默认关闭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7AB7EA-D0B1-4F45-8A5A-A9D259E42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0955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生成的全局 hooks.toml 始终 enabled = false。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2C9F4F-7D92-40A6-9952-64CF5FCC2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924050"/>
            <a:ext cx="44767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0FE4DD-3486-442F-AC3B-AAD3041E8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955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信任边界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DD3472-E43D-4862-A276-83C97CB2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955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启用 hooks 必须提供 trusted workspace 路径。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EF8C40-6469-4F75-A610-E37DA086E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44767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EF69E5-8E8A-4CD7-9312-F8D6E1786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作用域收敛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3CDAD8-7921-46F9-99C1-12DA794FB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2766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真正启用的 hooks 写入 workspace/.bai/hooks.toml。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A92B63-9B42-482C-9222-67F644E39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05150"/>
            <a:ext cx="44767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AA2978-C0E4-4B69-A76C-54669C2A0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命令改写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40AF19-E016-48EE-A58C-89ACD9B36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766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执行前进入 EBAI source，并设置插件根目录环境变量。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A1C897-4696-4531-ADB0-06CBE671D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86250"/>
            <a:ext cx="44767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EBEF04-7019-4670-A705-75C9BA21B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577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内容防护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C4E8B4-EDCF-4044-A4C7-8F0557C97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4577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673"/>
                </a:solidFill>
              </a:defRPr>
            </a:pPr>
            <a:r>
              <a:rPr sz="1275" b="0">
                <a:solidFill>
                  <a:srgbClr val="5B6673"/>
                </a:solidFill>
              </a:rPr>
              <a:t>规则目录复制时拒绝 symlink，降低意外路径穿透风险。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A56C8E-24A3-4387-8422-BB6E5C59E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f55d58092c4c37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79E2B3-38D9-4081-87E8-E6F37F3DF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A3A089-5354-48CC-8228-00D470B75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75609791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8075F2-E6A4-4C08-89E3-69C2F8F12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1F5A8C-B9B7-48BB-AA91-107205723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BUILD MATRIX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0215B5-2519-4199-8669-80E31089C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0.1.0 已完成三个桌面平台的原生构建与启动验证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E7ED6B-43F6-49AD-BB27-73FB748C7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6215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8F1FA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F52EEA-23FC-454F-A7ED-0862F70B6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1352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E6374"/>
                </a:solidFill>
              </a:defRPr>
            </a:pPr>
            <a:r>
              <a:rPr sz="1050" b="1">
                <a:solidFill>
                  <a:srgbClr val="0E6374"/>
                </a:solidFill>
              </a:rPr>
              <a:t>mac-x64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BAA25F-2566-4590-9CD4-034869A6D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943100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D1117"/>
                </a:solidFill>
              </a:defRPr>
            </a:pPr>
            <a:r>
              <a:rPr sz="1500" b="1">
                <a:solidFill>
                  <a:srgbClr val="0D1117"/>
                </a:solidFill>
              </a:rPr>
              <a:t>BAI-Work-0.1.0-mac-x64.dmg</a:t>
            </a:r>
          </a:p>
          <a:p xmlns:a="http://schemas.openxmlformats.org/drawingml/2006/main">
            <a:pPr algn="l">
              <a:defRPr sz="1500" b="1">
                <a:solidFill>
                  <a:srgbClr val="0D1117"/>
                </a:solidFill>
              </a:defRPr>
            </a:pPr>
            <a:r>
              <a:rPr sz="1500" b="1">
                <a:solidFill>
                  <a:srgbClr val="0D1117"/>
                </a:solidFill>
              </a:rPr>
              <a:t>BAI-Work-0.1.0-mac-x64.zip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535468-F93A-4B47-A825-536FEC60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019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E6374"/>
                </a:solidFill>
              </a:defRPr>
            </a:pPr>
            <a:r>
              <a:rPr sz="1500" b="1">
                <a:solidFill>
                  <a:srgbClr val="0E6374"/>
                </a:solidFill>
              </a:rPr>
              <a:t>Intel runner 验证，包含自持 runtime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7F4FA2-C112-4BD6-8D2E-4DDF88205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C97E8C-EDD9-49BE-A60C-CCD9D9A21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0515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7F5EE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7D5A05-2338-4230-979F-8ACB93832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81350"/>
            <a:ext cx="1352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E6374"/>
                </a:solidFill>
              </a:defRPr>
            </a:pPr>
            <a:r>
              <a:rPr sz="1050" b="1">
                <a:solidFill>
                  <a:srgbClr val="0E6374"/>
                </a:solidFill>
              </a:rPr>
              <a:t>mac-arm64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296BFB-43C3-42F7-AE59-FAE2FD52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086100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D1117"/>
                </a:solidFill>
              </a:defRPr>
            </a:pPr>
            <a:r>
              <a:rPr sz="1500" b="1">
                <a:solidFill>
                  <a:srgbClr val="0D1117"/>
                </a:solidFill>
              </a:rPr>
              <a:t>BAI-Work-0.1.0-mac-arm64.dmg</a:t>
            </a:r>
          </a:p>
          <a:p xmlns:a="http://schemas.openxmlformats.org/drawingml/2006/main">
            <a:pPr algn="l">
              <a:defRPr sz="1500" b="1">
                <a:solidFill>
                  <a:srgbClr val="0D1117"/>
                </a:solidFill>
              </a:defRPr>
            </a:pPr>
            <a:r>
              <a:rPr sz="1500" b="1">
                <a:solidFill>
                  <a:srgbClr val="0D1117"/>
                </a:solidFill>
              </a:rPr>
              <a:t>BAI-Work-0.1.0-mac-arm64.zip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E46097-1D48-43CD-B906-C595E6474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62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E6374"/>
                </a:solidFill>
              </a:defRPr>
            </a:pPr>
            <a:r>
              <a:rPr sz="1500" b="1">
                <a:solidFill>
                  <a:srgbClr val="0E6374"/>
                </a:solidFill>
              </a:rPr>
              <a:t>M1 runner 验证，使用官方 wheelhouse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018A15-73B6-417F-8FFE-344BB1E9C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24300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5363C7-404C-4609-9F3E-55329D5A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4815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8EFE0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D9D15D-CF3A-4335-BB6A-36D4DF29B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24350"/>
            <a:ext cx="1352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E6374"/>
                </a:solidFill>
              </a:defRPr>
            </a:pPr>
            <a:r>
              <a:rPr sz="1050" b="1">
                <a:solidFill>
                  <a:srgbClr val="0E6374"/>
                </a:solidFill>
              </a:rPr>
              <a:t>win-x64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523D40-A1C5-4B12-B7DF-1EF5FEAB1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229100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D1117"/>
                </a:solidFill>
              </a:defRPr>
            </a:pPr>
            <a:r>
              <a:rPr sz="1500" b="1">
                <a:solidFill>
                  <a:srgbClr val="0D1117"/>
                </a:solidFill>
              </a:rPr>
              <a:t>BAI-Work-0.1.0-win-x64.exe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88522C-06B4-4505-920B-D8E30689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305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E6374"/>
                </a:solidFill>
              </a:defRPr>
            </a:pPr>
            <a:r>
              <a:rPr sz="1500" b="1">
                <a:solidFill>
                  <a:srgbClr val="0E6374"/>
                </a:solidFill>
              </a:rPr>
              <a:t>Windows 2025 runner 验证，NSIS 安装器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7D54E5-4C61-4CB9-9982-08AA6B1A0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E16557-8299-4F08-BFC0-94E551A5D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387e67187f4365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FAB74F-7D39-4C40-A7AF-3B51AF36E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183199-DD09-4AAC-A9B2-B21958D65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63546099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A62A6D2-8A66-426C-96FC-1E2D689A7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B17746-94DC-40CA-A67C-9DC8A237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RELEASE CHAIN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94DF9D-2F55-41A8-B527-CE8BFA3FE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发布链路已经把包体资源、签名和更新元数据纳入配置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64A927-8CBD-45E0-9825-AA9B1B217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24050"/>
            <a:ext cx="57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B9014D-BF39-48AC-B642-13B892F93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8288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包体命名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86A72B-84A0-4D6D-A4A6-E5DD19A57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09750"/>
            <a:ext cx="695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BAI-Work-${version}-${os}-${arch}.${ext}，与 updater / R2 metadata 对齐。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EF7844-D144-4A49-BD84-23C87108D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09850"/>
            <a:ext cx="57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02696C-DEED-4340-9E0D-F8C5C1CB9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146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资源选择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41E3F9-D7D3-4DC7-A82C-DC08375CE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495550"/>
            <a:ext cx="695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extraResources 按目标平台选择 BAI-Work-Skills、BAI-Code-Runtime 或 BAI-Code-Official。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950A5F-7DCC-40F1-B40B-1CBFF5869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57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79426D-BFA8-419C-9EB5-BC350213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00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macOS 安全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BF0CC9-A027-4C3D-B796-8B1914D7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181350"/>
            <a:ext cx="695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Developer ID 开启时启用 hardened runtime、timestamp 和 notarization hook。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B5377C-3F89-4AA9-A29C-EC25527B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81450"/>
            <a:ext cx="57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772297-5E29-40DE-9F0C-C8FF41469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862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Windows 安装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E2BBC8-2531-4D5B-B81F-10C3AA92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867150"/>
            <a:ext cx="695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NSIS 支持安装路径选择、快捷方式重建和 app data 保留。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3A15B7-6C05-47CA-8D26-F97A110B2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67250"/>
            <a:ext cx="57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A49BD0-0364-4E6B-B7AF-543553924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720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1117"/>
                </a:solidFill>
              </a:defRPr>
            </a:pPr>
            <a:r>
              <a:rPr sz="1650" b="1">
                <a:solidFill>
                  <a:srgbClr val="0D1117"/>
                </a:solidFill>
              </a:rPr>
              <a:t>发布通道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702AAC-54CF-426F-B4E4-BD17B3B4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552950"/>
            <a:ext cx="695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R2 stable/frontier 与 latest promotion 脚本已预留。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B79155-520E-460C-B4C4-7D14838EF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ac850648a948b1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0ED614-FD16-4191-B6CD-A2A497B5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8E92EB-665D-4C8B-8F34-B98E60807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82371950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0A2C84-A01F-4812-8C5B-C29A362AB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20F5AA-44BB-450F-9DD6-DD16EE6E7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SECURITY AND COMPLIANCE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D214A4-280C-4ECB-B9BE-ABADF0B3C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安全与合规原则已经体现在 runtime、settings 和 packaging 中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B1EE4A-A78E-4142-BB40-C9F065C48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193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D1117"/>
                </a:solidFill>
              </a:defRPr>
            </a:pPr>
            <a:r>
              <a:rPr sz="1725" b="1">
                <a:solidFill>
                  <a:srgbClr val="0D1117"/>
                </a:solidFill>
              </a:rPr>
              <a:t>不硬编码凭据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159AF4-74B4-4B4F-8B54-7B943ECAC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685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2DA8E1-71BB-43EE-9224-B207240D8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27146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673"/>
                </a:solidFill>
              </a:defRPr>
            </a:pPr>
            <a:r>
              <a:rPr sz="1350" b="0">
                <a:solidFill>
                  <a:srgbClr val="5B6673"/>
                </a:solidFill>
              </a:rPr>
              <a:t>API key 只作为本地凭据处理，不写入代码、deck 或资源包。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954D7D-4CAF-4E5C-AD89-1D471F36E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193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D1117"/>
                </a:solidFill>
              </a:defRPr>
            </a:pPr>
            <a:r>
              <a:rPr sz="1725" b="1">
                <a:solidFill>
                  <a:srgbClr val="0D1117"/>
                </a:solidFill>
              </a:rPr>
              <a:t>本地服务默认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451D0B-7F84-4EF2-8EE1-5ED101D22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38400"/>
            <a:ext cx="685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6F9A81-17B3-4B36-AD84-7757686AA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667000"/>
            <a:ext cx="27146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673"/>
                </a:solidFill>
              </a:defRPr>
            </a:pPr>
            <a:r>
              <a:rPr sz="1350" b="0">
                <a:solidFill>
                  <a:srgbClr val="5B6673"/>
                </a:solidFill>
              </a:rPr>
              <a:t>desktop runtime 绑定 127.0.0.1，避免暴露到网络。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94EDDF-AD1C-45EB-BB0A-3A8059B8B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D1117"/>
                </a:solidFill>
              </a:defRPr>
            </a:pPr>
            <a:r>
              <a:rPr sz="1725" b="1">
                <a:solidFill>
                  <a:srgbClr val="0D1117"/>
                </a:solidFill>
              </a:rPr>
              <a:t>最小 IPC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E77E6C-655B-49C8-AC3E-EDDD2C13C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438400"/>
            <a:ext cx="685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D54F70-07F6-476A-95A7-B2E89A3D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67000"/>
            <a:ext cx="27146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673"/>
                </a:solidFill>
              </a:defRPr>
            </a:pPr>
            <a:r>
              <a:rPr sz="1350" b="0">
                <a:solidFill>
                  <a:srgbClr val="5B6673"/>
                </a:solidFill>
              </a:rPr>
              <a:t>preload 将 renderer 与 Node 能力隔离。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CA98D6-AE8A-407F-A076-D5B64239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D1117"/>
                </a:solidFill>
              </a:defRPr>
            </a:pPr>
            <a:r>
              <a:rPr sz="1725" b="1">
                <a:solidFill>
                  <a:srgbClr val="0D1117"/>
                </a:solidFill>
              </a:rPr>
              <a:t>hooks 谨慎启用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7257FD-8684-482F-858B-26EB0BDF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24350"/>
            <a:ext cx="685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1C3627-E2E0-4AB3-8425-E33A2256C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52950"/>
            <a:ext cx="27146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673"/>
                </a:solidFill>
              </a:defRPr>
            </a:pPr>
            <a:r>
              <a:rPr sz="1350" b="0">
                <a:solidFill>
                  <a:srgbClr val="5B6673"/>
                </a:solidFill>
              </a:rPr>
              <a:t>EBAI hooks 默认关闭，启用必须限定到 trusted workspace。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E6F040-BF78-474D-A6CE-70CB5C79D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052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D1117"/>
                </a:solidFill>
              </a:defRPr>
            </a:pPr>
            <a:r>
              <a:rPr sz="1725" b="1">
                <a:solidFill>
                  <a:srgbClr val="0D1117"/>
                </a:solidFill>
              </a:rPr>
              <a:t>资源白名单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0ACE27-847A-44F1-80B5-1BF8F268E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324350"/>
            <a:ext cx="685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6EE375-39E8-4D0E-9CAF-E6AA396B2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552950"/>
            <a:ext cx="27146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673"/>
                </a:solidFill>
              </a:defRPr>
            </a:pPr>
            <a:r>
              <a:rPr sz="1350" b="0">
                <a:solidFill>
                  <a:srgbClr val="5B6673"/>
                </a:solidFill>
              </a:rPr>
              <a:t>打包测试确认不携带用户本地 skill 目录或历史 core worktree。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F48020-B5D4-4E55-A214-DD64520E8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59dacc0d1c4734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64EF8B-4060-4F43-BE49-958D16E6C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15BD8D-9C75-41D2-AC3B-B521ECA36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61360853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31E0CC9-36F2-4E5C-B56D-20277B62C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5108DF-FD8C-4145-ADEC-9CB07A196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VERIFICATION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FB2A34-6DAF-4896-AD25-AD111D1AC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发布验证应覆盖代码正确性、包体内容和安装器可用性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9AFE4E-86E1-4EC1-A44C-788DA2424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2266950" cy="247650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1F0607-22BF-449E-BFD1-59E564229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241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E6374"/>
                </a:solidFill>
              </a:defRPr>
            </a:pPr>
            <a:r>
              <a:rPr sz="1800" b="1">
                <a:solidFill>
                  <a:srgbClr val="0E6374"/>
                </a:solidFill>
              </a:rPr>
              <a:t>代码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DAC530-0773-46DF-8F0C-0C2A00E19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813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5F76EB-AF05-4196-843B-251085E57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89560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</a:defRPr>
            </a:pPr>
            <a:r>
              <a:rPr sz="1200" b="0">
                <a:solidFill>
                  <a:srgbClr val="1F2933"/>
                </a:solidFill>
              </a:rPr>
              <a:t>npm run typecheck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3D12A7-25EA-4281-9645-3F42CAFFD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3FFFF1-45CA-48AF-8111-5430D7F1A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4099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</a:defRPr>
            </a:pPr>
            <a:r>
              <a:rPr sz="1200" b="0">
                <a:solidFill>
                  <a:srgbClr val="1F2933"/>
                </a:solidFill>
              </a:rPr>
              <a:t>npm run test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317475-ABAC-48BB-8131-79E3EE3F5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100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628BE9-4BE4-4AD6-88D3-C6EFD72E3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92430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</a:defRPr>
            </a:pPr>
            <a:r>
              <a:rPr sz="1200" b="0">
                <a:solidFill>
                  <a:srgbClr val="1F2933"/>
                </a:solidFill>
              </a:rPr>
              <a:t>runtime / settings / EBAI focused tests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09A5AD-38A8-4378-BBFE-3B0146CF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76450"/>
            <a:ext cx="2266950" cy="247650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20A711-F04C-4568-97E7-D6DAEB5C0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3241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E6374"/>
                </a:solidFill>
              </a:defRPr>
            </a:pPr>
            <a:r>
              <a:rPr sz="1800" b="1">
                <a:solidFill>
                  <a:srgbClr val="0E6374"/>
                </a:solidFill>
              </a:rPr>
              <a:t>macOS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12A1CF-7C8B-4ABE-BC6D-ED06FD068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9813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81FF3C-83CB-44F5-9CC6-241FF3638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9560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</a:defRPr>
            </a:pPr>
            <a:r>
              <a:rPr sz="1200" b="0">
                <a:solidFill>
                  <a:srgbClr val="1F2933"/>
                </a:solidFill>
              </a:rPr>
              <a:t>electron-builder mac x64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751B24-F603-42D3-A074-40FC48280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4956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6CC5CE-A52E-4158-9882-C02228410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4099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</a:defRPr>
            </a:pPr>
            <a:r>
              <a:rPr sz="1200" b="0">
                <a:solidFill>
                  <a:srgbClr val="1F2933"/>
                </a:solidFill>
              </a:rPr>
              <a:t>codesign --verify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83116D-AC50-4678-99EE-B7DA6DF62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0100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307CDA-0C01-4507-BFF5-3A3A01E68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92430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</a:defRPr>
            </a:pPr>
            <a:r>
              <a:rPr sz="1200" b="0">
                <a:solidFill>
                  <a:srgbClr val="1F2933"/>
                </a:solidFill>
              </a:rPr>
              <a:t>DMG mount and app launch smoke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9F3BAA-8220-447F-BD7B-1CA04F08E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76450"/>
            <a:ext cx="2266950" cy="247650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5029A4-FA4D-49B9-83AF-29C72D99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3241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E6374"/>
                </a:solidFill>
              </a:defRPr>
            </a:pPr>
            <a:r>
              <a:rPr sz="1800" b="1">
                <a:solidFill>
                  <a:srgbClr val="0E6374"/>
                </a:solidFill>
              </a:rPr>
              <a:t>原生平台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3161BD-09D9-4FC2-A6AB-D335C168C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9813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FD76D0-0686-493E-AB9C-FD4604C0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89560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</a:defRPr>
            </a:pPr>
            <a:r>
              <a:rPr sz="1200" b="0">
                <a:solidFill>
                  <a:srgbClr val="1F2933"/>
                </a:solidFill>
              </a:rPr>
              <a:t>Mac Intel x64 packaged smoke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3F5334-6109-4E62-8E06-349CCAF9A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956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7F2362-BECD-49E7-8678-14C0038FF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4099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</a:defRPr>
            </a:pPr>
            <a:r>
              <a:rPr sz="1200" b="0">
                <a:solidFill>
                  <a:srgbClr val="1F2933"/>
                </a:solidFill>
              </a:rPr>
              <a:t>Mac arm64 M1 packaged smoke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5C4307-14E0-46F2-88FE-2C93D2B53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0100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4C450A-936E-43BF-AA11-F57F6F66E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2430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</a:defRPr>
            </a:pPr>
            <a:r>
              <a:rPr sz="1200" b="0">
                <a:solidFill>
                  <a:srgbClr val="1F2933"/>
                </a:solidFill>
              </a:rPr>
              <a:t>Windows x64 NSIS + runtime smoke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0FC0C7-2F8F-4001-B626-24DD40341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076450"/>
            <a:ext cx="2266950" cy="247650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628AFE7-2375-4CB7-9468-BC7C131F4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3241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E6374"/>
                </a:solidFill>
              </a:defRPr>
            </a:pPr>
            <a:r>
              <a:rPr sz="1800" b="1">
                <a:solidFill>
                  <a:srgbClr val="0E6374"/>
                </a:solidFill>
              </a:rPr>
              <a:t>发布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BDC41F-0FDE-46F3-8BDB-9DF99CDE3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813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BECC75A-66BD-45AD-853D-445B07FCE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89560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</a:defRPr>
            </a:pPr>
            <a:r>
              <a:rPr sz="1200" b="0">
                <a:solidFill>
                  <a:srgbClr val="1F2933"/>
                </a:solidFill>
              </a:rPr>
              <a:t>latest.yml / latest-mac.yml check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15B9AF1-22F5-4037-B048-A132530E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4956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5BC5EA1-3DB9-4680-9397-2B000562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4099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</a:defRPr>
            </a:pPr>
            <a:r>
              <a:rPr sz="1200" b="0">
                <a:solidFill>
                  <a:srgbClr val="1F2933"/>
                </a:solidFill>
              </a:rPr>
              <a:t>R2 upload and promote dry run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5259D86-F94D-4D22-A1B1-50203AD2D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0100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9ACCD11-C189-4BB4-AA4D-25AECE5B6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92430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</a:defRPr>
            </a:pPr>
            <a:r>
              <a:rPr sz="1200" b="0">
                <a:solidFill>
                  <a:srgbClr val="1F2933"/>
                </a:solidFill>
              </a:rPr>
              <a:t>SHA256 release parts check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556DCBF-4DAA-4CE1-83AB-C4216B9BA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e0895385b342b8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F210B6B-853B-4805-A9BF-A78D2800D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C69E982-9733-4D04-B8BC-EB965CB1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42299319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CC909B-9966-4A0E-9650-4810951CE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2D37C9-CA6D-4AA1-AE18-715775009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STATUS AND RISKS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3A1D8C-1EE4-4D49-86FB-C960170E8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当前可进入决策评审，但不应掩盖 service contract 风险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9C8AAC-A1DD-49D8-8819-1922802BB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240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E6374"/>
                </a:solidFill>
              </a:defRPr>
            </a:pPr>
            <a:r>
              <a:rPr sz="1875" b="1">
                <a:solidFill>
                  <a:srgbClr val="0E6374"/>
                </a:solidFill>
              </a:rPr>
              <a:t>已完成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36E91F-7343-441C-AB2A-0A3CF81C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240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D1117"/>
                </a:solidFill>
              </a:defRPr>
            </a:pPr>
            <a:r>
              <a:rPr sz="1875" b="1">
                <a:solidFill>
                  <a:srgbClr val="0D1117"/>
                </a:solidFill>
              </a:rPr>
              <a:t>待收敛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9A98CC-9FA4-4418-B6BA-67473F8C3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622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59217F-90DB-4031-8159-E5EB503E2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76500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BAI Work 品牌、package metadata、icons 与 artifact 命名已落地。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411E2D-0C93-4588-AE11-9C01639B7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52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66F65B-D654-46AB-B00C-699CAECDA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67050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Mac Intel、Mac Apple Silicon 与 Windows x64 产物均完成原生 CI smoke。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FF46A8-8F65-474B-9452-FDD138B45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433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116473-C232-432A-88CE-C9270403D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57600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BAI Code 0.9.1 的 Intel runtime 与两平台官方 wheelhouse 已完成离线安装验证。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A84E4E-A12B-4547-B6C9-EB5E69D8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338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8F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355C89-854B-47D7-B265-0183F6167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48150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EBAI commands/rules/agents/hooks 映射与安全默认值已实现。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22B921-92B6-4DC8-B985-4FA8C591F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5622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9411C1-A5C2-47CD-9794-FF7261E54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7650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官方 BAI Code desktop service contract 尚需确认。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CB4D03-CBA7-40DF-A53C-7496E4876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267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E46105-AF8F-4392-AB6A-EEB5A63D6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8135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Developer ID、公证与 Windows 代码签名仍需凭据闭环。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B35728-48E9-4832-A3DB-956ED013D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9719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C8A403-E1AE-455E-B1C4-53AF96941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88620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Windows NSIS 的人工安装、升级与卸载体验仍需真实桌面回归。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E4C68E-62C6-49A0-977F-8D4898C54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6767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1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F9CCB3-4AD8-4309-95BD-6BA6114DE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59105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目标机 Python 3.10-3.13 缺失时的引导体验需要继续打磨。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9D6120-8B50-4641-9498-E517118D2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95500"/>
            <a:ext cx="190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68B07B-7A88-49F8-B98C-EED6D0D4C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ca5759bde84fff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B39962-6C7A-46CD-BF25-BD5BD0344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92E5D4-6FB7-4F6E-8FC3-C985D1BF7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93069378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08BB95-09DE-4850-907B-04598C88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F768E9-7855-4468-BEA6-D2A8E7D78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6374"/>
                </a:solidFill>
              </a:defRPr>
            </a:pPr>
            <a:r>
              <a:rPr sz="975" b="1">
                <a:solidFill>
                  <a:srgbClr val="0E6374"/>
                </a:solidFill>
              </a:rPr>
              <a:t>ROADMAP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4C8E93-4EA4-43F7-B37F-0971D6D67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D1117"/>
                </a:solidFill>
              </a:defRPr>
            </a:pPr>
            <a:r>
              <a:rPr sz="2700" b="1">
                <a:solidFill>
                  <a:srgbClr val="0D1117"/>
                </a:solidFill>
              </a:rPr>
              <a:t>路线图应优先把 runtime 协议和发布质量收敛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72D900-D4DE-4B01-A4B5-4D7FD0DF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3F5"/>
          </a:solidFill>
          <a:ln xmlns:a="http://schemas.openxmlformats.org/drawingml/2006/main" w="9525">
            <a:solidFill>
              <a:srgbClr val="1C8FA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02C9BD-7302-433A-AB20-C9FF09823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8595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E6374"/>
                </a:solidFill>
              </a:defRPr>
            </a:pPr>
            <a:r>
              <a:rPr sz="1500" b="1">
                <a:solidFill>
                  <a:srgbClr val="0E6374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4CEBFD-54BF-4DAA-8DAC-FCA88ACDE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82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D1117"/>
                </a:solidFill>
              </a:defRPr>
            </a:pPr>
            <a:r>
              <a:rPr sz="1725" b="1">
                <a:solidFill>
                  <a:srgbClr val="0D1117"/>
                </a:solidFill>
              </a:rPr>
              <a:t>确认 service contract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7BA9F6-F47B-42B1-99CE-D482EE00F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809750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对齐 serve、session、event、permission、question 的官方协议与错误语义。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ACFA33-B66D-4F85-BD85-B17D86CC6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336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3F5"/>
          </a:solidFill>
          <a:ln xmlns:a="http://schemas.openxmlformats.org/drawingml/2006/main" w="9525">
            <a:solidFill>
              <a:srgbClr val="1C8FA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925B15-3A87-40D6-9546-0BB74B693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E6374"/>
                </a:solidFill>
              </a:defRPr>
            </a:pPr>
            <a:r>
              <a:rPr sz="1500" b="1">
                <a:solidFill>
                  <a:srgbClr val="0E6374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F78543-7718-4B5C-B815-C97CC0B1A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5717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D1117"/>
                </a:solidFill>
              </a:defRPr>
            </a:pPr>
            <a:r>
              <a:rPr sz="1725" b="1">
                <a:solidFill>
                  <a:srgbClr val="0D1117"/>
                </a:solidFill>
              </a:rPr>
              <a:t>替换桥接实现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782F65-7EBA-46E0-B331-0ED0B3F46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552700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保留 renderer /v1/* 边界，把 CLI bridge 迁移到真实 BAI Code service。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DC123D-162D-42B0-B446-29F953156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1FA"/>
          </a:solidFill>
          <a:ln xmlns:a="http://schemas.openxmlformats.org/drawingml/2006/main" w="9525">
            <a:solidFill>
              <a:srgbClr val="1C8FA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C034FA-0B7A-41DD-9E0E-8421E6B30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7185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E6374"/>
                </a:solidFill>
              </a:defRPr>
            </a:pPr>
            <a:r>
              <a:rPr sz="1500" b="1">
                <a:solidFill>
                  <a:srgbClr val="0E6374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521241-333C-4E14-B45C-57CCA16B5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3147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D1117"/>
                </a:solidFill>
              </a:defRPr>
            </a:pPr>
            <a:r>
              <a:rPr sz="1725" b="1">
                <a:solidFill>
                  <a:srgbClr val="0D1117"/>
                </a:solidFill>
              </a:rPr>
              <a:t>完善发布签名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6F3041-517B-49F4-A105-3669CB57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95650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Developer ID、notarization、Windows signing 和更新通道联动验证。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B2489F-5182-48B9-B4BE-864A217DA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195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1FA"/>
          </a:solidFill>
          <a:ln xmlns:a="http://schemas.openxmlformats.org/drawingml/2006/main" w="9525">
            <a:solidFill>
              <a:srgbClr val="1C8FA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DFE2A8-7183-4657-814B-6143B6912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1480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E6374"/>
                </a:solidFill>
              </a:defRPr>
            </a:pPr>
            <a:r>
              <a:rPr sz="1500" b="1">
                <a:solidFill>
                  <a:srgbClr val="0E6374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FD7BC0-48DD-4133-B33F-8DF30D8F2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0576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D1117"/>
                </a:solidFill>
              </a:defRPr>
            </a:pPr>
            <a:r>
              <a:rPr sz="1725" b="1">
                <a:solidFill>
                  <a:srgbClr val="0D1117"/>
                </a:solidFill>
              </a:rPr>
              <a:t>持续维护原生 CI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9C114C-EB5D-4E05-A391-0798C32C8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38600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保持 mac x64、mac arm64、Windows x64 构建与启动 smoke 稳定。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66ACEB-204D-4E9C-9FA8-B2D2410F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1FA"/>
          </a:solidFill>
          <a:ln xmlns:a="http://schemas.openxmlformats.org/drawingml/2006/main" w="9525">
            <a:solidFill>
              <a:srgbClr val="1C8FA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FA7AFC-BC0C-4A3D-94D2-2BEDE7B2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5775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E6374"/>
                </a:solidFill>
              </a:defRPr>
            </a:pPr>
            <a:r>
              <a:rPr sz="1500" b="1">
                <a:solidFill>
                  <a:srgbClr val="0E6374"/>
                </a:solidFill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559871-8290-412E-BEE9-36FA1EDAB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00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D1117"/>
                </a:solidFill>
              </a:defRPr>
            </a:pPr>
            <a:r>
              <a:rPr sz="1725" b="1">
                <a:solidFill>
                  <a:srgbClr val="0D1117"/>
                </a:solidFill>
              </a:rPr>
              <a:t>优化安装体验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FCABD2-C333-4639-B659-269E6E3F0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781550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Python 缺失、wheel bootstrap、日志定位和重试流程产品化。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F067E3-6CC7-493F-99E8-CB2D52D0B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8D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209435afc74c46"/>
          <a:stretch xmlns:a="http://schemas.openxmlformats.org/drawingml/2006/main"/>
        </p:blipFill>
        <p:spPr>
          <a:xfrm xmlns:a="http://schemas.openxmlformats.org/drawingml/2006/main">
            <a:off x="685800" y="641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E8DDA0-B0E0-48C5-A6DC-0A457E1CF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4389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BAI Work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3B5FC75-85B8-4285-8EC1-4F08ECE8A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38900"/>
            <a:ext cx="49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6673"/>
                </a:solidFill>
              </a:defRPr>
            </a:pPr>
            <a:r>
              <a:rPr sz="1050" b="1">
                <a:solidFill>
                  <a:srgbClr val="5B6673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04489515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D11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8c84f177884773"/>
          <a:stretch xmlns:a="http://schemas.openxmlformats.org/drawingml/2006/main"/>
        </p:blipFill>
        <p:spPr>
          <a:xfrm xmlns:a="http://schemas.openxmlformats.org/drawingml/2006/main">
            <a:off x="857250" y="838200"/>
            <a:ext cx="838200" cy="8382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F0422F-A254-4031-BF64-A4EB5A2F3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8191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建议把 BAI Work 作为 BAI Code 桌面发行层继续推进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A158E8-E61D-4AB9-AD53-57E883BFF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0400"/>
            <a:ext cx="8096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DE4EA"/>
                </a:solidFill>
              </a:defRPr>
            </a:pPr>
            <a:r>
              <a:rPr sz="1650" b="0">
                <a:solidFill>
                  <a:srgbClr val="DDE4EA"/>
                </a:solidFill>
              </a:rPr>
              <a:t>当前工程已具备统一品牌、三平台原生产物、runtime 适配和安全策略基础。下一阶段的关键，是把签名、公证、Windows 人工安装回归和官方 service contract 对齐做到发布级。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33A56B-C887-425F-AD23-C2F49A102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76800"/>
            <a:ext cx="7239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E6374"/>
          </a:solidFill>
          <a:ln xmlns:a="http://schemas.openxmlformats.org/drawingml/2006/main" w="9525">
            <a:solidFill>
              <a:srgbClr val="0E637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7A5DF0-56CF-4869-A460-7892B82E9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86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决策点：批准进入 runtime contract 对齐与发布候选验证阶段。</a:t>
            </a:r>
          </a:p>
        </p:txBody>
      </p:sp>
    </p:spTree>
    <p:extLst>
      <p:ext uri="{BB962C8B-B14F-4D97-AF65-F5344CB8AC3E}">
        <p14:creationId xmlns:p14="http://schemas.microsoft.com/office/powerpoint/2010/main" val="6918194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2026-07-10T10:40:30.0850000Z</dcterms:created>
  <dcterms:modified xsi:type="dcterms:W3CDTF">2026-07-10T10:40:30.0850000Z</dcterms:modified>
</coreProperties>
</file>