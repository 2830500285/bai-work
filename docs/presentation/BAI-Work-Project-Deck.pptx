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f221ed7604740d2" /><Relationship Type="http://schemas.openxmlformats.org/officeDocument/2006/relationships/extended-properties" Target="/docProps/app.xml" Id="R7a6c814a103d4d14" /><Relationship Type="http://schemas.openxmlformats.org/officeDocument/2006/relationships/officeDocument" Target="/ppt/presentation.xml" Id="R1ed37ea9e5c2410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4e07752ad8246d8"/>
  </p:sldMasterIdLst>
  <p:notesMasterIdLst>
    <p:notesMasterId xmlns:r="http://schemas.openxmlformats.org/officeDocument/2006/relationships" r:id="R6355f06dfe6445ba"/>
  </p:notesMasterIdLst>
  <p:sldIdLst>
    <p:sldId xmlns:r="http://schemas.openxmlformats.org/officeDocument/2006/relationships" id="256" r:id="R69190ba7b4eb4390"/>
    <p:sldId xmlns:r="http://schemas.openxmlformats.org/officeDocument/2006/relationships" id="257" r:id="R7d1ce893710147cf"/>
    <p:sldId xmlns:r="http://schemas.openxmlformats.org/officeDocument/2006/relationships" id="258" r:id="R9b23bcaacd3d4710"/>
    <p:sldId xmlns:r="http://schemas.openxmlformats.org/officeDocument/2006/relationships" id="259" r:id="Rcf02ef41b06a4e8c"/>
    <p:sldId xmlns:r="http://schemas.openxmlformats.org/officeDocument/2006/relationships" id="260" r:id="R2ca05bf4e92847f0"/>
    <p:sldId xmlns:r="http://schemas.openxmlformats.org/officeDocument/2006/relationships" id="261" r:id="R5288b80ada774112"/>
    <p:sldId xmlns:r="http://schemas.openxmlformats.org/officeDocument/2006/relationships" id="262" r:id="R2848c6a5e8e144a5"/>
    <p:sldId xmlns:r="http://schemas.openxmlformats.org/officeDocument/2006/relationships" id="263" r:id="R6b349f31e9b840a7"/>
    <p:sldId xmlns:r="http://schemas.openxmlformats.org/officeDocument/2006/relationships" id="264" r:id="R4e01ca43563448bc"/>
    <p:sldId xmlns:r="http://schemas.openxmlformats.org/officeDocument/2006/relationships" id="265" r:id="Rc0d2b244c61b4445"/>
    <p:sldId xmlns:r="http://schemas.openxmlformats.org/officeDocument/2006/relationships" id="266" r:id="R3d502c27b4db4e5b"/>
    <p:sldId xmlns:r="http://schemas.openxmlformats.org/officeDocument/2006/relationships" id="267" r:id="R627808e9a816496c"/>
    <p:sldId xmlns:r="http://schemas.openxmlformats.org/officeDocument/2006/relationships" id="268" r:id="Rf6d48c47ba214c1b"/>
    <p:sldId xmlns:r="http://schemas.openxmlformats.org/officeDocument/2006/relationships" id="269" r:id="Rb9c55fad3ac64ff4"/>
    <p:sldId xmlns:r="http://schemas.openxmlformats.org/officeDocument/2006/relationships" id="270" r:id="R212b8f395f714866"/>
    <p:sldId xmlns:r="http://schemas.openxmlformats.org/officeDocument/2006/relationships" id="271" r:id="R625f8d154f864738"/>
    <p:sldId xmlns:r="http://schemas.openxmlformats.org/officeDocument/2006/relationships" id="272" r:id="R2d52a163dfce41a0"/>
    <p:sldId xmlns:r="http://schemas.openxmlformats.org/officeDocument/2006/relationships" id="273" r:id="Rd54e7074f1c04f31"/>
    <p:sldId xmlns:r="http://schemas.openxmlformats.org/officeDocument/2006/relationships" id="274" r:id="Rfbcf3f06db21419c"/>
    <p:sldId xmlns:r="http://schemas.openxmlformats.org/officeDocument/2006/relationships" id="275" r:id="Rd38ca60be5b24c8a"/>
    <p:sldId xmlns:r="http://schemas.openxmlformats.org/officeDocument/2006/relationships" id="276" r:id="R33a2ba1ea79748f4"/>
    <p:sldId xmlns:r="http://schemas.openxmlformats.org/officeDocument/2006/relationships" id="277" r:id="R6c26951d183d45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cfd910e0d844a9c" /><Relationship Type="http://schemas.openxmlformats.org/officeDocument/2006/relationships/slideMaster" Target="/ppt/slideMasters/slideMaster1.xml" Id="Rf4e07752ad8246d8" /><Relationship Type="http://schemas.openxmlformats.org/officeDocument/2006/relationships/notesMaster" Target="/ppt/notesMasters/notesMaster1.xml" Id="R6355f06dfe6445ba" /><Relationship Type="http://schemas.openxmlformats.org/officeDocument/2006/relationships/presProps" Target="/ppt/presProps.xml" Id="R83adab493d5e46ff" /><Relationship Type="http://schemas.openxmlformats.org/officeDocument/2006/relationships/tableStyles" Target="/ppt/tableStyles.xml" Id="R67b43b87f66d4326" /><Relationship Type="http://schemas.openxmlformats.org/officeDocument/2006/relationships/slide" Target="/ppt/slides/slide1.xml" Id="R69190ba7b4eb4390" /><Relationship Type="http://schemas.openxmlformats.org/officeDocument/2006/relationships/slide" Target="/ppt/slides/slide2.xml" Id="R7d1ce893710147cf" /><Relationship Type="http://schemas.openxmlformats.org/officeDocument/2006/relationships/slide" Target="/ppt/slides/slide3.xml" Id="R9b23bcaacd3d4710" /><Relationship Type="http://schemas.openxmlformats.org/officeDocument/2006/relationships/slide" Target="/ppt/slides/slide4.xml" Id="Rcf02ef41b06a4e8c" /><Relationship Type="http://schemas.openxmlformats.org/officeDocument/2006/relationships/slide" Target="/ppt/slides/slide5.xml" Id="R2ca05bf4e92847f0" /><Relationship Type="http://schemas.openxmlformats.org/officeDocument/2006/relationships/slide" Target="/ppt/slides/slide6.xml" Id="R5288b80ada774112" /><Relationship Type="http://schemas.openxmlformats.org/officeDocument/2006/relationships/slide" Target="/ppt/slides/slide7.xml" Id="R2848c6a5e8e144a5" /><Relationship Type="http://schemas.openxmlformats.org/officeDocument/2006/relationships/slide" Target="/ppt/slides/slide8.xml" Id="R6b349f31e9b840a7" /><Relationship Type="http://schemas.openxmlformats.org/officeDocument/2006/relationships/slide" Target="/ppt/slides/slide9.xml" Id="R4e01ca43563448bc" /><Relationship Type="http://schemas.openxmlformats.org/officeDocument/2006/relationships/slide" Target="/ppt/slides/slide10.xml" Id="Rc0d2b244c61b4445" /><Relationship Type="http://schemas.openxmlformats.org/officeDocument/2006/relationships/slide" Target="/ppt/slides/slide11.xml" Id="R3d502c27b4db4e5b" /><Relationship Type="http://schemas.openxmlformats.org/officeDocument/2006/relationships/slide" Target="/ppt/slides/slide12.xml" Id="R627808e9a816496c" /><Relationship Type="http://schemas.openxmlformats.org/officeDocument/2006/relationships/slide" Target="/ppt/slides/slide13.xml" Id="Rf6d48c47ba214c1b" /><Relationship Type="http://schemas.openxmlformats.org/officeDocument/2006/relationships/slide" Target="/ppt/slides/slide14.xml" Id="Rb9c55fad3ac64ff4" /><Relationship Type="http://schemas.openxmlformats.org/officeDocument/2006/relationships/slide" Target="/ppt/slides/slide15.xml" Id="R212b8f395f714866" /><Relationship Type="http://schemas.openxmlformats.org/officeDocument/2006/relationships/slide" Target="/ppt/slides/slide16.xml" Id="R625f8d154f864738" /><Relationship Type="http://schemas.openxmlformats.org/officeDocument/2006/relationships/slide" Target="/ppt/slides/slide17.xml" Id="R2d52a163dfce41a0" /><Relationship Type="http://schemas.openxmlformats.org/officeDocument/2006/relationships/slide" Target="/ppt/slides/slide18.xml" Id="Rd54e7074f1c04f31" /><Relationship Type="http://schemas.openxmlformats.org/officeDocument/2006/relationships/slide" Target="/ppt/slides/slide19.xml" Id="Rfbcf3f06db21419c" /><Relationship Type="http://schemas.openxmlformats.org/officeDocument/2006/relationships/slide" Target="/ppt/slides/slide20.xml" Id="Rd38ca60be5b24c8a" /><Relationship Type="http://schemas.openxmlformats.org/officeDocument/2006/relationships/slide" Target="/ppt/slides/slide21.xml" Id="R33a2ba1ea79748f4" /><Relationship Type="http://schemas.openxmlformats.org/officeDocument/2006/relationships/slide" Target="/ppt/slides/slide22.xml" Id="R6c26951d183d45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813ef65490341f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527f7ef9a134b79" /><Relationship Type="http://schemas.openxmlformats.org/officeDocument/2006/relationships/notesMaster" Target="/ppt/notesMasters/notesMaster1.xml" Id="Rac807bcf954c40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21f8d025cb24ab6" /><Relationship Type="http://schemas.openxmlformats.org/officeDocument/2006/relationships/notesMaster" Target="/ppt/notesMasters/notesMaster1.xml" Id="R7668950f2bc14ac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8b160be854343c5" /><Relationship Type="http://schemas.openxmlformats.org/officeDocument/2006/relationships/notesMaster" Target="/ppt/notesMasters/notesMaster1.xml" Id="R18c829dd7c8b45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a67ca96a1994af8" /><Relationship Type="http://schemas.openxmlformats.org/officeDocument/2006/relationships/notesMaster" Target="/ppt/notesMasters/notesMaster1.xml" Id="R48a8c0c0110c4ee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aa7803fa234534" /><Relationship Type="http://schemas.openxmlformats.org/officeDocument/2006/relationships/notesMaster" Target="/ppt/notesMasters/notesMaster1.xml" Id="R83dc96c5044a416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9a38777091e427f" /><Relationship Type="http://schemas.openxmlformats.org/officeDocument/2006/relationships/notesMaster" Target="/ppt/notesMasters/notesMaster1.xml" Id="Rc9a4579d67b54af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ab564d96584673" /><Relationship Type="http://schemas.openxmlformats.org/officeDocument/2006/relationships/notesMaster" Target="/ppt/notesMasters/notesMaster1.xml" Id="R353e40c8e98a4ce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b1220f996c4489" /><Relationship Type="http://schemas.openxmlformats.org/officeDocument/2006/relationships/notesMaster" Target="/ppt/notesMasters/notesMaster1.xml" Id="R1be2737adeb947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e99c5a1537f42df" /><Relationship Type="http://schemas.openxmlformats.org/officeDocument/2006/relationships/notesMaster" Target="/ppt/notesMasters/notesMaster1.xml" Id="R5dead91aa3744c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fd97ba5ec5747e1" /><Relationship Type="http://schemas.openxmlformats.org/officeDocument/2006/relationships/notesMaster" Target="/ppt/notesMasters/notesMaster1.xml" Id="R09f2faba601c4f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e3354cc1ee94223" /><Relationship Type="http://schemas.openxmlformats.org/officeDocument/2006/relationships/notesMaster" Target="/ppt/notesMasters/notesMaster1.xml" Id="R026fe900688449b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6d1f6ace464536" /><Relationship Type="http://schemas.openxmlformats.org/officeDocument/2006/relationships/notesMaster" Target="/ppt/notesMasters/notesMaster1.xml" Id="R5d952613fc194c0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fee58a53374924" /><Relationship Type="http://schemas.openxmlformats.org/officeDocument/2006/relationships/notesMaster" Target="/ppt/notesMasters/notesMaster1.xml" Id="R3c96c7b1b0ac436b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600549db30b4971" /><Relationship Type="http://schemas.openxmlformats.org/officeDocument/2006/relationships/notesMaster" Target="/ppt/notesMasters/notesMaster1.xml" Id="R30dbfca8583b48b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e5a2df065d0404f" /><Relationship Type="http://schemas.openxmlformats.org/officeDocument/2006/relationships/notesMaster" Target="/ppt/notesMasters/notesMaster1.xml" Id="R2aa92ca417b845e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8a07a25e9e44176" /><Relationship Type="http://schemas.openxmlformats.org/officeDocument/2006/relationships/notesMaster" Target="/ppt/notesMasters/notesMaster1.xml" Id="R435d8489d7874f2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28f64fb6a404eb0" /><Relationship Type="http://schemas.openxmlformats.org/officeDocument/2006/relationships/notesMaster" Target="/ppt/notesMasters/notesMaster1.xml" Id="Re88ff7f596ef48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e2084ea40a4baa" /><Relationship Type="http://schemas.openxmlformats.org/officeDocument/2006/relationships/notesMaster" Target="/ppt/notesMasters/notesMaster1.xml" Id="Rbc210dd014d9437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723b3d6bda8a4f27" /><Relationship Type="http://schemas.openxmlformats.org/officeDocument/2006/relationships/notesMaster" Target="/ppt/notesMasters/notesMaster1.xml" Id="R9146f0d17c98477e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bba1864f78d436c" /><Relationship Type="http://schemas.openxmlformats.org/officeDocument/2006/relationships/notesMaster" Target="/ppt/notesMasters/notesMaster1.xml" Id="Rba4f00e74db544a3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8e1da5fb831d4651" /><Relationship Type="http://schemas.openxmlformats.org/officeDocument/2006/relationships/notesMaster" Target="/ppt/notesMasters/notesMaster1.xml" Id="Rcaa4ff872ade42f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b61a877ee264458" /><Relationship Type="http://schemas.openxmlformats.org/officeDocument/2006/relationships/notesMaster" Target="/ppt/notesMasters/notesMaster1.xml" Id="R248a39dd5d1f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c3e9e7ea974a9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b14fe9c96a24a3c" /><Relationship Type="http://schemas.openxmlformats.org/officeDocument/2006/relationships/slideLayout" Target="/ppt/slideLayouts/slideLayout1.xml" Id="R8785448dbf8949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785448dbf8949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65987bf3de488f" /><Relationship Type="http://schemas.openxmlformats.org/officeDocument/2006/relationships/image" Target="/ppt/media/image.png" Id="R046bae8b981c434a" /><Relationship Type="http://schemas.openxmlformats.org/officeDocument/2006/relationships/notesSlide" Target="/ppt/notesSlides/notesSlide1.xml" Id="Rcc580d42683a48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9d3f8b145d4c08" /><Relationship Type="http://schemas.openxmlformats.org/officeDocument/2006/relationships/image" Target="/ppt/media/image2.png" Id="Rc2cffcedef3c46a8" /><Relationship Type="http://schemas.openxmlformats.org/officeDocument/2006/relationships/notesSlide" Target="/ppt/notesSlides/notesSlide2.xml" Id="Re7838322c1a8480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db620a96bc4d02" /><Relationship Type="http://schemas.openxmlformats.org/officeDocument/2006/relationships/image" Target="/ppt/media/image3.png" Id="R6d563398c49f4b2b" /><Relationship Type="http://schemas.openxmlformats.org/officeDocument/2006/relationships/notesSlide" Target="/ppt/notesSlides/notesSlide3.xml" Id="Raaab3737278344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2d962f780c486b" /><Relationship Type="http://schemas.openxmlformats.org/officeDocument/2006/relationships/image" Target="/ppt/media/image4.png" Id="R6791e21234ee4a74" /><Relationship Type="http://schemas.openxmlformats.org/officeDocument/2006/relationships/notesSlide" Target="/ppt/notesSlides/notesSlide4.xml" Id="Rd1bc0df83d5a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63f5737dd4ee6" /><Relationship Type="http://schemas.openxmlformats.org/officeDocument/2006/relationships/image" Target="/ppt/media/image5.png" Id="R71b8b749d2714773" /><Relationship Type="http://schemas.openxmlformats.org/officeDocument/2006/relationships/notesSlide" Target="/ppt/notesSlides/notesSlide5.xml" Id="R6b856e6d7e0e49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17aa8d6c743ad" /><Relationship Type="http://schemas.openxmlformats.org/officeDocument/2006/relationships/image" Target="/ppt/media/image6.png" Id="Ra3c9128997f14a60" /><Relationship Type="http://schemas.openxmlformats.org/officeDocument/2006/relationships/notesSlide" Target="/ppt/notesSlides/notesSlide6.xml" Id="R51e8e74c9e5b4c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9f41ec91e948cf" /><Relationship Type="http://schemas.openxmlformats.org/officeDocument/2006/relationships/image" Target="/ppt/media/image7.png" Id="R15c1f01ff98341bc" /><Relationship Type="http://schemas.openxmlformats.org/officeDocument/2006/relationships/notesSlide" Target="/ppt/notesSlides/notesSlide7.xml" Id="R63e1d3e75db9429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1569ac4da04cc7" /><Relationship Type="http://schemas.openxmlformats.org/officeDocument/2006/relationships/image" Target="/ppt/media/image8.png" Id="R79382ec5424f4512" /><Relationship Type="http://schemas.openxmlformats.org/officeDocument/2006/relationships/notesSlide" Target="/ppt/notesSlides/notesSlide8.xml" Id="R796991c47880429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f2ca948831474f" /><Relationship Type="http://schemas.openxmlformats.org/officeDocument/2006/relationships/image" Target="/ppt/media/image9.png" Id="R7c93676655da4286" /><Relationship Type="http://schemas.openxmlformats.org/officeDocument/2006/relationships/notesSlide" Target="/ppt/notesSlides/notesSlide9.xml" Id="R1936f5f9db4b4bd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239d0a57249ee" /><Relationship Type="http://schemas.openxmlformats.org/officeDocument/2006/relationships/image" Target="/ppt/media/image10.png" Id="R0f337912783b4389" /><Relationship Type="http://schemas.openxmlformats.org/officeDocument/2006/relationships/notesSlide" Target="/ppt/notesSlides/notesSlide10.xml" Id="R51036b0f6e0242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63494417c14468" /><Relationship Type="http://schemas.openxmlformats.org/officeDocument/2006/relationships/image" Target="/ppt/media/image11.png" Id="Ra7c75caea2f8450b" /><Relationship Type="http://schemas.openxmlformats.org/officeDocument/2006/relationships/notesSlide" Target="/ppt/notesSlides/notesSlide11.xml" Id="R6324c1a67b76437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000f037f704f65" /><Relationship Type="http://schemas.openxmlformats.org/officeDocument/2006/relationships/image" Target="/ppt/media/image12.png" Id="Rec134ab49572448b" /><Relationship Type="http://schemas.openxmlformats.org/officeDocument/2006/relationships/notesSlide" Target="/ppt/notesSlides/notesSlide12.xml" Id="R1ad6c1241bba440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a14f8a4bb479a" /><Relationship Type="http://schemas.openxmlformats.org/officeDocument/2006/relationships/image" Target="/ppt/media/image13.png" Id="R40debc156634421e" /><Relationship Type="http://schemas.openxmlformats.org/officeDocument/2006/relationships/notesSlide" Target="/ppt/notesSlides/notesSlide13.xml" Id="R4d612fdc703d4d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87994e93b4192" /><Relationship Type="http://schemas.openxmlformats.org/officeDocument/2006/relationships/image" Target="/ppt/media/image14.png" Id="Rd9766cf208ff4bdb" /><Relationship Type="http://schemas.openxmlformats.org/officeDocument/2006/relationships/notesSlide" Target="/ppt/notesSlides/notesSlide14.xml" Id="R5b1de6d0aa2c48f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32200c067e4f9e" /><Relationship Type="http://schemas.openxmlformats.org/officeDocument/2006/relationships/image" Target="/ppt/media/image15.png" Id="Rce52e5085d0a443a" /><Relationship Type="http://schemas.openxmlformats.org/officeDocument/2006/relationships/notesSlide" Target="/ppt/notesSlides/notesSlide15.xml" Id="R6790968063a94d1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28d782e8464ddb" /><Relationship Type="http://schemas.openxmlformats.org/officeDocument/2006/relationships/image" Target="/ppt/media/image16.png" Id="R009d2110d89a4489" /><Relationship Type="http://schemas.openxmlformats.org/officeDocument/2006/relationships/notesSlide" Target="/ppt/notesSlides/notesSlide16.xml" Id="R5de4b454f758432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12a901f404bba" /><Relationship Type="http://schemas.openxmlformats.org/officeDocument/2006/relationships/image" Target="/ppt/media/image17.png" Id="R65973ab3a8814a4c" /><Relationship Type="http://schemas.openxmlformats.org/officeDocument/2006/relationships/notesSlide" Target="/ppt/notesSlides/notesSlide17.xml" Id="R88f67f7dd38a4f0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20c248eb2e4bfb" /><Relationship Type="http://schemas.openxmlformats.org/officeDocument/2006/relationships/image" Target="/ppt/media/image18.png" Id="R4fe42b23099c4828" /><Relationship Type="http://schemas.openxmlformats.org/officeDocument/2006/relationships/notesSlide" Target="/ppt/notesSlides/notesSlide18.xml" Id="R46ee365b2834463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2bc54cb2be4e3b" /><Relationship Type="http://schemas.openxmlformats.org/officeDocument/2006/relationships/image" Target="/ppt/media/image19.png" Id="Rda53369e0db04d1e" /><Relationship Type="http://schemas.openxmlformats.org/officeDocument/2006/relationships/notesSlide" Target="/ppt/notesSlides/notesSlide19.xml" Id="R37bcf79b0117449c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53b0767814f38" /><Relationship Type="http://schemas.openxmlformats.org/officeDocument/2006/relationships/image" Target="/ppt/media/image20.png" Id="R8fc2d987a1e2475e" /><Relationship Type="http://schemas.openxmlformats.org/officeDocument/2006/relationships/notesSlide" Target="/ppt/notesSlides/notesSlide20.xml" Id="Rb09c39f6d3104b7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0676203cd543d3" /><Relationship Type="http://schemas.openxmlformats.org/officeDocument/2006/relationships/image" Target="/ppt/media/image21.png" Id="R7280772ed4ae40b2" /><Relationship Type="http://schemas.openxmlformats.org/officeDocument/2006/relationships/notesSlide" Target="/ppt/notesSlides/notesSlide21.xml" Id="Rfc3f1e3619f44ea3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b4cca49d24808" /><Relationship Type="http://schemas.openxmlformats.org/officeDocument/2006/relationships/image" Target="/ppt/media/image22.png" Id="R0c59924536a54d4a" /><Relationship Type="http://schemas.openxmlformats.org/officeDocument/2006/relationships/notesSlide" Target="/ppt/notesSlides/notesSlide22.xml" Id="Rc65e0276b1bb4a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8090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904C86-053C-4BEA-AD8C-7CEA2B684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090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6827E3-1096-45DA-AB56-9AFABB853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6bae8b981c434a"/>
          <a:stretch xmlns:a="http://schemas.openxmlformats.org/drawingml/2006/main"/>
        </p:blipFill>
        <p:spPr>
          <a:xfrm xmlns:a="http://schemas.openxmlformats.org/drawingml/2006/main">
            <a:off x="857250" y="876300"/>
            <a:ext cx="1066800" cy="10668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0DE7500-01CC-4C7B-9DFF-D127BAA7D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4315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EDAE1"/>
                </a:solidFill>
              </a:defRPr>
            </a:pPr>
            <a:r>
              <a:rPr sz="1125" b="1">
                <a:solidFill>
                  <a:srgbClr val="9EDAE1"/>
                </a:solidFill>
              </a:rPr>
              <a:t>PROJECT DECK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2E30B5-C811-481F-B20F-45FBCC4FF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43200"/>
            <a:ext cx="6191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</a:defRPr>
            </a:pPr>
            <a:r>
              <a:rPr sz="4800" b="1">
                <a:solidFill>
                  <a:srgbClr val="FFFFFF"/>
                </a:solidFill>
              </a:rPr>
              <a:t>BAI 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05D6E0-BA00-44EE-99F4-297F6DEF9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86200"/>
            <a:ext cx="6572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8E7EA"/>
                </a:solidFill>
              </a:defRPr>
            </a:pPr>
            <a:r>
              <a:rPr sz="1875" b="0">
                <a:solidFill>
                  <a:srgbClr val="D8E7EA"/>
                </a:solidFill>
              </a:rPr>
              <a:t>面向 BAI / BAI Code 统一品牌的桌面 AI 工作台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6AACAA-CD92-4F82-AC27-D934EE3C3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562600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9CA3AF"/>
                </a:solidFill>
              </a:defRPr>
            </a:pPr>
            <a:r>
              <a:rPr sz="1350" b="0">
                <a:solidFill>
                  <a:srgbClr val="9CA3AF"/>
                </a:solidFill>
              </a:rPr>
              <a:t>July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B99338-A34F-4C24-93A9-40123644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0"/>
            <a:ext cx="37719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C2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2BFF39-C068-4091-B613-94282D0DB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876300"/>
            <a:ext cx="19050" cy="478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112500-C894-4ED2-8B82-E76EF8672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866900"/>
            <a:ext cx="23241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Desktop workbench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BAI Code runtime</a:t>
            </a:r>
          </a:p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Cross-platform release</a:t>
            </a:r>
          </a:p>
        </p:txBody>
      </p:sp>
    </p:spTree>
    <p:extLst>
      <p:ext uri="{BB962C8B-B14F-4D97-AF65-F5344CB8AC3E}">
        <p14:creationId xmlns:p14="http://schemas.microsoft.com/office/powerpoint/2010/main" val="28678350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07504D9-0177-4899-B3D1-5203910D1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5D43514-2DF1-463B-BF45-E135A98BF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当前状态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A9002F-2897-4DE8-9DCD-FA151105D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BAI Work 已从品牌、运行时和交付链路上独立成型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17A47A-1005-42EA-9E65-DAE8B97CA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4857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5137A-5607-419A-A910-B163663A4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产品定位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4E078A-9F3F-4451-A910-6F595239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908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完成 BAI Work 独立品牌整理，围绕 BAI Code 构建桌面工作台。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35F8D2-349B-4DC5-B55C-2415C1285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981200"/>
            <a:ext cx="4857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EC8724-8D39-40F1-A1FC-E490E9FA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09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已交付构建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BDFA99-223B-4731-A516-E17C28C2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908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Mac Intel x64、Mac Apple Silicon arm64、Windows x64 均已有 0.1.0 构建产物。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3C62B5-2D32-46A9-87E3-A8A81CE6A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00500"/>
            <a:ext cx="4857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714DB3-47BE-4FBC-BF66-1C0947F4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运行时策略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BEDEEF-F44E-4E7F-84C1-E7B404CEE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101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Intel Mac 内置 BAI-Code-Runtime；arm64 Mac / Windows 使用官方 BAI Code 0.9.1 wheelhouse。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BD4480-1822-4403-ABAA-D62B8247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857750" cy="1485900"/>
          </a:xfrm>
          <a:prstGeom xmlns:a="http://schemas.openxmlformats.org/drawingml/2006/main" prst="roundRect">
            <a:avLst>
              <a:gd name="adj" fmla="val 51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D7F77E-5A12-425E-8659-DDDBC7C3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关键缺口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709D5A-65B0-4B30-A458-7982C6D8C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610100"/>
            <a:ext cx="4191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官方文档尚未公开桌面本地 service/session/event/permission/question 协议。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F365E3-B7FE-4A84-94C2-0955F0700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cffcedef3c46a8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4F28D-6DFC-4F8D-AE5D-B4BC04B71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2AC600-88A8-43A9-AA6D-081DB8CE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9287898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811B8D5-E8D3-48B6-BB62-9960FC058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E1C8779-14DE-439E-AC91-D0727A6F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WHY IT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A42EA9-A756-4BBA-8ABD-AD16EBDBC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单独的 CLI 不能覆盖桌面工程工作流的完整闭环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E87F7D2-4FFF-43B4-B6C5-E80C6C461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6096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BAI Code 已提供可用的命令行入口，但桌面工作台需要把项目上下文、会话、审批和产物组织成连续体验。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A628DA-5219-4856-B84A-0E3EF5972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562100"/>
            <a:ext cx="28575" cy="3505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8BDAC-64EE-4E86-BCC8-5E5F70B01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38300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桌面工作台必须补齐的能力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97829-F052-4618-A57A-FBCC7F508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333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144E13-1201-40BD-851C-875E8708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479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项目选择、文件引用、Git 上下文和长会话管理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3F065A-431C-4508-BFB5-C7D80DB1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019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9FEA78-C9E2-44C9-9119-D224D0BCE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9337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运行状态、错误提示、日志定位和可恢复的 runtime 配置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D51C3D-FF95-40DD-8FC5-2447D4C4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05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3DCB1-45EB-4C40-BD9D-D1AA7538F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6195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权限审批、用户问题、工具调用和产物预览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B32F28-DE3B-47C0-BFB4-5062F29EB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391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444928-FDDD-45F7-904B-EC3EC2F8B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305300"/>
            <a:ext cx="31051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跨平台打包、桌面安装、品牌资产和更新通道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F8008F-4812-417B-80EE-A7F3A31B8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563398c49f4b2b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DC406F-4FA2-48C4-9147-EE15B146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DD442C-F4E9-4B49-8F8C-45D74E100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660505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6EFF7-6491-4EAC-B993-18E88C62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81FD8F-34E9-4433-A072-E2A485F0F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PRODUCT POSITION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6C23C8-ACE3-4184-A9E3-48E196BFB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BAI Work 的定位是 BAI Code 的桌面工作台层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0DA9ED-0DF6-466B-AD66-C90BFBC7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857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F2933"/>
                </a:solidFill>
              </a:defRPr>
            </a:pPr>
            <a:r>
              <a:rPr sz="1800" b="0">
                <a:solidFill>
                  <a:srgbClr val="1F2933"/>
                </a:solidFill>
              </a:rPr>
              <a:t>它不替代 BAI Code 核心，而是在本地桌面边界上统一用户体验、配置、安全和发布。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8DCA3E-A821-4CF9-A886-226B75A40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71800"/>
            <a:ext cx="272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07BE84-D4A0-43B1-B44E-293E7AA4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117"/>
                </a:solidFill>
              </a:defRPr>
            </a:pPr>
            <a:r>
              <a:rPr sz="1875" b="1">
                <a:solidFill>
                  <a:srgbClr val="0D1117"/>
                </a:solidFill>
              </a:rPr>
              <a:t>面向用户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CBE5040-63C1-4A1C-AB95-AFAD150D1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3"/>
                </a:solidFill>
              </a:defRPr>
            </a:pPr>
            <a:r>
              <a:rPr sz="1500" b="0">
                <a:solidFill>
                  <a:srgbClr val="5B6673"/>
                </a:solidFill>
              </a:rPr>
              <a:t>桌面 AI 工作台，承载项目、会话、文件、审阅和自动化。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174D56-2CB7-4428-A07C-AB1BCC5D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71800"/>
            <a:ext cx="272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F9770D-8138-4A5A-84FA-9CDAC24A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219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117"/>
                </a:solidFill>
              </a:defRPr>
            </a:pPr>
            <a:r>
              <a:rPr sz="1875" b="1">
                <a:solidFill>
                  <a:srgbClr val="0D1117"/>
                </a:solidFill>
              </a:rPr>
              <a:t>面向 runtime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53F125-A8FC-41D5-AECC-A4FD6A7F5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69570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3"/>
                </a:solidFill>
              </a:defRPr>
            </a:pPr>
            <a:r>
              <a:rPr sz="1500" b="0">
                <a:solidFill>
                  <a:srgbClr val="5B6673"/>
                </a:solidFill>
              </a:rPr>
              <a:t>通过本地 /v1/* 兼容边界连接 BAI Code CLI / 后续 service。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322718F-1541-480E-AE08-4DA838B7A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971800"/>
            <a:ext cx="2724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1601581-D985-48B2-8584-075E538D9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219450"/>
            <a:ext cx="2724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117"/>
                </a:solidFill>
              </a:defRPr>
            </a:pPr>
            <a:r>
              <a:rPr sz="1875" b="1">
                <a:solidFill>
                  <a:srgbClr val="0D1117"/>
                </a:solidFill>
              </a:rPr>
              <a:t>面向发布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A790DC-2D3E-434A-8725-0502A6277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695700"/>
            <a:ext cx="27241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B6673"/>
                </a:solidFill>
              </a:defRPr>
            </a:pPr>
            <a:r>
              <a:rPr sz="1500" b="0">
                <a:solidFill>
                  <a:srgbClr val="5B6673"/>
                </a:solidFill>
              </a:rPr>
              <a:t>把官方 wheels、Intel runtime、技能和安装器纳入可验证包体。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3E1264-02D8-45FE-86FA-39D9FF5DC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91e21234ee4a74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D5615-862A-4331-A786-E2FF642B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F3A5AA-F688-4031-8713-C9C8A1846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45379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CB670C0-97CE-49E8-97F2-C16DEED1F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C19252-232D-4FFE-8E14-601E9495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PRODUCT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D5B4E4-1075-4EBA-91E7-DF8D44521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核心用户路径围绕项目会话，而不是孤立提示词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6D5CE-69CF-40DE-96CD-75161A4A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F27BDF-4038-4772-9530-F1FDC3D7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EF07F6-C08C-427C-BA93-A87731F3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2764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2D8DE"/>
                </a:solidFill>
              </a:defRPr>
            </a:pPr>
            <a:r>
              <a:rPr sz="2100" b="1">
                <a:solidFill>
                  <a:srgbClr val="D2D8DE"/>
                </a:solidFill>
              </a:rPr>
              <a:t>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5FBE1-D0E5-43F5-AD97-E34CE763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打开项目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8AA8EB-354E-42CD-B84E-519802CF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33750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选择 workspace，读取 Git 和文件上下文。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7792CF-0D35-4A1C-967E-0D4E0510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054BF7-A894-43BE-A8E1-21A673233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1D06C78-DD19-4E01-A4CE-A621A4D8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764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2D8DE"/>
                </a:solidFill>
              </a:defRPr>
            </a:pPr>
            <a:r>
              <a:rPr sz="2100" b="1">
                <a:solidFill>
                  <a:srgbClr val="D2D8DE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A560FE-6751-4751-A656-040771290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配置模型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A22B0F9-B528-4B74-BB13-EBEB1FA3A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333750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使用 BAI 默认端点或自定义 provider。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0E202C-523C-4539-97E7-39DCB5B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EE5986-1213-4B82-B67F-DDBA17492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7F4650C-3686-444E-9431-3D79E8153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2764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2D8DE"/>
                </a:solidFill>
              </a:defRPr>
            </a:pPr>
            <a:r>
              <a:rPr sz="2100" b="1">
                <a:solidFill>
                  <a:srgbClr val="D2D8DE"/>
                </a:solidFill>
              </a:rPr>
              <a:t>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873F97B-2733-433E-A565-56427F819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运行会话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9933D-0BA4-420F-A8B1-D6F5E7D2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333750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发送任务，接收流式进度、工具摘要和变更。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4C7454-ED6F-4835-9C9C-CDC01545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B9ACF7-990C-49C2-9C18-A6F2358B2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972729-102D-4CDC-87FB-328303FA8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76475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D2D8DE"/>
                </a:solidFill>
              </a:defRPr>
            </a:pPr>
            <a:r>
              <a:rPr sz="2100" b="1">
                <a:solidFill>
                  <a:srgbClr val="D2D8DE"/>
                </a:solidFill>
              </a:rPr>
              <a:t>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5F97876-0D5F-4CB4-8C01-9184942C4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处理交互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9F8897-BFB7-47FF-AF07-AA92E4433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审批敏感操作，回答 agent 问题，追踪运行时状态。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9BDD79-117A-4D03-8D20-92968567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2098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CC4038F-0458-41AB-82DA-D8EE11AE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3050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7CBEFB-0A58-4458-AFE6-804A46ECF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8956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交付产物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DCC5E-F046-4D86-B0FD-0C7430F8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333750"/>
            <a:ext cx="1638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审阅 diff、导出文档、保留会话和检查点。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F32BB-F5B8-4C57-ABD1-8F370C5D5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b8b749d2714773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29D21C2-9E21-44D8-9B39-C6CD4A85A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1FBB915-32E1-4D63-8389-71773E46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0392514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B210CC-10A5-4B09-804F-DB3621867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C8410F-C6BD-4DF6-9704-161E7C915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PRODUCT SURFACE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45FD02-BB37-4E4C-82D9-4DA3F7C03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产品体验把工作台、会话和运行时提示放在同一个操作面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B128B2-D26F-4612-86B9-98A541707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3714750"/>
          </a:xfrm>
          <a:prstGeom xmlns:a="http://schemas.openxmlformats.org/drawingml/2006/main" prst="roundRect">
            <a:avLst>
              <a:gd name="adj" fmla="val 20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08C571-EC4F-4E64-84DA-6D6D269CB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572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94F528-2826-49E6-BF62-01EF296E7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1714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BAI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28A4C9-62AF-4AC5-80FA-55405049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28850"/>
            <a:ext cx="15240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3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B2E5AC-BC2B-45CE-B755-99743DF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28850"/>
            <a:ext cx="342900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D24A72-CEA9-463A-B557-466BDD8BE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228850"/>
            <a:ext cx="1619250" cy="3295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7BE4D8-98BB-43D3-B9DB-94A3465C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52700"/>
            <a:ext cx="10477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Projects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Sessions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Archive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91C24-79BB-4C2B-AB20-4BA3201B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479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Message timeline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Runtime status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1F2933"/>
                </a:solidFill>
              </a:defRPr>
            </a:pPr>
            <a:r>
              <a:rPr sz="1500" b="1">
                <a:solidFill>
                  <a:srgbClr val="1F2933"/>
                </a:solidFill>
              </a:rPr>
              <a:t>Composer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509097-51C7-4526-967A-3DCDD4C1A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647950"/>
            <a:ext cx="952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Plan</a:t>
            </a:r>
          </a:p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Diff</a:t>
            </a:r>
          </a:p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Preview</a:t>
            </a:r>
          </a:p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Files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D84CCD-C218-4653-84BF-A82EA5669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8764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DFE883-CFE2-432B-8184-9CD38A545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项目/会话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71B239-10D3-4638-9460-A3B3C09A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133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侧边栏聚合项目、线程、历史和归档。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F2B824-4733-413B-B1D0-36F7C778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7527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8B0D948-F197-4B17-AC73-5B696526B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6860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模型配置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CEFCCF-B8CB-403F-9125-A3233DB3E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0099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composer 与设置页共享 provider/model 选择。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24B8B4-24A9-4A1D-961F-F75476897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6290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9DC89F0-C38F-458C-B03B-5389651FC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5623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运行时提示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AA6DB7-C227-4443-8132-E706DD917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862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Runtime banner 暴露错误、日志路径、重试和设置入口。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68C5AE-6D93-47F1-BC97-5A73F224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505325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D7C952-ADA5-4146-99E4-8FEB3F754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38650"/>
            <a:ext cx="2571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审阅面板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B7F7FA-66F7-4151-A6AD-EBA9A552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7625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变更、计划、预览和文件引用作为右侧工作面。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02AF8D-6125-4041-87FC-F857BF188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c9128997f14a60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487E43-A3B2-4F10-B282-B3956251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5AAA29-BDCA-406C-A8F9-258AD116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837156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1E9399-F87E-475D-BBC6-0F92B826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114D77-8E5E-4F2C-AB82-B7472E21D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RUNTIME EXPERIENCE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430812-70FB-4E90-AB25-DBDA4692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Runtime UX 明确区分“可运行”和“缺协议”两类问题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54BA1A-893D-41F1-9A41-A69AB817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A5A8D3-C5E7-4C5B-9532-28DE2A26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运行能力探测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97169-26FF-4BDF-84B5-7A55ABD1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09850"/>
            <a:ext cx="43053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探测 baicode --version 与 app-local runtime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Mac Intel 可直接使用内置 BAI-Code-Runtime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arm64 / Windows 可从 wheelhouse 创建本地 venv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失败时提示安装 Python 3.10-3.13 或配置现有 baicode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2413D0-F0B8-4139-BC49-C70E67173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000250"/>
            <a:ext cx="47625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FDF8A4-FAB0-491D-9EC9-A7A62077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209800"/>
            <a:ext cx="430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协议缺口提示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B98128-341D-48EC-869F-955A100C0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609850"/>
            <a:ext cx="430530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CLI 可用不等于桌面 service contract 可用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session / event / permission / question 缺口在错误中显式暴露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当前桥接层先保障基本 chat/completions 路径</a:t>
            </a:r>
          </a:p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后续接入官方协议时保持 renderer 边界稳定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500DC-2C76-4840-922B-EFB9E2E58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400300"/>
            <a:ext cx="3238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A29701-A0BE-4291-9804-2857D30B6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241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DC42CC-41B3-42EF-93EE-1E309F9B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1f01ff98341bc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C16A7D-D81B-4761-8C06-B841108FB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7B4291-6A91-4AD9-A213-B7F3585B1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967971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038AB2-E96F-4441-AF5C-6BCBEA54E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7F593A-821C-4F6A-ACDA-18C882861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C49D9E-E176-4343-A1ED-2DC417A4B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架构选择保留 Electron 桌面边界，同时替换 runtime 核心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F6251C-BB70-4B9F-A0D0-6A681547B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05050"/>
            <a:ext cx="1714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799DCB-1F59-43F5-9FD6-F9FAD44B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33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Renderer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CD42CE-9936-452D-B63A-3F3F8FD4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908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React / TypeScript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Workbench UI, settings, chat store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A1E6A0-5514-4D40-87BD-1D179015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9146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C8FA3"/>
                </a:solidFill>
              </a:defRPr>
            </a:pPr>
            <a:r>
              <a:rPr sz="240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104DE-1134-467A-83E7-0E20BEA9E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305050"/>
            <a:ext cx="1714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946F75-BC6A-4089-B629-A3CE816C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533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Preload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BAD23-2D0C-4FEE-9E86-AB1E9344B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9908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受控 IPC bridge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runtime events, desktop commands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40096B-118D-4AD8-8385-54171CC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33925" y="29146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C8FA3"/>
                </a:solidFill>
              </a:defRPr>
            </a:pPr>
            <a:r>
              <a:rPr sz="240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BC2F7-99F2-4823-9742-A9A88675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2550" y="2305050"/>
            <a:ext cx="1714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19CE14-A0AE-41A3-81ED-94924BD7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33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Main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7DA246-29C6-44DC-84BF-68EC475E6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9908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Electron host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settings, packaging,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local adapter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504BA-417E-42C1-B17F-4676BC6F2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9146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C8FA3"/>
                </a:solidFill>
              </a:defRPr>
            </a:pPr>
            <a:r>
              <a:rPr sz="240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D62FB9-CF60-4A06-B2D6-4F0D15DF8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305050"/>
            <a:ext cx="1714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7350E75-AE7D-47C5-85B9-33324DE35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533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Runtime adapter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8E33BCD-9A7F-49CB-AB45-8B1C1C6C2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29908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BAI Work adapter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/v1/*, SSE,</a:t>
            </a:r>
          </a:p>
          <a:p xmlns:a="http://schemas.openxmlformats.org/drawingml/2006/main">
            <a:pPr algn="ctr">
              <a:defRPr sz="1200" b="0">
                <a:solidFill>
                  <a:srgbClr val="5B6673"/>
                </a:solidFill>
              </a:defRPr>
            </a:pPr>
            <a:r>
              <a:rPr sz="1200" b="0">
                <a:solidFill>
                  <a:srgbClr val="5B6673"/>
                </a:solidFill>
              </a:rPr>
              <a:t>provider config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58D637-EBC0-4125-9E83-111C245E9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914650"/>
            <a:ext cx="342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C8FA3"/>
                </a:solidFill>
              </a:defRPr>
            </a:pPr>
            <a:r>
              <a:rPr sz="240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F1A4F9-8EE9-48D8-B1BB-36A94C33E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305050"/>
            <a:ext cx="1714500" cy="1600200"/>
          </a:xfrm>
          <a:prstGeom xmlns:a="http://schemas.openxmlformats.org/drawingml/2006/main" prst="roundRect">
            <a:avLst>
              <a:gd name="adj" fmla="val 4762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D111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D5694B6-2767-44C4-A0B0-5C0B1CBFC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533650"/>
            <a:ext cx="1371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BAI Code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97FB16-4674-4A0E-BF15-D9CC93788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990850"/>
            <a:ext cx="1371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CDECEF"/>
                </a:solidFill>
              </a:defRPr>
            </a:pPr>
            <a:r>
              <a:rPr sz="1200" b="0">
                <a:solidFill>
                  <a:srgbClr val="CDECEF"/>
                </a:solidFill>
              </a:rPr>
              <a:t>baicode CLI today</a:t>
            </a:r>
          </a:p>
          <a:p xmlns:a="http://schemas.openxmlformats.org/drawingml/2006/main">
            <a:pPr algn="ctr">
              <a:defRPr sz="1200" b="0">
                <a:solidFill>
                  <a:srgbClr val="CDECEF"/>
                </a:solidFill>
              </a:defRPr>
            </a:pPr>
            <a:r>
              <a:rPr sz="1200" b="0">
                <a:solidFill>
                  <a:srgbClr val="CDECEF"/>
                </a:solidFill>
              </a:rPr>
              <a:t>future service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BB34C4-EBA0-4174-81E3-D2832311B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591050"/>
            <a:ext cx="914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6374"/>
                </a:solidFill>
              </a:defRPr>
            </a:pPr>
            <a:r>
              <a:rPr sz="1800" b="1">
                <a:solidFill>
                  <a:srgbClr val="0E6374"/>
                </a:solidFill>
              </a:rPr>
              <a:t>稳定的桌面边界让 runtime 核心可以逐步从 CLI bridge 迁移到官方 service。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23261-5E2D-48E5-97C5-EBB6DB7F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382ec5424f4512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FE2FAC-25FE-4714-82A2-F34188D1B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03FB79-AC74-49A9-9E9F-F073C56E1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9186601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9DA8E0B-8781-4254-9C05-7236A5982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70C443-13E4-45EB-84FE-0BAA5316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RESPONSIBILITIES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FA0103-4FB0-4080-8C23-2C064F8A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main / preload / renderer 的职责分层降低替换风险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68EC0-BCA9-42F5-AB1E-A61BE5128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Renderer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345F83-4C38-49AE-9A82-279CE4F7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19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B75767-EDF9-43A5-9A0F-3CD548888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67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FECE7C-AC3D-4805-904E-2D5A2D378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813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工作台 UI 与状态管理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D9A3BA-3C3F-4AB1-BA86-338014719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1665F6-E1C5-404C-AA76-0B56833C0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4290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composer、会话、设置、右侧面板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41E45D-B90B-4201-8F95-D538EA866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DAAD1E-3C23-440A-B798-3B51987B3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767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只依赖稳定 runtime-client contract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F994A5-8A66-41FC-AC3E-FFBB68B5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Preload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1D4D04-9FB0-40F4-AE88-439713F06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419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211B43-43EB-4496-91A8-EADA5C801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67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42DF9F-EA4B-42D9-B43A-963AE7F11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27813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暴露最小 IPC 能力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104DDF-59BD-41CE-8D5D-55A62F378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AF6441-2768-4843-96F5-E7A1F5CF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4290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转发 runtime:sse-event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550560-4742-4D40-869C-21D0B0E9B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FA2A01-E650-43DA-868E-52B5EC361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0767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避免 renderer 直接接触 Node 权限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2DAA8E-47BC-44A7-A3E1-6B33145B2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621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0D1117"/>
                </a:solidFill>
              </a:defRPr>
            </a:pPr>
            <a:r>
              <a:rPr sz="2025" b="1">
                <a:solidFill>
                  <a:srgbClr val="0D1117"/>
                </a:solidFill>
              </a:rPr>
              <a:t>Main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F14D2-B307-4624-AA54-05688B442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419350"/>
            <a:ext cx="2857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81DB5A7-97CF-4F72-A466-DDEFE88F3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67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EB3427-9FC1-4B54-B4CD-E781DF55C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813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维护设置、文件、Git、packaging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ED48ECB-D582-4C77-A31A-7CB6DE4F6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14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7B2645-87A1-4501-BC1C-68FDF08C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4290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启动并代理 runtime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D3D6642-2A49-427E-8A1F-001D27762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624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FD3C07-3D2C-4179-AE2E-261A701E4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076700"/>
            <a:ext cx="271462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把桌面能力收敛到本地服务边界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F8EECAD-F10C-40B5-A29E-81ED5495F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93676655da4286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40AD55-189A-4019-866C-B707A1A6E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38EE95-2DB3-4B14-A19D-773BDA03E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1247028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6020A9-3931-419B-A25E-8F16B62A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FA160A-4598-47AD-ABBC-E59BCCCD8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RUNTIME ADAPTER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2FC88-C56F-4D85-9F38-26DE3D2D5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Runtime adapter 用兼容层吸收官方协议尚未稳定的风险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216CB5-C1E5-41B7-BD12-91085249C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669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稳定边界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C69E98-B3A2-4ABB-B43E-0516CD5D7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0002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C2A6D-C7F0-4C38-B753-7C1809E1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18478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renderer 继续访问 /v1/runtime、/v1/threads、/v1/skills、/v1/usage 等桌面接口。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B7FF3-A5B5-489D-B876-35DCA393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桥接策略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15E4A1-AA95-4E98-A1C5-EC2CEBA92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765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3147AE-432A-4C16-8229-7F5537B41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7241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当前实现内存线程与 SSE，调用 BAI OpenAI-compatible chat/completions 完成基础对话。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6F979-3C24-4B0F-A219-09D98D71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195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显式缺口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808D22-6BE4-436D-B594-83BEA51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7528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BC2D82-11CB-47DE-8F1B-E3DCB540C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04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resume-session、approval、user-input 等依赖官方 local service contract 的接口返回明确错误。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BB0CA0-0241-4633-BF88-D4AFC9E7E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958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E6374"/>
                </a:solidFill>
              </a:defRPr>
            </a:pPr>
            <a:r>
              <a:rPr sz="1725" b="1">
                <a:solidFill>
                  <a:srgbClr val="0E6374"/>
                </a:solidFill>
              </a:rPr>
              <a:t>迁移路径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BAADCF-2612-4AF8-B739-460BE200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629150"/>
            <a:ext cx="304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2A015E-B367-4562-B26F-D5154F8BE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4476750"/>
            <a:ext cx="685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当 BAI 发布 service contract 后，只需要替换 adapter 内部实现，不扰动桌面 UI。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2C075F-0B5F-4911-A2AD-C2C1C01F4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337912783b4389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BF5E08-1B74-4F0F-A783-48BEFD3C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654AB1-4DF7-4B1F-B804-8EB89B6DF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9844602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3769626-CD35-443C-AE81-57ADF4911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F5ACD1-086B-4B17-AF01-957A1BC2B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BAI CODE ADAPTATION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2DF708B-C63D-4782-90BE-6F7C2AD9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BAI Code 适配采用“可内置则内置，可 bootstrap 则 bootstrap”的分发策略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A8B9C2-B664-47A0-9073-6464B06FB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38350"/>
            <a:ext cx="3143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B9B69E-D455-4A44-AB9C-0CEB0391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241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1117"/>
                </a:solidFill>
              </a:defRPr>
            </a:pPr>
            <a:r>
              <a:rPr sz="1950" b="1">
                <a:solidFill>
                  <a:srgbClr val="0D1117"/>
                </a:solidFill>
              </a:rPr>
              <a:t>Mac Intel x64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29A380-02B3-4C71-965B-32445972A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527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随包包含 BAI-Code-Runtime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CPython 3.11.15 + BAI Code 0.9.1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bin/baicode 使用相对路径选择运行时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2764D6-8326-4B29-A6EC-D460215CD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038350"/>
            <a:ext cx="3143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24B3F9-D8BB-4A86-84A3-C8AD1941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3241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1117"/>
                </a:solidFill>
              </a:defRPr>
            </a:pPr>
            <a:r>
              <a:rPr sz="1950" b="1">
                <a:solidFill>
                  <a:srgbClr val="0D1117"/>
                </a:solidFill>
              </a:rPr>
              <a:t>Mac Apple Silicon arm64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90969E-62BE-49E4-801B-2D794D9C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9527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随包包含 BAI-Code-Official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官方 macOS arm64 cp310-cp313 wheels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目标机用 Python 3.10-3.13 创建本地 venv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345EDC-774F-42D3-A238-C71D21375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43250" cy="2800350"/>
          </a:xfrm>
          <a:prstGeom xmlns:a="http://schemas.openxmlformats.org/drawingml/2006/main" prst="roundRect">
            <a:avLst>
              <a:gd name="adj" fmla="val 2721"/>
            </a:avLst>
          </a:prstGeom>
          <a:solidFill xmlns:a="http://schemas.openxmlformats.org/drawingml/2006/main">
            <a:srgbClr val="F8EFE0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478809-BE71-4EB5-8B94-B4F6EAA7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647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D1117"/>
                </a:solidFill>
              </a:defRPr>
            </a:pPr>
            <a:r>
              <a:rPr sz="1950" b="1">
                <a:solidFill>
                  <a:srgbClr val="0D1117"/>
                </a:solidFill>
              </a:rPr>
              <a:t>Windows x64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70C2F0-A417-4B17-AE03-9356FEC2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52750"/>
            <a:ext cx="2609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随包包含 BAI-Code-Official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官方 win_amd64 cp310-cp313 wheels</a:t>
            </a:r>
          </a:p>
          <a:p xmlns:a="http://schemas.openxmlformats.org/drawingml/2006/main">
            <a:pPr algn="ctr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创建 app-local venv 后运行 baicode.exe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32A0D5-0F19-442D-8592-BC604E2F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c75caea2f8450b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650418-3975-4CFB-BC66-3EB41A86A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E71991-FDAA-4DF6-9665-D56037179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2131855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1F6B969-E82D-47B2-89D6-7A4A587C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9C1C4B-6877-49A2-B53C-913D1447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SERVICE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731C71D-12FC-422C-969E-2E22EE8E2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官方公开能力与桌面所需协议之间仍有一个待确认缺口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2EE41-FA3B-4350-8D38-9006C7A39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4310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6374"/>
                </a:solidFill>
              </a:defRPr>
            </a:pPr>
            <a:r>
              <a:rPr sz="1875" b="1">
                <a:solidFill>
                  <a:srgbClr val="0E6374"/>
                </a:solidFill>
              </a:rPr>
              <a:t>官方已公开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58FB26-A0A3-4E0F-B391-AE7E3171E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431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117"/>
                </a:solidFill>
              </a:defRPr>
            </a:pPr>
            <a:r>
              <a:rPr sz="1875" b="1">
                <a:solidFill>
                  <a:srgbClr val="0D1117"/>
                </a:solidFill>
              </a:rPr>
              <a:t>桌面仍待确认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C7C8CA-B982-4E96-825E-E9234358C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17F8FC-3D30-4147-B4C2-ABA202B2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336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baicode CLI 安装与运行方式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084849-7E8A-4291-BE86-826E3E4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72808-7CD6-49F0-B62C-442BFEF89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8610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Python wheel / wheelhouse 分发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4F9012-F111-4AF0-9C76-91DA00B2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3075F1A-F2AB-4FE1-A66E-D7F28989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638550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OpenAI-compatible LLM 参数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E0DC0-D5F9-4C93-8E65-D214B911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619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504919-1153-4093-A550-50D454124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5336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本地 service 启动与健康检查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2C501-B563-46C2-B461-5EA255FA9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1718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536547-D5C3-46E2-B8D9-5F6E9D8D2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08610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session create/list/read/resume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292C94B-4867-48BC-9E36-9C907F9E7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7242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F939E-D979-44E4-ADBA-408C7E2B9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63855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event stream / SSE 语义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C95372-2B32-4AB1-BBB4-CB7ABEDA1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2767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EBAD0F-57A3-479F-AEAC-6C40C4F3C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4191000"/>
            <a:ext cx="3562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F2933"/>
                </a:solidFill>
              </a:defRPr>
            </a:pPr>
            <a:r>
              <a:rPr sz="1500" b="0">
                <a:solidFill>
                  <a:srgbClr val="1F2933"/>
                </a:solidFill>
              </a:rPr>
              <a:t>permission reply 与 question reply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1D6C34-BC07-4FC7-AB39-4DBC955A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190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74CF24F-451E-4749-AA49-509D3C74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BAED2D-2A08-47BC-8D5D-2A5220EC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BAI Work 当前把缺口作为产品风险显式管理：代码、错误信息和路线图都指向同一个 service contract 待确认项。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5756D1-89FB-44BF-9259-3099C9F5F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134ab49572448b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844090-2334-4E5E-AC7B-BF1DC52F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B3F3C81-53D8-40F7-BA64-35AEEFFBC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9271790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00A1EBB-D09D-493E-9CB3-B8F12683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2A92A3-CB5C-41B1-B0D1-C482DF7B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PROVIDER SETTINGS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01CED-E0CF-4767-949C-DB11BB0D8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模型配置默认 BAI，但不把凭据或端点写死在包体里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0A5422-A644-491F-9E14-E9EF83F3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24050"/>
            <a:ext cx="3905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0D1117"/>
          </a:solidFill>
          <a:ln xmlns:a="http://schemas.openxmlformats.org/drawingml/2006/main" w="9525">
            <a:solidFill>
              <a:srgbClr val="0D111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CB082-0324-4561-ACA7-A91A72910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2479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BAI default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D411C-2F60-4452-ADB9-255313826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00350"/>
            <a:ext cx="2857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DDF3F5"/>
                </a:solidFill>
              </a:defRPr>
            </a:pPr>
            <a:r>
              <a:rPr sz="1575" b="0">
                <a:solidFill>
                  <a:srgbClr val="DDF3F5"/>
                </a:solidFill>
              </a:rPr>
              <a:t>https://api.b.ai/v1</a:t>
            </a:r>
          </a:p>
          <a:p xmlns:a="http://schemas.openxmlformats.org/drawingml/2006/main">
            <a:pPr algn="l">
              <a:defRPr sz="1575" b="0">
                <a:solidFill>
                  <a:srgbClr val="DDF3F5"/>
                </a:solidFill>
              </a:defRPr>
            </a:pPr>
            <a:r>
              <a:rPr sz="1575" b="0">
                <a:solidFill>
                  <a:srgbClr val="DDF3F5"/>
                </a:solidFill>
              </a:rPr>
              <a:t>chat_completions</a:t>
            </a:r>
          </a:p>
          <a:p xmlns:a="http://schemas.openxmlformats.org/drawingml/2006/main">
            <a:pPr algn="l">
              <a:defRPr sz="1575" b="0">
                <a:solidFill>
                  <a:srgbClr val="DDF3F5"/>
                </a:solidFill>
              </a:defRPr>
            </a:pPr>
            <a:r>
              <a:rPr sz="1575" b="0">
                <a:solidFill>
                  <a:srgbClr val="DDF3F5"/>
                </a:solidFill>
              </a:rPr>
              <a:t>custom providers allowed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1E5F25-E99D-4846-8142-CB8A1639A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009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EE60AC-4DDF-4B83-8327-7029A65F2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19240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默认 provider 为 BAI，baseUrl 为 https://api.b.ai/v1，endpointFormat 为 chat_completions。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FCAAEB-E968-41A0-864A-C5895D831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6955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880E97-58D2-4C3B-BE6A-0F0659ECA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098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模型列表由 preset 管理，支持 BAI 默认模型与自定义 OpenAI-compatible providers。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B342B4-D550-42AA-8479-15AA602EB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3813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E32AC-99F8-4C56-BDE4-C7290D36F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2956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API key 只来自用户设置、本地运行环境或 provider profile，代码和资源包不包含真实凭据。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163F3F9-D8F0-4177-86DD-C17F23513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40671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083715-995F-41A7-B74C-742CC523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981450"/>
            <a:ext cx="5334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运行时信息只暴露 apiKeyConfigured 布尔状态，不回显 key 内容。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9E4FFC-7943-4453-AB77-9317D3314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ebc156634421e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B49A44-75AB-41AA-95A8-069E6A1EB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F41E47-29BA-4087-99C2-BABDBCC2A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5361758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66B5AE-BAE5-417A-9E5C-A773CDAD1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D4354-4AA1-4C79-A1C3-B4E29A7B5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EBAI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2FCBE8-2FC1-4FE5-8E8C-8DE43BDA0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EBAI 能力已内化为 BAI 原生目录和命令形态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31CDE5-C49F-49E8-9C17-EA80AEC32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commands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701FE5-C3F8-4C64-989F-6533B7F47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19240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8FA3"/>
                </a:solidFill>
              </a:defRPr>
            </a:pPr>
            <a:r>
              <a:rPr sz="225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837719-A3AF-4AEF-ACFE-2D8B49993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19621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374"/>
                </a:solidFill>
              </a:defRPr>
            </a:pPr>
            <a:r>
              <a:rPr sz="1575" b="1">
                <a:solidFill>
                  <a:srgbClr val="0E6374"/>
                </a:solidFill>
              </a:rPr>
              <a:t>~/.bai/commands/*.md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140008-93D3-4813-8855-3ACD72AE8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保持 slash command 可发现、可覆盖。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711550-B9E7-497C-8264-97DFD0831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061FE88-40CE-4B12-8385-540196F6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003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agents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3C61EBA-412F-49DB-9E4A-A09065E2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27622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8FA3"/>
                </a:solidFill>
              </a:defRPr>
            </a:pPr>
            <a:r>
              <a:rPr sz="225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43A81B-597B-4ACE-A761-C4773E34B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003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374"/>
                </a:solidFill>
              </a:defRPr>
            </a:pPr>
            <a:r>
              <a:rPr sz="1575" b="1">
                <a:solidFill>
                  <a:srgbClr val="0E6374"/>
                </a:solidFill>
              </a:rPr>
              <a:t>~/.bai/commands/ebai-agent-*.md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1DE972-12BE-46A4-9E7C-16BBA1B23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908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把 agent 规格转为 BAI slash command。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4D2977-3E5C-43CE-8416-9568CFF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147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3DD0F9-84D4-423B-88F9-8C54AF1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385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rules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6E2D05A-739F-43F3-88EE-8EB382A12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600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8FA3"/>
                </a:solidFill>
              </a:defRPr>
            </a:pPr>
            <a:r>
              <a:rPr sz="225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CAED7B-0733-4B1B-86CA-D0D85E16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6385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374"/>
                </a:solidFill>
              </a:defRPr>
            </a:pPr>
            <a:r>
              <a:rPr sz="1575" b="1">
                <a:solidFill>
                  <a:srgbClr val="0E6374"/>
                </a:solidFill>
              </a:rPr>
              <a:t>~/.bai/skills/ebai-rules/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864330-A44B-4CB5-9685-073D6BC64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290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以 skill 形式安装 common rules，可选全量规则。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182389-B691-4484-A569-8C710C64F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529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215A905-43DF-4A60-B8E1-87AB7747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7675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D1117"/>
                </a:solidFill>
              </a:defRPr>
            </a:pPr>
            <a:r>
              <a:rPr sz="1800" b="1">
                <a:solidFill>
                  <a:srgbClr val="0D1117"/>
                </a:solidFill>
              </a:rPr>
              <a:t>hooks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E604BC-2CCA-4190-B16A-6D8AD1C4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44386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C8FA3"/>
                </a:solidFill>
              </a:defRPr>
            </a:pPr>
            <a:r>
              <a:rPr sz="2250" b="1">
                <a:solidFill>
                  <a:srgbClr val="1C8FA3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D620C9-9D08-40D6-A65D-80036B82B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4767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E6374"/>
                </a:solidFill>
              </a:defRPr>
            </a:pPr>
            <a:r>
              <a:rPr sz="1575" b="1">
                <a:solidFill>
                  <a:srgbClr val="0E6374"/>
                </a:solidFill>
              </a:rPr>
              <a:t>~/.bai/ebai/hooks/hooks.toml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9BB163-04FB-499B-B9F2-E2AC3B509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467225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F2933"/>
                </a:solidFill>
              </a:defRPr>
            </a:pPr>
            <a:r>
              <a:rPr sz="1425" b="0">
                <a:solidFill>
                  <a:srgbClr val="1F2933"/>
                </a:solidFill>
              </a:rPr>
              <a:t>生成 BAI hooks.toml，默认 enabled = false。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0F6FEF-1693-4E67-B393-96FF671A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A4BE7C-0778-4B4C-81A0-24FFCF6AB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66cf208ff4bdb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CEE9BB-F23F-4ED8-9AEA-A83F36BC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88C5967-106F-47F7-AD0B-C48AF3636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94867686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E861FA-3AD4-464E-A8B6-41D907E5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0A63D5E-DA60-448A-8550-3D76E3F6C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EBAI SAFETY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D45C27-D060-42BB-9F35-120586404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EBAI hooks 的安全策略是先生成、后审阅、再按 workspace 启用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98081F-34BF-4821-A7D9-9ED3A42C3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110B6C-3786-4FD5-A1B6-47518611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默认关闭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786621-2DE1-4C95-A6A8-7419CF37A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095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生成的全局 hooks.toml 始终 enabled = false。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F232B-683F-46E6-A5C4-9C345AF7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240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DD4A82-374B-46C7-AB68-70CE918E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955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信任边界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C17CC-0415-4A62-981E-44268EF91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启用 hooks 必须提供 trusted workspace 路径。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8AC5B5-DC45-4F27-A1A8-A92F396D7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122059-3C2A-48C6-8651-5265D12B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76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作用域收敛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29D69-DB18-4BB9-B246-419B6BF48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276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真正启用的 hooks 写入 workspace/.bai/hooks.toml。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03770-5375-4D5B-8544-BF5E5118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C2A9389-7E73-4650-94D1-E1890825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2766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命令改写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27A728-5F0A-4022-9FFC-F581D9E7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766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执行前进入 EBAI source，并设置插件根目录环境变量。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07C49F-E96F-43CA-96FF-430382BDB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86250"/>
            <a:ext cx="447675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415694-0BA1-4FD5-B5B1-43F16ED8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4577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内容防护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53533-C158-4B7D-8D3F-25BF11038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445770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673"/>
                </a:solidFill>
              </a:defRPr>
            </a:pPr>
            <a:r>
              <a:rPr sz="1275" b="0">
                <a:solidFill>
                  <a:srgbClr val="5B6673"/>
                </a:solidFill>
              </a:rPr>
              <a:t>规则目录复制时拒绝 symlink，降低意外路径穿透风险。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C2188E-5FBC-4C19-A246-15874417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2e5085d0a443a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18932E-9EB7-42D7-831B-9C5168217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7E5E54-1882-4AC8-A849-9BC1E37D4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551901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28D9BF-3E11-448B-A0CE-DDDCDBEC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4F095B-7844-48AC-9082-E5F6B910C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BUILD MATRIX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2CEDE-8ED2-4F7B-A588-AE5F7EB88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当前产品迭代只发布 Mac Intel，其他平台延后验证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A9ED6A-846D-4256-AD3C-5C3A81F5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B8B025-5094-43CC-A331-5A8D75AE9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383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6374"/>
                </a:solidFill>
              </a:defRPr>
            </a:pPr>
            <a:r>
              <a:rPr sz="1050" b="1">
                <a:solidFill>
                  <a:srgbClr val="0E6374"/>
                </a:solidFill>
              </a:rPr>
              <a:t>mac-x64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84C070-F3CD-499E-9EF0-BC9A7DF5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1943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117"/>
                </a:solidFill>
              </a:defRPr>
            </a:pPr>
            <a:r>
              <a:rPr sz="1500" b="1">
                <a:solidFill>
                  <a:srgbClr val="0D1117"/>
                </a:solidFill>
              </a:rPr>
              <a:t>BAI-Work-0.1.0-mac-x64.dmg</a:t>
            </a:r>
          </a:p>
          <a:p xmlns:a="http://schemas.openxmlformats.org/drawingml/2006/main">
            <a:pPr algn="l">
              <a:defRPr sz="1500" b="1">
                <a:solidFill>
                  <a:srgbClr val="0D1117"/>
                </a:solidFill>
              </a:defRPr>
            </a:pPr>
            <a:r>
              <a:rPr sz="1500" b="1">
                <a:solidFill>
                  <a:srgbClr val="0D1117"/>
                </a:solidFill>
              </a:rPr>
              <a:t>BAI-Work-0.1.0-mac-x64.zip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D8DDDF-684B-434B-94BE-450AF85B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19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当前发布候选，包含 Intel runtime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5E1C99-9047-4377-AC2F-8469897C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81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EE0E5-9879-44C8-94AB-A7D9C5ABA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7F5EE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38B180-E97E-4EF5-AEFC-FC808B9B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1813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6374"/>
                </a:solidFill>
              </a:defRPr>
            </a:pPr>
            <a:r>
              <a:rPr sz="1050" b="1">
                <a:solidFill>
                  <a:srgbClr val="0E6374"/>
                </a:solidFill>
              </a:rPr>
              <a:t>mac-arm64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4EEAAF6-F76A-4642-A75D-6BEF37DB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3086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117"/>
                </a:solidFill>
              </a:defRPr>
            </a:pPr>
            <a:r>
              <a:rPr sz="1500" b="1">
                <a:solidFill>
                  <a:srgbClr val="0D1117"/>
                </a:solidFill>
              </a:rPr>
              <a:t>暂缓发布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265A9D-A895-4DEC-B641-BDF478230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62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Intel 版本稳定后再做真机验证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903140-6708-4225-ADAB-9951003A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24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4511F4-19C5-4E7A-9EDC-8F05F5289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48150"/>
            <a:ext cx="1619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EFE0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DE33FD-C397-4FBA-AB42-AE77EDFE2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24350"/>
            <a:ext cx="1352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E6374"/>
                </a:solidFill>
              </a:defRPr>
            </a:pPr>
            <a:r>
              <a:rPr sz="1050" b="1">
                <a:solidFill>
                  <a:srgbClr val="0E6374"/>
                </a:solidFill>
              </a:rPr>
              <a:t>win-x64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F94EF0-9BB2-4DFE-AE74-98CC07908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229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D1117"/>
                </a:solidFill>
              </a:defRPr>
            </a:pPr>
            <a:r>
              <a:rPr sz="1500" b="1">
                <a:solidFill>
                  <a:srgbClr val="0D1117"/>
                </a:solidFill>
              </a:rPr>
              <a:t>暂缓发布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AC6A81-5CAA-4766-8669-47C6828DF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3053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Intel 版本稳定后再做安装验证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FE9E3D-0CBB-494C-B44E-9DCE9081C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6730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BED767-D1B0-4AC0-A47A-BCB041851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9d2110d89a4489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6D192C-0D50-490D-9BDE-27A2AB95D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59AAEC-AD0C-460C-942C-DDCAFA387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5466020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10BF72-A0B8-4792-96A2-16B8A3F4E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3F3EE4-D574-4CD2-9286-4B7B5EA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RELEASE CHAIN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996405-FC95-4BC2-95EC-1CEFA16AE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发布链路已经把包体资源、签名和更新元数据纳入配置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0F4EBA-D6C7-404F-8DE9-5F28E91D3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240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B780DF-0817-4DDC-9D2C-D1DDA6124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288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包体命名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581791-0E02-4841-8393-C8DC881E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8097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BAI-Work-${version}-${os}-${arch}.${ext}，与 updater / R2 metadata 对齐。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D0499C5-A8BA-4002-834A-7AEA2ABA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8AD2C3-AA2A-4B40-B382-E920B9692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5146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资源选择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50C3A6-2055-47C1-B624-13DB501D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955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extraResources 按目标平台选择 BAI-Work-Skills、BAI-Code-Runtime 或 BAI-Code-Official。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5D27B-601F-4E4D-ACAD-7058350B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3829E9-8697-4012-9B91-86F8D54F2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200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macOS 安全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71FA24B-2228-4B9D-AAEC-C65D32DA7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1813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Developer ID 开启时启用 hardened runtime、timestamp 和 notarization hook。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05AF52-6D9E-48BF-925B-D0B692E26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814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889D4-9C5F-465C-AB45-B03EB965C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86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Windows 安装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5E0397-040D-4241-A026-E7410DAD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8671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NSIS 支持安装路径选择、快捷方式重建和 app data 保留。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757D85E-BCBE-41E1-A4E1-4600FF1A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571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813D3F-A60A-459A-8D7E-4937BDD5D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720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D1117"/>
                </a:solidFill>
              </a:defRPr>
            </a:pPr>
            <a:r>
              <a:rPr sz="1650" b="1">
                <a:solidFill>
                  <a:srgbClr val="0D1117"/>
                </a:solidFill>
              </a:rPr>
              <a:t>发布通道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EB617-622F-4091-A8E2-831DBEBA3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552950"/>
            <a:ext cx="695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R2 stable/frontier 与 latest promotion 脚本已预留。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6CC229-D3B1-49B7-8A06-CC76CDD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73ab3a8814a4c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B109573-49FF-4BFD-B3F9-CB343D166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403B9-E64A-47E1-8689-D917FED8E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91722136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D75E08-C3E5-4873-A489-CDC98F5A3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8BFEA8-F902-44AF-AA68-FA014FA6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SECURITY AND COMPLIANCE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9236BA-18D4-4C87-9BCE-8D339956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安全与合规原则已经体现在 runtime、settings 和 packaging 中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778B29-60A1-4CDE-B88D-30E2A00A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不硬编码凭据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58C76A-E848-4768-A5BD-80504BA3E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384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65487C-79D8-4B5D-A709-B0FDBB342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670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API key 只作为本地凭据处理，不写入代码、deck 或资源包。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9288D1-3285-49B0-ACBF-07F85967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本地服务默认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F4D2DF-36DF-4143-8CC9-3858DAEAF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4384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20CF56-DD63-436E-8403-0E943B250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6670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desktop runtime 绑定 127.0.0.1，避免暴露到网络。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C6F346-52A1-48ED-893F-757A9460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最小 IPC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B04AE8-484B-42BA-BE89-E9A5A4C1E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43840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757979A-4371-4B5A-8139-E15DE4B2F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66700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preload 将 renderer 与 Node 能力隔离。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54F6FE-A87D-46CC-BFA8-939C5B5E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hooks 谨慎启用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F94BA6-2FFA-40B7-9711-2C52B2E6A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24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22883F-1145-4A06-8421-82EDE9148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EBAI hooks 默认关闭，启用必须限定到 trusted workspace。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DDEDD0F-A152-4CE8-9308-0E51D639D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90525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资源白名单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2DD007-7CE2-4A21-A04E-29257AFBE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324350"/>
            <a:ext cx="6858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1CBD8F-C602-4992-9BF9-D8C198FB9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552950"/>
            <a:ext cx="27146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673"/>
                </a:solidFill>
              </a:defRPr>
            </a:pPr>
            <a:r>
              <a:rPr sz="1350" b="0">
                <a:solidFill>
                  <a:srgbClr val="5B6673"/>
                </a:solidFill>
              </a:rPr>
              <a:t>打包测试确认不携带用户本地 skill 目录或历史 core worktree。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5B5F85D-FCF4-47AC-8C79-9AAB0C5A5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42b23099c4828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0B99153-2B52-4A85-87C7-6E329598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C47983-1677-4EB5-B621-95B9BF9D5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67199768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F7EF94-D391-4E37-A36B-B06DB86F5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9B6008-0CCB-43E9-9EF7-02CBCD7B1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DC803-52DD-4F7B-B908-06F09D8B4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发布验证应覆盖代码正确性、包体内容和安装器可用性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1D70A0-3ABD-4CA9-B501-3F6252F3E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9F9304-45A8-483C-9780-C040DB112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6374"/>
                </a:solidFill>
              </a:defRPr>
            </a:pPr>
            <a:r>
              <a:rPr sz="1800" b="1">
                <a:solidFill>
                  <a:srgbClr val="0E6374"/>
                </a:solidFill>
              </a:rPr>
              <a:t>代码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E0489D-1F60-4015-8DDB-F0821B80F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C7814A-2B13-4FDF-8481-7062B9FEB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895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npm run typecheck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9A63B-B9C1-46D1-B93C-4014B8249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4E3511-B206-46D3-BE07-0E1618444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npm run test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28E668-6945-4C66-BE30-013A427F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8CB0CE8-CCA8-4CEF-9CDE-42C0AEE0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924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runtime / settings / EBAI focused tests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871F8B1-4CC6-4EF2-BA08-D40B95083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764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334BCC-165A-457B-942A-C15F17EFE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6374"/>
                </a:solidFill>
              </a:defRPr>
            </a:pPr>
            <a:r>
              <a:rPr sz="1800" b="1">
                <a:solidFill>
                  <a:srgbClr val="0E6374"/>
                </a:solidFill>
              </a:rPr>
              <a:t>macOS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D09A92F-0685-41E3-AF2B-AB7A7C5A1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7F150E-C79D-4474-94C2-A50EABF66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95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electron-builder mac x64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8C86EA-FAB4-4D81-80AB-010B0FE6D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BE0232-6211-4587-99D3-2BF5D5A76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09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codesign --verify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F29AB9-EFFC-44A6-A958-1B177E07A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08DA5D-13F3-4A63-85BD-6293CD72F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924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DMG mount and app launch smoke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A81C9B2-5E6E-4536-A4D5-8B6EA47E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0764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8C890-495D-4FFD-A279-29F65BCA4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6374"/>
                </a:solidFill>
              </a:defRPr>
            </a:pPr>
            <a:r>
              <a:rPr sz="1800" b="1">
                <a:solidFill>
                  <a:srgbClr val="0E6374"/>
                </a:solidFill>
              </a:rPr>
              <a:t>后续平台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E06F727-1083-4B72-8E98-959BE79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1A2644-3132-48F6-8366-E6E4F542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895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Mac arm64 真机 smoke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12414C-6C9D-4D29-BE0D-BA160934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B3B1A6-95D5-46F4-A074-93B539463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409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Windows NSIS 安装 / 卸载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A0DE1C-E508-464D-95D0-22F26E636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F277464-51A3-4F25-8A8A-2ABF515B8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924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wheelhouse venv bootstrap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ECF11B-D111-45C5-A1ED-D09750F1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76450"/>
            <a:ext cx="2266950" cy="2476500"/>
          </a:xfrm>
          <a:prstGeom xmlns:a="http://schemas.openxmlformats.org/drawingml/2006/main" prst="roundRect">
            <a:avLst>
              <a:gd name="adj" fmla="val 33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2D8D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79C2C2-331A-4F5B-8BFF-7453FD171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24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E6374"/>
                </a:solidFill>
              </a:defRPr>
            </a:pPr>
            <a:r>
              <a:rPr sz="1800" b="1">
                <a:solidFill>
                  <a:srgbClr val="0E6374"/>
                </a:solidFill>
              </a:rPr>
              <a:t>发布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1B6A48-ED78-42F0-A58F-2E736A7BA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981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14C2F2-CC20-427A-B116-EE5AB14A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8956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latest.yml / latest-mac.yml check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36C4A5E-997B-47EA-A754-87F73D40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4956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90BA204-7664-479A-9A9D-54138D8A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40995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R2 upload and promote dry run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23C8E5-39EC-4D61-A5D9-401DE4D6A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40100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ED97AE-51F8-4119-A50C-2C9E59E1D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924300"/>
            <a:ext cx="1714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F2933"/>
                </a:solidFill>
              </a:defRPr>
            </a:pPr>
            <a:r>
              <a:rPr sz="1200" b="0">
                <a:solidFill>
                  <a:srgbClr val="1F2933"/>
                </a:solidFill>
              </a:rPr>
              <a:t>SHA256 release parts check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86A15F9-50E8-4563-970E-053EC3D5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3369e0db04d1e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5533F7-C2E7-4BB5-866D-991C01AA0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3B93A82-A51A-4645-852F-6A2774DDF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479292932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31D752-741A-4531-AF84-100C1ACD9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33DE7F-5548-415E-A99C-3F4A1C637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STATUS AND RISKS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AE640F-9738-4DD4-A6D4-DC3A0814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当前可进入决策评审，但不应掩盖 service contract 风险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D0F1CE-3A70-4264-905D-9E28BF420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E6374"/>
                </a:solidFill>
              </a:defRPr>
            </a:pPr>
            <a:r>
              <a:rPr sz="1875" b="1">
                <a:solidFill>
                  <a:srgbClr val="0E6374"/>
                </a:solidFill>
              </a:rPr>
              <a:t>已完成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227C72-8303-44DC-8A51-BF9A87A4B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152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D1117"/>
                </a:solidFill>
              </a:defRPr>
            </a:pPr>
            <a:r>
              <a:rPr sz="1875" b="1">
                <a:solidFill>
                  <a:srgbClr val="0D1117"/>
                </a:solidFill>
              </a:rPr>
              <a:t>待收敛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A88ED-3BFF-4E0B-80C9-9825C1085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89DFF9-F8D0-47C5-B4E9-850C880C4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765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BAI Work 品牌、package metadata、icons 与 artifact 命名已落地。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6E02D0-5DC4-4467-A6A0-742C3772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52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D93FFF-DE27-4FAF-97CC-56C8D507A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Mac Intel x64 App、DMG、ZIP 与 bundled runtime 已完成真实 smoke。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00CF56-F50E-4FBD-9FAD-DD5DCB6B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433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DE535F-6878-4C4E-983F-D047A061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5760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BAI Code 0.9.1 的 Intel runtime 与官方 wheelhouse 分发路径已实现。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F30430-BC42-400D-9F6A-6382F9401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338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8FA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F757EC-51CB-418D-A0D0-E7EB670F5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48150"/>
            <a:ext cx="447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EBAI commands/rules/agents/hooks 映射与安全默认值已实现。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C3EA8D-456C-4BA8-A18A-D7B1576B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64E72F-367A-4C53-B483-E6701D4DA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4765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官方 BAI Code desktop service contract 尚需确认。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80A85-9798-425E-BD2F-2BA17002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98013A-4CAD-48EE-BAD8-8407A9CC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签名、公证和真实设备 CI 仍需发布前闭环。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25A895-2FD6-44C2-B3D6-86316BE7B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71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2DB24-3529-4CD7-BB92-AED1AAD5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88620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Mac arm64 与 Windows x64 将在 Intel 版本稳定后继续迭代。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B8D2C1-6386-4903-A3AA-1B17E8DD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676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111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D9DB71-C9BD-4A9E-9C66-4BF25FA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91050"/>
            <a:ext cx="400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目标机 Python 3.10-3.13 缺失时的引导体验需要继续打磨。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EDDAAAC-3CB7-40FB-B709-DE080FE36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95500"/>
            <a:ext cx="190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4C26ED-0B35-4B1D-9C5D-E03457481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c2d987a1e2475e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DBB4C6-7BA0-4F97-9303-9FFF69AE5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0C669-F668-43C9-B224-3CF58BDDE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058576916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0A9EE-9D60-44B2-A445-CF04723A2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7E6D0E-5A37-4A1C-9A06-F046413C5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815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0E6374"/>
                </a:solidFill>
              </a:defRPr>
            </a:pPr>
            <a:r>
              <a:rPr sz="975" b="1">
                <a:solidFill>
                  <a:srgbClr val="0E6374"/>
                </a:solidFill>
              </a:rPr>
              <a:t>ROADMAP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8E233B-0B0E-4240-80C4-1C13B4694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8763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D1117"/>
                </a:solidFill>
              </a:defRPr>
            </a:pPr>
            <a:r>
              <a:rPr sz="2700" b="1">
                <a:solidFill>
                  <a:srgbClr val="0D1117"/>
                </a:solidFill>
              </a:rPr>
              <a:t>路线图应优先把 runtime 协议和发布质量收敛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218B87-5858-44B7-91C1-42C6B6C51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7907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C7026B-821C-4DC0-BCA0-70911DE16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5C0E47-D7D0-41E8-B692-1792E281E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8288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确认 service contract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5861A1-973B-485B-BC70-3702C43A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18097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对齐 serve、session、event、permission、question 的官方协议与错误语义。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EBC27-EDA8-4F0D-8E63-2B406CF9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336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DF3F5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73A7C6-0321-41B0-9060-3354899B0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3D332A-D26D-4B54-AC49-843F1681F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5717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替换桥接实现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88035E-F056-4F0C-B357-0EDF799A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25527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保留 renderer /v1/* 边界，把 CLI bridge 迁移到真实 BAI Code service。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C2E584-96DD-4479-BB4E-60DBF4749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A03942-BE6E-4E84-97E8-A6E880391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D98252-153F-4C27-947D-75293E6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3147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完善发布签名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FB970F-B8CD-49A9-BDF9-8D387E995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2956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Developer ID、notarization、Windows signing 和更新通道联动验证。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E007EA8-FD45-4A3E-8A62-9F4CE9D5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955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FF8DF2-670E-4306-8C57-993059A04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EC2DE8-63A4-4A3E-9A0A-3B72FB0DD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576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建设真机 CI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211B70-9C3C-46FD-B263-A3ACBE8B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mac x64、mac arm64、Windows x64 构建与安装 smoke 自动化。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E3221-B8DD-4566-8D87-389FF58F1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625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A"/>
          </a:solidFill>
          <a:ln xmlns:a="http://schemas.openxmlformats.org/drawingml/2006/main" w="9525">
            <a:solidFill>
              <a:srgbClr val="1C8FA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B8569C-8EDF-47D9-B91C-F04CF9068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857750"/>
            <a:ext cx="438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6374"/>
                </a:solidFill>
              </a:defRPr>
            </a:pPr>
            <a:r>
              <a:rPr sz="1500" b="1">
                <a:solidFill>
                  <a:srgbClr val="0E6374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D147C-B1B8-4243-9F0A-0D32580F8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0060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D1117"/>
                </a:solidFill>
              </a:defRPr>
            </a:pPr>
            <a:r>
              <a:rPr sz="1725" b="1">
                <a:solidFill>
                  <a:srgbClr val="0D1117"/>
                </a:solidFill>
              </a:rPr>
              <a:t>优化安装体验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0BD6F6-F832-41BB-AF6D-473B46B6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781550"/>
            <a:ext cx="590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F2933"/>
                </a:solidFill>
              </a:defRPr>
            </a:pPr>
            <a:r>
              <a:rPr sz="1350" b="0">
                <a:solidFill>
                  <a:srgbClr val="1F2933"/>
                </a:solidFill>
              </a:rPr>
              <a:t>Python 缺失、wheel bootstrap、日志定位和重试流程产品化。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CF0376-7054-46D0-A04F-FAE2B909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24600"/>
            <a:ext cx="108204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2D8D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0772ed4ae40b2"/>
          <a:stretch xmlns:a="http://schemas.openxmlformats.org/drawingml/2006/main"/>
        </p:blipFill>
        <p:spPr>
          <a:xfrm xmlns:a="http://schemas.openxmlformats.org/drawingml/2006/main">
            <a:off x="685800" y="6419850"/>
            <a:ext cx="266700" cy="266700"/>
          </a:xfrm>
          <a:prstGeom xmlns:a="http://schemas.openxmlformats.org/drawingml/2006/main" prst="rect">
            <a:avLst/>
          </a:prstGeom>
        </p:spPr>
      </p:pic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D79CAB-999B-4D85-80E4-05BEE088C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43890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BAI Work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DFE02E-A31A-41F9-B329-0FB77E8C4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3890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6673"/>
                </a:solidFill>
              </a:defRPr>
            </a:pPr>
            <a:r>
              <a:rPr sz="1050" b="1">
                <a:solidFill>
                  <a:srgbClr val="5B6673"/>
                </a:solidFill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037138238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0D11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59924536a54d4a"/>
          <a:stretch xmlns:a="http://schemas.openxmlformats.org/drawingml/2006/main"/>
        </p:blipFill>
        <p:spPr>
          <a:xfrm xmlns:a="http://schemas.openxmlformats.org/drawingml/2006/main">
            <a:off x="857250" y="838200"/>
            <a:ext cx="838200" cy="8382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A3D2BC7-A0CF-47DF-A5B8-273828607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8191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建议把 BAI Work 作为 BAI Code 桌面发行层继续推进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BE9E81-9FFC-4131-80B2-BF4407F8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00400"/>
            <a:ext cx="8096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DE4EA"/>
                </a:solidFill>
              </a:defRPr>
            </a:pPr>
            <a:r>
              <a:rPr sz="1650" b="0">
                <a:solidFill>
                  <a:srgbClr val="DDE4EA"/>
                </a:solidFill>
              </a:rPr>
              <a:t>当前工程已具备统一品牌、Mac Intel 包体、runtime 适配和安全策略基础。下一阶段的关键，不是继续扩展功能面，而是先把 Intel 版本稳定性、签名、公证和安装体验做到发布级，再恢复其他平台迭代。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2E82D4-C197-4DB0-883F-B39F910B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76800"/>
            <a:ext cx="7239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E6374"/>
          </a:solidFill>
          <a:ln xmlns:a="http://schemas.openxmlformats.org/drawingml/2006/main" w="9525">
            <a:solidFill>
              <a:srgbClr val="0E637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AF1BD6-086C-4901-B58B-EA946D7E2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86350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</a:defRPr>
            </a:pPr>
            <a:r>
              <a:rPr sz="1725" b="1">
                <a:solidFill>
                  <a:srgbClr val="FFFFFF"/>
                </a:solidFill>
              </a:rPr>
              <a:t>决策点：批准进入 runtime contract 对齐与发布候选验证阶段。</a:t>
            </a:r>
          </a:p>
        </p:txBody>
      </p:sp>
    </p:spTree>
    <p:extLst>
      <p:ext uri="{BB962C8B-B14F-4D97-AF65-F5344CB8AC3E}">
        <p14:creationId xmlns:p14="http://schemas.microsoft.com/office/powerpoint/2010/main" val="178291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2026-07-10T03:36:13.6360000Z</dcterms:created>
  <dcterms:modified xsi:type="dcterms:W3CDTF">2026-07-10T03:36:13.6360000Z</dcterms:modified>
</coreProperties>
</file>